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0F455-62AD-4B2B-A33A-13F0B038F0E4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3F86D-5F0F-46B0-A96E-9B0A0592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9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3F86D-5F0F-46B0-A96E-9B0A0592F0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163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3F86D-5F0F-46B0-A96E-9B0A0592F0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962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3F86D-5F0F-46B0-A96E-9B0A0592F01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89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2026년 5월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뉴스핌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월간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추천</a:t>
            </a:r>
            <a:r>
              <a:rPr sz="4400" b="1" dirty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endParaRPr sz="4400" b="1" dirty="0">
              <a:solidFill>
                <a:srgbClr val="FFFFFF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703320"/>
            <a:ext cx="201168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7EAF1"/>
                </a:solidFill>
                <a:latin typeface="KoPubWorld돋움체 Bold"/>
                <a:ea typeface="KoPubWorld돋움체 Bold"/>
                <a:cs typeface="KoPubWorld돋움체 Bold"/>
              </a:rPr>
              <a:t>퇴직연금 &amp; 여유자금 포트폴리오 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0584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AI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강화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장기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성장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vs. </a:t>
            </a:r>
            <a:r>
              <a:rPr sz="1400" b="0" dirty="0" err="1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400" b="0" dirty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400" b="0" dirty="0" err="1" smtClean="0">
                <a:solidFill>
                  <a:srgbClr val="C9A85B"/>
                </a:solidFill>
                <a:latin typeface="KoPubWorld돋움체 Medium"/>
                <a:ea typeface="KoPubWorld돋움체 Medium"/>
                <a:cs typeface="KoPubWorld돋움체 Medium"/>
              </a:rPr>
              <a:t>과열</a:t>
            </a:r>
            <a:endParaRPr sz="1400" b="0" dirty="0">
              <a:solidFill>
                <a:srgbClr val="C9A85B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20~30대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9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+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9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5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79192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8064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40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대</a:t>
            </a:r>
            <a:r>
              <a:rPr lang="en-US" altLang="ko-KR"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7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.8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98064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25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0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92624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11496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50대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11496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17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3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06056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적극적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MP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7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24928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15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7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19488" y="5120640"/>
            <a:ext cx="2221992" cy="960120"/>
          </a:xfrm>
          <a:prstGeom prst="rect">
            <a:avLst/>
          </a:prstGeom>
          <a:solidFill>
            <a:srgbClr val="0A0D3F"/>
          </a:solidFill>
          <a:ln w="7620">
            <a:solidFill>
              <a:srgbClr val="C9A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5166360"/>
            <a:ext cx="20574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보수적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MP 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C7D4ED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5458968"/>
            <a:ext cx="2057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0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2000" b="1" dirty="0" smtClean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000" b="1" dirty="0">
              <a:solidFill>
                <a:srgbClr val="C9A85B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38360" y="5852160"/>
            <a:ext cx="2057400" cy="2031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6개월 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90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sz="900" b="0" dirty="0" smtClean="0">
                <a:solidFill>
                  <a:srgbClr val="E7EAF1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900" b="0" dirty="0">
              <a:solidFill>
                <a:srgbClr val="E7EAF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0" y="365760"/>
            <a:ext cx="4572000" cy="3693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준법감시인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심사필번호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제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26-</a:t>
            </a:r>
            <a:r>
              <a:rPr lang="en-US"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292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호</a:t>
            </a:r>
            <a:endParaRPr sz="900" b="0" dirty="0">
              <a:solidFill>
                <a:srgbClr val="C7D4ED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r">
              <a:lnSpc>
                <a:spcPct val="120000"/>
              </a:lnSpc>
            </a:pP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(</a:t>
            </a:r>
            <a:r>
              <a:rPr sz="900" b="0" dirty="0" err="1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유효기간</a:t>
            </a:r>
            <a:r>
              <a:rPr sz="900" b="0" dirty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2026.05.</a:t>
            </a:r>
            <a:r>
              <a:rPr lang="en-US"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11</a:t>
            </a:r>
            <a:r>
              <a:rPr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~2027.05.</a:t>
            </a:r>
            <a:r>
              <a:rPr lang="en-US"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  <a:r>
              <a:rPr sz="900" b="0" smtClean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  <a:endParaRPr sz="900" b="0" dirty="0">
              <a:solidFill>
                <a:srgbClr val="C7D4ED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5" y="6263640"/>
            <a:ext cx="121916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C9A85B"/>
                </a:solidFill>
                <a:latin typeface="KoPubWorld돋움체 Bold"/>
                <a:ea typeface="KoPubWorld돋움체 Bold"/>
                <a:cs typeface="KoPubWorld돋움체 Bold"/>
              </a:rPr>
              <a:t>K C G I  자 산 운 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0217" y="6089194"/>
            <a:ext cx="3221263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1"/>
                </a:solidFill>
                <a:latin typeface="+mj-ea"/>
                <a:ea typeface="+mj-ea"/>
              </a:rPr>
              <a:t>기준일</a:t>
            </a:r>
            <a:r>
              <a:rPr lang="en-US" altLang="ko-KR" sz="800" dirty="0" smtClean="0">
                <a:solidFill>
                  <a:schemeClr val="bg1"/>
                </a:solidFill>
                <a:latin typeface="+mj-ea"/>
                <a:ea typeface="+mj-ea"/>
              </a:rPr>
              <a:t>:</a:t>
            </a:r>
            <a:r>
              <a:rPr lang="en-US" altLang="ko-KR" sz="800" dirty="0" smtClean="0">
                <a:solidFill>
                  <a:schemeClr val="bg1"/>
                </a:solidFill>
                <a:latin typeface="+mj-ea"/>
                <a:ea typeface="+mj-ea"/>
              </a:rPr>
              <a:t>2026.05.31</a:t>
            </a:r>
            <a:endParaRPr lang="en-US" altLang="ko-KR" sz="800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pPr algn="r">
              <a:lnSpc>
                <a:spcPct val="12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KoPubWorld돋움체 Medium"/>
                <a:ea typeface="KoPubWorld돋움체 Medium"/>
                <a:cs typeface="KoPubWorld돋움체 Medium"/>
              </a:rPr>
              <a:t>과거 수익률이 미래 운용 성과를 보장하지 않습니다</a:t>
            </a:r>
            <a:r>
              <a:rPr lang="en-US" altLang="ko-KR" sz="800" dirty="0">
                <a:solidFill>
                  <a:schemeClr val="bg1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퇴직연금 포트폴리오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장기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수익률이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우수한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글로벌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자산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환율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고려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2/14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114300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투자수단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퇴직연금·개인연금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내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ETF로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구성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대표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국가별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인덱스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기초자산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투자대상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주식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미국·중국·일본·한국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대표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지수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채권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국내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미국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달러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채권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환차익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74172"/>
              </p:ext>
            </p:extLst>
          </p:nvPr>
        </p:nvGraphicFramePr>
        <p:xfrm>
          <a:off x="365760" y="1783080"/>
          <a:ext cx="11429998" cy="2629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자산분류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미국 성장주
나스닥100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미국 배당주
Dow 배당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중국 본토
CSI300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일본
니케이225 TR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한국
코스피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미국 달러
SOFR(UH)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한국 단기채
KIS 02-03Y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연평균수익률(%)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18.0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12.4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14.2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9.3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1.95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표준편차(%)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0.81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0.69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0.55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0.41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0.49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0.29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1.88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(30.4)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(29.7)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(59.6)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(27.2)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(53.8)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(35.2)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(4.7)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MDD시점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2022-12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2020-03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2008-11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2020-03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2008-10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2014-07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2022-09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고점회복기간(년)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15.7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57200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핵심 정리</a:t>
            </a:r>
            <a:endParaRPr sz="1300" b="1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4983480"/>
            <a:ext cx="3749039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4983480"/>
            <a:ext cx="73152" cy="118872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503834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장기 수익 1위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94376"/>
            <a:ext cx="3511295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나스닥100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6130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연평균 +18.0%, 샤프 0.81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983480"/>
            <a:ext cx="3749039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4983480"/>
            <a:ext cx="73152" cy="1188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53128" y="503834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안정성 1위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294376"/>
            <a:ext cx="3511295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KIS 단기채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586130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변동성 1.0%, MDD (4.7%)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983480"/>
            <a:ext cx="3749039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4983480"/>
            <a:ext cx="73152" cy="118872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8" y="503834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위험 대비 수익 우수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5294376"/>
            <a:ext cx="3511295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Dow 배당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5861304"/>
            <a:ext cx="351129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 0.69, MDD (29.7%)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(출처) Bloomberg, KCGI자산운용  ·  (Note) KRW 기준, 2006.01~2026.04 backtest (KIS 단기채는 2009.05~)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6670" y="4372832"/>
            <a:ext cx="493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제시된 비교대상 </a:t>
            </a:r>
            <a:r>
              <a:rPr lang="ko-KR" altLang="en-US" sz="90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자산군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내 </a:t>
            </a:r>
            <a:r>
              <a:rPr lang="ko-KR" altLang="en-US" sz="90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백테스트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결과이며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전체 금융상품 또는 모든 </a:t>
            </a:r>
            <a:r>
              <a:rPr lang="ko-KR" altLang="en-US" sz="90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자산군을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대표하지 않습니다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endParaRPr lang="ko-KR" altLang="en-US" sz="90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6600985"/>
            <a:ext cx="11430000" cy="2031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과거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미래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운용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성과를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보장하지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않습니다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퇴직연금 — 연령별 최적화 투자전략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샤프비율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극대화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추구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연령에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따른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주식·채권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조정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3/14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713232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최적화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목표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—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수익률·변동성을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고려한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샤프비율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극대화</a:t>
            </a:r>
            <a:r>
              <a:rPr 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추구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71323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젊을수록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성장주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확대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은퇴시점에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가까울수록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채권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확대로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안정성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강화</a:t>
            </a:r>
            <a:r>
              <a:rPr lang="en-US"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전략</a:t>
            </a:r>
            <a:endParaRPr lang="en-US" altLang="ko-KR" sz="1100" b="0" dirty="0" smtClean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20~30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대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연평균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+16%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추구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, 50대는 10%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이내</a:t>
            </a:r>
            <a:r>
              <a:rPr sz="11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최대</a:t>
            </a:r>
            <a:r>
              <a:rPr lang="en-US"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하락폭</a:t>
            </a:r>
            <a:r>
              <a:rPr sz="11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관리</a:t>
            </a:r>
            <a:endParaRPr sz="11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7132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연령별 추천 비중</a:t>
            </a:r>
          </a:p>
        </p:txBody>
      </p:sp>
      <p:pic>
        <p:nvPicPr>
          <p:cNvPr id="13" name="Picture 12" descr="chart_age_we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121408"/>
            <a:ext cx="7132320" cy="2275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0" y="960120"/>
            <a:ext cx="41148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4월말 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80960" y="1325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1325880"/>
            <a:ext cx="73152" cy="100584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8" y="1388727"/>
            <a:ext cx="3877056" cy="2400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 20~30대 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1607201"/>
            <a:ext cx="3877056" cy="44319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lang="en-US"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9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.</a:t>
            </a:r>
            <a:r>
              <a:rPr lang="en-US"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82128" y="203804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 +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16.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7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1.3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MDD (18.2%)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423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0" y="2423160"/>
            <a:ext cx="73152" cy="100584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8" y="2486007"/>
            <a:ext cx="3877056" cy="2400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 40대 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8" y="2704481"/>
            <a:ext cx="3877056" cy="44319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4.8%</a:t>
            </a:r>
            <a:endParaRPr sz="2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82128" y="313532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 +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14.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9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1.3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7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MDD (15.5%)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520439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80960" y="3520439"/>
            <a:ext cx="73152" cy="100584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82128" y="3583286"/>
            <a:ext cx="3877056" cy="2400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퇴직연금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 50대 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en-US"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100" b="1" dirty="0" smtClean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100" b="1" dirty="0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3801760"/>
            <a:ext cx="3877056" cy="44319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3.2%</a:t>
            </a:r>
            <a:endParaRPr sz="2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2128" y="4232599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연 +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11.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6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샤프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1.5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2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· MDD (10.8%)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663440"/>
            <a:ext cx="11430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연령별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성과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(2026년 </a:t>
            </a:r>
            <a:r>
              <a:rPr 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lang="ko-KR" altLang="en-US"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월</a:t>
            </a:r>
            <a:r>
              <a:rPr sz="12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말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기준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04910"/>
              </p:ext>
            </p:extLst>
          </p:nvPr>
        </p:nvGraphicFramePr>
        <p:xfrm>
          <a:off x="365760" y="4983480"/>
          <a:ext cx="1142999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5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8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성과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  <a:endParaRPr sz="1000" b="1" dirty="0">
                        <a:solidFill>
                          <a:srgbClr val="FFFFFF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20~30대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40대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50대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연평균 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16.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14.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장기 백테스트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표준편차(%)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변동성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1.5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위험조정 수익률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MDD(%) / 회복(년)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(18.2) / 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(15.5) / 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(10.8) / 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MDD시점 2020.03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1M / 3M / 6M 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+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+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9.5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.8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11.5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25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/ +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월</a:t>
                      </a:r>
                      <a:r>
                        <a:rPr sz="10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실적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기준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17885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endParaRPr lang="en-US" altLang="ko-KR" sz="90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실적이나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전망이 미래 수익을 보장하지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않고 그 정확성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및 완전성을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보장하지 않습니다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sz="9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보수적 여유자금 포트폴리오 — 멀티에셋 자산배분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위험자산 70% + 안전자산 30% 자산배분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5/14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11430000" cy="2400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다양한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자산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분산투자로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변동성을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낮추고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위험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대비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높은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</a:t>
            </a:r>
            <a:r>
              <a:rPr sz="11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100" b="1" dirty="0" err="1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추구</a:t>
            </a:r>
            <a:endParaRPr sz="11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pic>
        <p:nvPicPr>
          <p:cNvPr id="11" name="Picture 10" descr="chart_conserv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5880"/>
            <a:ext cx="7132320" cy="3108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80960" y="132588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1325880"/>
            <a:ext cx="73152" cy="100584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8" y="138074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보수적 여유자금 4월 수익률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1588735"/>
            <a:ext cx="3877056" cy="48013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6.</a:t>
            </a:r>
            <a:r>
              <a:rPr lang="en-US"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82128" y="203804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3월 -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8.</a:t>
            </a:r>
            <a:r>
              <a:rPr lang="en-US"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endParaRPr sz="1000" b="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0960" y="24231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2423160"/>
            <a:ext cx="73152" cy="100584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2128" y="24780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연 수익률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2734056"/>
            <a:ext cx="172821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10.1%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311810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9% 대비 +1.1%p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242316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2423160"/>
            <a:ext cx="73152" cy="100584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4780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샤프비율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734056"/>
            <a:ext cx="172821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11810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0.90 대비 우위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520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3520440"/>
            <a:ext cx="73152" cy="1005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8" y="357530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MDD / 회복기간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831336"/>
            <a:ext cx="3877056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(24.7%) / 3.8년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21538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MDD시점 2009.05 (글로벌 금융위기)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63440"/>
            <a:ext cx="11430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포트폴리오 vs 벤치마크 주요 성과 지표 (2002.11~2026.04)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42746"/>
              </p:ext>
            </p:extLst>
          </p:nvPr>
        </p:nvGraphicFramePr>
        <p:xfrm>
          <a:off x="365760" y="4983480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포트폴리오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벤치마크 (ACWI 70% + AGG 30%)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초과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수익률</a:t>
                      </a:r>
                      <a:endParaRPr sz="1000" b="1" dirty="0">
                        <a:solidFill>
                          <a:srgbClr val="FFFFFF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월 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수익</a:t>
                      </a:r>
                      <a:r>
                        <a:rPr sz="1100" b="1" dirty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확률</a:t>
                      </a:r>
                      <a:r>
                        <a:rPr sz="1100" b="1" dirty="0" smtClean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(</a:t>
                      </a:r>
                      <a:r>
                        <a:rPr lang="en-US" sz="1100" b="1" dirty="0" smtClean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Hit ratio, </a:t>
                      </a:r>
                      <a:r>
                        <a:rPr sz="1100" b="1" dirty="0" smtClean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%)</a:t>
                      </a:r>
                      <a:endParaRPr sz="1100" b="1" dirty="0">
                        <a:solidFill>
                          <a:srgbClr val="1A1A1A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변동성(%)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9.9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0.9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08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적극적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여유자금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—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듀얼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모멘텀</a:t>
            </a:r>
            <a:r>
              <a:rPr sz="18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8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전략</a:t>
            </a:r>
            <a:endParaRPr sz="18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미국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ETF 60개 중 6M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절대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+ 10M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상대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모멘텀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상위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균등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가중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6/14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960120"/>
            <a:ext cx="11430000" cy="2585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시장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흐름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추격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— 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시장 </a:t>
            </a:r>
            <a:r>
              <a:rPr lang="ko-KR" altLang="en-US"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상승시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수익률</a:t>
            </a:r>
            <a:r>
              <a:rPr 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확보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+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하락</a:t>
            </a:r>
            <a:r>
              <a:rPr lang="ko-KR" altLang="en-US"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시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최대손실폭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개선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pic>
        <p:nvPicPr>
          <p:cNvPr id="11" name="Picture 10" descr="chart_aggress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5880"/>
            <a:ext cx="7132320" cy="3108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80960" y="13258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1325880"/>
            <a:ext cx="73152" cy="868680"/>
          </a:xfrm>
          <a:prstGeom prst="rect">
            <a:avLst/>
          </a:prstGeom>
          <a:solidFill>
            <a:srgbClr val="9CC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8" y="138074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적극적 여유자금 4월 수익률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1520155"/>
            <a:ext cx="3877056" cy="48013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+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8.</a:t>
            </a:r>
            <a:r>
              <a:rPr lang="en-US"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2400" b="1" dirty="0" smtClean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%</a:t>
            </a:r>
            <a:endParaRPr sz="24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82128" y="1900880"/>
            <a:ext cx="387705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3월 -</a:t>
            </a:r>
            <a:r>
              <a:rPr sz="10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8.9%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0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V자</a:t>
            </a:r>
            <a:r>
              <a:rPr sz="10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3317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2331720"/>
            <a:ext cx="73152" cy="91440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2128" y="238658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연 수익률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2642616"/>
            <a:ext cx="172821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13.1%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9352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8% 대비 +5.1%p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23317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2331720"/>
            <a:ext cx="73152" cy="9144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38658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샤프비율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642616"/>
            <a:ext cx="172821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0.97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2935224"/>
            <a:ext cx="172821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BM 0.74 대비 우위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3375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3337560"/>
            <a:ext cx="73152" cy="1097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8" y="339242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95959"/>
                </a:solidFill>
                <a:latin typeface="KoPubWorld돋움체 Bold"/>
                <a:ea typeface="KoPubWorld돋움체 Bold"/>
                <a:cs typeface="KoPubWorld돋움체 Bold"/>
              </a:rPr>
              <a:t>MDD / 회복기간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648456"/>
            <a:ext cx="3877056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(17.6%) / 1.2년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123944"/>
            <a:ext cx="387705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MDD시점 2019.05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72000"/>
            <a:ext cx="11430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■ 포트폴리오 vs 벤치마크 주요 성과 지표 (2013.01~2026.04)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116360"/>
              </p:ext>
            </p:extLst>
          </p:nvPr>
        </p:nvGraphicFramePr>
        <p:xfrm>
          <a:off x="365760" y="4983480"/>
          <a:ext cx="114300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포트폴리오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벤치마크 (MSCI ACWI)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초과 수익률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수익률(%)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13.1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4.6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61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0.</a:t>
                      </a:r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36</a:t>
                      </a:r>
                      <a:endParaRPr sz="11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1M / 3M / 6M (%)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+8.1 / +1.0 / +6.4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+9.5 / +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.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</a:t>
                      </a:r>
                      <a:r>
                        <a:rPr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/ +</a:t>
                      </a:r>
                      <a:r>
                        <a:rPr lang="en-US" sz="110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3.9</a:t>
                      </a:r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적극적 여유자금 월간 변화 — 26년 3월말 → 4월말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70160"/>
            <a:ext cx="7315200" cy="2769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CSI300, VIS </a:t>
            </a:r>
            <a:r>
              <a:rPr lang="ko-KR" altLang="en-US" sz="1300" b="0" dirty="0" err="1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산업재</a:t>
            </a:r>
            <a:r>
              <a:rPr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편출</a:t>
            </a:r>
            <a:r>
              <a:rPr sz="1300" b="0" dirty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 / </a:t>
            </a:r>
            <a:r>
              <a:rPr lang="ko-KR" altLang="en-US" sz="1300" b="0" dirty="0" smtClean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일본 신규 편입</a:t>
            </a:r>
            <a:endParaRPr sz="1300" b="0" dirty="0">
              <a:solidFill>
                <a:srgbClr val="595959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7/14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91440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주요 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7132320" cy="31577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QQQ(나스닥100) + XLK(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기술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ETF)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빅테크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1Q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실적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호조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AI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반도체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수요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SOXX 4월 +40%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단일월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신고치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(2001년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NVDA 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14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/ MU 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53</a:t>
            </a:r>
            <a:r>
              <a:rPr sz="12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/ AMD +74%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방산에서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AI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성장주로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전환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포착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ITA(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방산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편출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후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약화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(10개월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순위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17위 → 26위)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중동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리스크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가격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반영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→ AI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기술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자금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회전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DBC(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원자재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(3월부터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달러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약세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무역전쟁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불확실성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  - 금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사상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신고가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2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</a:t>
            </a:r>
            <a:endParaRPr sz="12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4348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글로벌 증시 4월 수익률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91440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자산 비중 변화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42998"/>
              </p:ext>
            </p:extLst>
          </p:nvPr>
        </p:nvGraphicFramePr>
        <p:xfrm>
          <a:off x="7680960" y="1325880"/>
          <a:ext cx="4114798" cy="236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자산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변화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코스피(226490)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중국(ASHR)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신흥국(EEM)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ITA(방산)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QQQ(나스닥)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XLK(기술)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3657600"/>
            <a:ext cx="41148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기타 ETF — 비중 유지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11480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393192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전략별 3월 → 4월 1M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037433"/>
              </p:ext>
            </p:extLst>
          </p:nvPr>
        </p:nvGraphicFramePr>
        <p:xfrm>
          <a:off x="7680960" y="4343400"/>
          <a:ext cx="4114800" cy="180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전략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4월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적극적 여유자금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(8.9%)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+8.1%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보수적 여유자금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(8.1%)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20~30대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(1.6%)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+5.7%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40대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50대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(0.8%)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+3.2%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en-US"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sz="900" b="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특정 섹터나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25" name="Picture 14" descr="chart_glo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846320"/>
            <a:ext cx="7132320" cy="15943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AI 반도체 — HW 압도와 Hyperscaler Capex 사이클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8/14</a:t>
            </a:r>
          </a:p>
        </p:txBody>
      </p:sp>
      <p:pic>
        <p:nvPicPr>
          <p:cNvPr id="11" name="Picture 10" descr="chart_8b_cap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AI HW 상대적 성과 우위 (12개월, Total Return)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SOXX(반도체 HW) +153% vs SKYY(클라우드 SW) +14%. Capex 직접 수혜. (Total Return 기준)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Big4 Capex 26년 상향조정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Microsoft·Alphabet·Amazon·Meta 합계 26년 ~$710B 가이던스 (25년 ~$374B 대비 +90%). MSFT $190B·GOOGL $180~190B·AMZN $200B·META $125~145B.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실적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기반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구조적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성장</a:t>
            </a:r>
            <a:endParaRPr sz="1200" b="1" dirty="0">
              <a:solidFill>
                <a:srgbClr val="191877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기술 섹터가 전체 EPS 상향 조정의 85% 차지. 1Q26 S&amp;P 500 EPS +12% YoY (증권사 추정치 상회).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19159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QQQ + XLK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편입으로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HW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흐름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직접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노출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확보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기존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SOXX(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반도체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), ROBO(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로봇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다층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수혜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적극적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여유자금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4월 +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</a:t>
            </a:r>
            <a:r>
              <a:rPr 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— 3월 -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8.9%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V자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주의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]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시장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심리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과열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Fear &amp; Greed Index 75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이상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(Greed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영역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S&amp;P 500 12M Forward P/E 22배 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역사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평균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16배)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HW 12M 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153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조정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가능성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상존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차트 수익률은 Total Return 기준 (배당 재투자 포함). 데이터 출처: yfinance API. Capex 출처: MSFT Q3 FY2026 어닝콜 (2026-04-29) · GOOGL Q1 2026 어닝콜 · AMZN 2026 가이던스 · META Q1 2026 어닝콜.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3" name="Picture 9" descr="chart_8a_hws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905256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지정학 리스크 — 이란-이스라엘 충돌과 안전자산·원자재 동반 강세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9/14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이란-이스라엘 충돌 가속 (4월)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중동 긴장 고조로 안전자산 수요 증가. 4월 들어 안전자산 매수 흐름 본격화.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금·은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12개월 </a:t>
            </a:r>
            <a:r>
              <a:rPr sz="1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동반</a:t>
            </a:r>
            <a:r>
              <a:rPr sz="1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+39% / +122%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2292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금 $4,237/온스 사상 신고가, 은 $67/온스. 달러 약세 + 중앙은행 금 매입 + 지정학 헤지 수요.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WTI 원유 4월 가속 상승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USO Total Return 12개월 +131% (이란 갈등 + OPEC + 4월 가속). 지정학 프리미엄 확대.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423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금(GLD) + 은(SLV) 각 5%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지정학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달러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약세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중앙은행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금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매입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산업금속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(은)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안전자산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Capex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수혜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중첩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원자재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(DBC) 5% +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원유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(USO) 5%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WTI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강세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DBC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인덱스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+7</a:t>
            </a: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1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이상</a:t>
            </a:r>
            <a:r>
              <a:rPr lang="en-US" sz="11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1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주의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]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충돌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격화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$100/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bbl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 가능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글로벌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인플레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+0.7%p /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성장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-0.4%p (Goldman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시뮬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- 4월 후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충돌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격화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위험자산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재조정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차트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Total Return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배당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재투자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포함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yfinance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6" name="Picture 9" descr="chart_9a_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5715000" cy="2468880"/>
          </a:xfrm>
          <a:prstGeom prst="rect">
            <a:avLst/>
          </a:prstGeom>
        </p:spPr>
      </p:pic>
      <p:pic>
        <p:nvPicPr>
          <p:cNvPr id="37" name="Picture 10" descr="chart_9b_safehav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Fed 4월 회의 — 정책 동결 + 완화 경로 vs 시장 가격 (Goldman 분석)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10/14</a:t>
            </a:r>
          </a:p>
        </p:txBody>
      </p:sp>
      <p:pic>
        <p:nvPicPr>
          <p:cNvPr id="10" name="Picture 9" descr="chart_10a_fed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571500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4월 FOMC: 동결 + 3명 위원이 완화 편향에 반대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Hammack·Kashkari·Logan 위원이 기존 완화 기조에 반대 의견 (예상 밖 의견). Powell: 'FOMC 중심이 더 중립으로 이동 중'.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GS 기본 — 9월·12월 인하 (장기 균형 3.0~3.25%)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확률 35%. 시장 가격(빨간 점선)은 GS 대비 매파적 — 4월 회의 후 매파 이동. 향후 인하 가속 가능성.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PCE 인플레 시나리오 — 전쟁 변수 결정적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GS 기본: 2026년말 헤드라인 PCE 3.4%, Core 2.6%. 최악(전쟁 격화) 시 헤드라인 4.6%까지 가능.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423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신흥국(EEM) 5% + 중국(ASHR) 4% 유지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GS 기본 시나리오 시 달러 약세 → EM 자금 유입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비미국 자산의 원화 환산 수익률 개선 흐름</a:t>
            </a:r>
          </a:p>
          <a:p>
            <a:pPr algn="l">
              <a:lnSpc>
                <a:spcPct val="140000"/>
              </a:lnSpc>
            </a:pPr>
            <a:endParaRPr sz="1100" b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금(GLD) + 은(SLV) + DBC 실물자산 총 15%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전쟁 격화 시나리오 헤지 기능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PCE 4%대 진입 시 강세 지속 가능</a:t>
            </a:r>
          </a:p>
          <a:p>
            <a:pPr algn="l">
              <a:lnSpc>
                <a:spcPct val="140000"/>
              </a:lnSpc>
            </a:pPr>
            <a:endParaRPr sz="1100" b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[관전 포인트] 9월 SEP + 8월 잭슨홀 — 가이던스 변경 시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포트폴리오 듀레이션·EM 비중 점진 조정 검토</a:t>
            </a:r>
          </a:p>
          <a:p>
            <a:pPr algn="l">
              <a:lnSpc>
                <a:spcPct val="140000"/>
              </a:lnSpc>
            </a:pPr>
            <a:endParaRPr sz="1100" b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(출처) Goldman Sachs, FOMC Roundtable 2026.04.27-28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차트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Total Return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배당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재투자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포함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yfinance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3" name="Picture 10" descr="chart_10b_pce_scen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이슈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MP 편입 EM vs DM ETF — 한국·중국 강세, 미국 회복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11/14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EM 전 종목 강세 (12M)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8853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KOSPI(226490) +162%, ASHR +40%, EEM +50% — 달러 약세 + 미-중 탈동조화 자금 유입 (Total Return).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DM 회복 (4월 반등)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11496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SPY +10.5%, QQQ +15.7%, VGK +5.7% — 4월 관세 유예 + AI 실적으로 강한 1개월 반등 (4월 1M Total Return).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7132320" cy="758952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623559"/>
            <a:ext cx="91440" cy="758952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660135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MP 분산 효과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34455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EM 평균 4월 +17.2%, DM 평균 +10.6% — 두 진영 동반 강세로 분산 포트폴리오 균형 잡힌 회복.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70332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4114800" cy="2423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EM ETF (총 14%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코스피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(226490) 5% — 12M 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162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%, </a:t>
            </a:r>
            <a:r>
              <a:rPr lang="ko-KR" altLang="en-US" sz="11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신고점</a:t>
            </a:r>
            <a:r>
              <a:rPr sz="11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도달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중국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(ASHR) 4%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협상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진전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시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상승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여력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신흥국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(EEM) 5%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광범위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분산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보유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DM ETF</a:t>
            </a: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미국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QQQ + XLK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편입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(10%) + SOXX/IBB/XBI/XLE 등 </a:t>
            </a:r>
            <a:r>
              <a:rPr lang="ko-KR" altLang="en-US" sz="11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산업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-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유럽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직접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ETF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없음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VIS(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산업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통한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간접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노출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관전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포인트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] EM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강세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지속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vs DM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추가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회복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—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분산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균형</a:t>
            </a:r>
            <a:r>
              <a:rPr sz="11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유지</a:t>
            </a:r>
            <a:endParaRPr sz="11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382512"/>
            <a:ext cx="11430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*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차트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수익률은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Total Return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기준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배당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재투자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포함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).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데이터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출처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yfinance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pic>
        <p:nvPicPr>
          <p:cNvPr id="33" name="Picture 9" descr="chart_11a_em_d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5715000" cy="2468880"/>
          </a:xfrm>
          <a:prstGeom prst="rect">
            <a:avLst/>
          </a:prstGeom>
        </p:spPr>
      </p:pic>
      <p:pic>
        <p:nvPicPr>
          <p:cNvPr id="34" name="Picture 10" descr="chart_11b_em_dm_apr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14400"/>
            <a:ext cx="57150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7724"/>
            <a:ext cx="121916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cg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15087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164592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결론 — 4월 회복과 단기 과열 주의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4864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AI 흐름 강화 + 실물자산 헤지 + 단기 조정 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201168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18288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KCGI 자산운용 | 뉴스핌 월간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30352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2026.05  ·  12/14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914400"/>
            <a:ext cx="71323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내러티브 전환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7132320" cy="1508760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325880"/>
            <a:ext cx="73152" cy="150876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17320"/>
            <a:ext cx="6858000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3월: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관세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충격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성장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둔화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우려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→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적극적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여유자금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8.9%)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4월: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빅테크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실적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무역협상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진전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→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적극적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여유자금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sz="10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8.</a:t>
            </a:r>
            <a:r>
              <a:rPr lang="en-US" sz="10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</a:t>
            </a:r>
            <a:r>
              <a:rPr sz="1000" b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AI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기반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실적</a:t>
            </a: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&gt;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매크로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불확실성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Capex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사이클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재확인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: SOXX +40% / NVDA 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</a:t>
            </a:r>
            <a:r>
              <a:rPr lang="en-US"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14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/ AMD +74%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09728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914400"/>
            <a:ext cx="41148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포트폴리오 대응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325880"/>
            <a:ext cx="4114800" cy="1508760"/>
          </a:xfrm>
          <a:prstGeom prst="rect">
            <a:avLst/>
          </a:prstGeom>
          <a:solidFill>
            <a:srgbClr val="E7EAF1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1325880"/>
            <a:ext cx="73152" cy="150876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1417320"/>
            <a:ext cx="38404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AI 흐름 포착 — ITA 편출, QQQ + XLK 신규 편입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실물자산 GLD 5% + DBC 5% = 10% (인플레·달러 헤지)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분산 — 한국·중국·신흥국·금 (미국 일변도 회피)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■ 듀얼 모멘텀 — 흐름 약화 시 자동 편출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26080"/>
            <a:ext cx="11430000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37160" cy="17373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00000"/>
                </a:solidFill>
                <a:latin typeface="KoPubWorld돋움체 Bold"/>
                <a:ea typeface="KoPubWorld돋움체 Bold"/>
                <a:cs typeface="KoPubWorld돋움체 Bold"/>
              </a:rPr>
              <a:t>⚠ 시장 심리 과열 신호 다수 — 단기 조정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83280"/>
            <a:ext cx="5486400" cy="8987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Fear &amp; Greed Index 75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이상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(Greed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영역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AAII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개인투자자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Bull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비중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50%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초과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S&amp;P 500 12M Forward P/E 22배 (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역사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평균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+37%)</a:t>
            </a:r>
          </a:p>
          <a:p>
            <a:pPr algn="l">
              <a:lnSpc>
                <a:spcPct val="140000"/>
              </a:lnSpc>
            </a:pP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4월 </a:t>
            </a:r>
            <a:r>
              <a:rPr lang="en-US" sz="100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S&amp;P 500 </a:t>
            </a:r>
            <a:r>
              <a:rPr sz="1000" b="0" dirty="0" smtClean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+10.5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% —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통계상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단기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정점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신호</a:t>
            </a:r>
            <a:r>
              <a:rPr sz="1000" b="0" dirty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가능</a:t>
            </a:r>
            <a:endParaRPr sz="1000" b="0" dirty="0">
              <a:solidFill>
                <a:srgbClr val="1A1A1A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0" y="3383280"/>
            <a:ext cx="5486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대응 가이드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분할 매수 — 한 번에 위험자산 추가 X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캐시 비중 점진 축소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듀얼 모멘텀 약화 시 자동 편출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KoPubWorld돋움체 Medium"/>
                <a:ea typeface="KoPubWorld돋움체 Medium"/>
                <a:cs typeface="KoPubWorld돋움체 Medium"/>
              </a:rPr>
              <a:t>  • 7월 초 90일 관세 유예 만료 모니터링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37760"/>
            <a:ext cx="128016" cy="128016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754880"/>
            <a:ext cx="114300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4월 포트폴리오 성과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541551"/>
              </p:ext>
            </p:extLst>
          </p:nvPr>
        </p:nvGraphicFramePr>
        <p:xfrm>
          <a:off x="365760" y="513892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전략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3월 1M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4월 1M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 수익률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샤프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MDD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anchor="ctr">
                    <a:solidFill>
                      <a:srgbClr val="191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적극적 여유자금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8.9%)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8.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+13.1%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0.97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(17.6%)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 반등 적극 참여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보수적 여유자금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8.</a:t>
                      </a:r>
                      <a:r>
                        <a:rPr lang="en-US"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6.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(24.7%)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분산 리스크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20~30대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</a:t>
                      </a:r>
                      <a:r>
                        <a:rPr lang="en-US"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5.7%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+16.2%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1.30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(18.2%)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성장주 비중 79%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40대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</a:t>
                      </a:r>
                      <a:r>
                        <a:rPr lang="en-US"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4.8%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(15.5%)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균형</a:t>
                      </a:r>
                      <a:r>
                        <a:rPr lang="en-US" sz="1000" baseline="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포트</a:t>
                      </a:r>
                      <a:endParaRPr sz="1000" dirty="0">
                        <a:solidFill>
                          <a:srgbClr val="1A1A1A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퇴직연금 50대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</a:t>
                      </a:r>
                      <a:r>
                        <a:rPr sz="1000" dirty="0" smtClean="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0.8%)</a:t>
                      </a:r>
                      <a:endParaRPr sz="1000" dirty="0">
                        <a:solidFill>
                          <a:srgbClr val="C00000"/>
                        </a:solidFill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</a:t>
                      </a:r>
                      <a:r>
                        <a:rPr sz="1000" b="1" dirty="0" smtClean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3.2%</a:t>
                      </a:r>
                      <a:endParaRPr sz="10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+11.4%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1.51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(10.8%)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안정형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(</a:t>
                      </a:r>
                      <a:r>
                        <a:rPr sz="1000" dirty="0" err="1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채권</a:t>
                      </a:r>
                      <a:r>
                        <a:rPr sz="1000" dirty="0">
                          <a:solidFill>
                            <a:srgbClr val="1A1A1A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56%)</a:t>
                      </a:r>
                    </a:p>
                  </a:txBody>
                  <a:tcPr anchor="ctr"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517886"/>
            <a:ext cx="11430000" cy="3693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20000"/>
              </a:lnSpc>
            </a:pP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정보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제공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목적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투자권유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자료가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보수차감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예상수익률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(gross of fees) </a:t>
            </a:r>
            <a:r>
              <a:rPr sz="900" b="0" dirty="0" err="1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가정</a:t>
            </a:r>
            <a:r>
              <a:rPr sz="900" b="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 특정 섹터나 종목의 언급이 매수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매도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보유 혹은 직접투자의 추천으로 해석되어서는 안됩니다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endParaRPr lang="en-US" sz="900" b="0" dirty="0" smtClean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20000"/>
              </a:lnSpc>
            </a:pP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※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상기 내용은 시장 상황 및 운용 전략에 따라 집합투자업자의 판단으로 변경될 수 있으며</a:t>
            </a:r>
            <a:r>
              <a:rPr lang="en-US" altLang="ko-KR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900" dirty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투자 참고 자료로 과거 실적이나 전망이 미래 수익을 보장하지 않고 그 정확성 및 완전성을 보장하지 않습니다</a:t>
            </a:r>
            <a:r>
              <a:rPr lang="en-US" altLang="ko-KR" sz="900" dirty="0" smtClean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900" dirty="0">
              <a:solidFill>
                <a:srgbClr val="8C8C8C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-menu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7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74320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면책조항</a:t>
            </a:r>
            <a:r>
              <a:rPr sz="2200" b="1" dirty="0">
                <a:solidFill>
                  <a:srgbClr val="191877"/>
                </a:solidFill>
                <a:latin typeface="KoPubWorld돋움체 Bold"/>
                <a:ea typeface="KoPubWorld돋움체 Bold"/>
                <a:cs typeface="KoPubWorld돋움체 Bold"/>
              </a:rPr>
              <a:t> (Disclaimer)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68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1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3368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금융투자상품은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자산가치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변동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금리·환율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변동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신용등급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하락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등에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투자원금의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손실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(0~100%)이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발생할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있으며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손실은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투자자에게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귀속됩니다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940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2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17940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금융투자상품은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예금자보호법에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보호되지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않습니다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512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3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2512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보수·수수료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외에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증권거래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비용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및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기타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비용이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추가로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발생할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과세기준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및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방법은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향후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법령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변경에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변동될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084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4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27084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과거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성과는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미래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결과를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보장하지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않으며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결정을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내리기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신중히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고려하시기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바랍니다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656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5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1656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 smtClean="0">
                <a:latin typeface="KoPubWorld돋움체 Medium"/>
                <a:ea typeface="KoPubWorld돋움체 Medium"/>
                <a:cs typeface="KoPubWorld돋움체 Medium"/>
              </a:rPr>
              <a:t>판매</a:t>
            </a:r>
            <a:r>
              <a:rPr lang="ko-KR" altLang="en-US" sz="1000" b="0" dirty="0" smtClean="0">
                <a:latin typeface="KoPubWorld돋움체 Medium"/>
                <a:ea typeface="KoPubWorld돋움체 Medium"/>
                <a:cs typeface="KoPubWorld돋움체 Medium"/>
              </a:rPr>
              <a:t>회</a:t>
            </a:r>
            <a:r>
              <a:rPr sz="1000" b="0" dirty="0" err="1" smtClean="0">
                <a:latin typeface="KoPubWorld돋움체 Medium"/>
                <a:ea typeface="KoPubWorld돋움체 Medium"/>
                <a:cs typeface="KoPubWorld돋움체 Medium"/>
              </a:rPr>
              <a:t>사는</a:t>
            </a:r>
            <a:r>
              <a:rPr sz="1000" b="0" dirty="0" smtClean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금융투자상품에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관하여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충분히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설명할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의무가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있으며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투자자는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결정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전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반드시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(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간이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)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투자설명서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및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집합투자규약을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수령하여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상품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내용을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충분히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인지하신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후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여부를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결정하시기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바랍니다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28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6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622893"/>
            <a:ext cx="114147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세부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운용계획은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특정시점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시장상황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기반의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예시적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운용계획이며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고객과의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합의·확약을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위해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작성된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것이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아닙니다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실제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운용은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시장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변화에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따라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집합투자규약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범위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내에서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다르게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이루어질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800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latin typeface="KoPubWorld돋움체 Bold"/>
                <a:ea typeface="KoPubWorld돋움체 Bold"/>
                <a:cs typeface="KoPubWorld돋움체 Bold"/>
              </a:rPr>
              <a:t>7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0800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경제·시장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전망은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작성일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시점의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당사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전망이며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사전통지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없이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변경될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수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있고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반드시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실현된다는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보장은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없습니다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372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8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45372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정보는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신뢰할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만한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출처에서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취득한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자료를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기반으로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작성되었으나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완전함이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전적으로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당사에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의해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보장되지는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않습니다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944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9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994493"/>
            <a:ext cx="11155680" cy="22544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특정회사·종목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언급이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매수·매도·보유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또는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직접투자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추천으로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해석되어서는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 안 </a:t>
            </a:r>
            <a:r>
              <a:rPr sz="1000" b="0" dirty="0" err="1">
                <a:latin typeface="KoPubWorld돋움체 Medium"/>
                <a:ea typeface="KoPubWorld돋움체 Medium"/>
                <a:cs typeface="KoPubWorld돋움체 Medium"/>
              </a:rPr>
              <a:t>됩니다</a:t>
            </a:r>
            <a:r>
              <a:rPr sz="1000" b="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51693"/>
            <a:ext cx="36576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 smtClean="0">
                <a:latin typeface="KoPubWorld돋움체 Bold"/>
                <a:ea typeface="KoPubWorld돋움체 Bold"/>
                <a:cs typeface="KoPubWorld돋움체 Bold"/>
              </a:rPr>
              <a:t>10</a:t>
            </a:r>
            <a:r>
              <a:rPr sz="1000" b="1" dirty="0" smtClean="0">
                <a:latin typeface="KoPubWorld돋움체 Bold"/>
                <a:ea typeface="KoPubWorld돋움체 Bold"/>
                <a:cs typeface="KoPubWorld돋움체 Bold"/>
              </a:rPr>
              <a:t>.</a:t>
            </a:r>
            <a:endParaRPr sz="1000" b="1" dirty="0"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451693"/>
            <a:ext cx="1115568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 smtClean="0">
                <a:latin typeface="KoPubWorld돋움체 Medium"/>
                <a:ea typeface="KoPubWorld돋움체 Medium"/>
                <a:cs typeface="KoPubWorld돋움체 Medium"/>
              </a:rPr>
              <a:t>본 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자료의 모든 정보는 당사 승인 없이 복제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유통될 수 없습니다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 무단 배포됨으로써 발생하는 문제에 대하여 당사는 책임을 부담하지 않으며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000" dirty="0">
                <a:latin typeface="KoPubWorld돋움체 Medium"/>
                <a:ea typeface="KoPubWorld돋움체 Medium"/>
                <a:cs typeface="KoPubWorld돋움체 Medium"/>
              </a:rPr>
              <a:t>투자 결과의 법적 책임소재 증빙자료로 사용될 수 없습니다</a:t>
            </a:r>
            <a:r>
              <a:rPr lang="en-US" altLang="ko-KR" sz="1000" dirty="0">
                <a:latin typeface="KoPubWorld돋움체 Medium"/>
                <a:ea typeface="KoPubWorld돋움체 Medium"/>
                <a:cs typeface="KoPubWorld돋움체 Medium"/>
              </a:rPr>
              <a:t>.</a:t>
            </a:r>
            <a:endParaRPr lang="ko-KR" altLang="en-US" sz="1000" dirty="0">
              <a:latin typeface="KoPubWorld돋움체 Medium"/>
              <a:ea typeface="KoPubWorld돋움체 Medium"/>
              <a:cs typeface="KoPubWorld돋움체 Medium"/>
            </a:endParaRPr>
          </a:p>
          <a:p>
            <a:pPr algn="l">
              <a:lnSpc>
                <a:spcPct val="130000"/>
              </a:lnSpc>
            </a:pPr>
            <a:endParaRPr sz="1000" b="0" dirty="0"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13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0312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54864"/>
          </a:xfrm>
          <a:prstGeom prst="rect">
            <a:avLst/>
          </a:prstGeom>
          <a:solidFill>
            <a:srgbClr val="C9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C7D4ED"/>
                </a:solidFill>
                <a:latin typeface="KoPubWorld돋움체 Medium"/>
                <a:ea typeface="KoPubWorld돋움체 Medium"/>
                <a:cs typeface="KoPubWorld돋움체 Medium"/>
              </a:rPr>
              <a:t>K C G I  자 산 운 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8D8D8"/>
                </a:solidFill>
                <a:latin typeface="KoPubWorld돋움체 Medium"/>
                <a:ea typeface="KoPubWorld돋움체 Medium"/>
                <a:cs typeface="KoPubWorld돋움체 Medium"/>
              </a:rPr>
              <a:t>kcgiam.com  ·  뉴스핌 월간 —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3411</Words>
  <Application>Microsoft Office PowerPoint</Application>
  <PresentationFormat>와이드스크린</PresentationFormat>
  <Paragraphs>490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KoPubWorld돋움체 Bold</vt:lpstr>
      <vt:lpstr>KoPubWorld돋움체 Medium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KCGIAM</dc:creator>
  <cp:keywords/>
  <dc:description>generated using python-pptx</dc:description>
  <cp:lastModifiedBy>kcgi</cp:lastModifiedBy>
  <cp:revision>28</cp:revision>
  <dcterms:created xsi:type="dcterms:W3CDTF">2013-01-27T09:14:16Z</dcterms:created>
  <dcterms:modified xsi:type="dcterms:W3CDTF">2026-06-01T08:03:36Z</dcterms:modified>
  <cp:category/>
</cp:coreProperties>
</file>