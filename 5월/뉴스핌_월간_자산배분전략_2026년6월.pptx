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816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C0F455-62AD-4B2B-A33A-13F0B038F0E4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3F86D-5F0F-46B0-A96E-9B0A0592F0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9981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3F86D-5F0F-46B0-A96E-9B0A0592F01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41632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3F86D-5F0F-46B0-A96E-9B0A0592F01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39627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3F86D-5F0F-46B0-A96E-9B0A0592F017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8896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058400" cy="29546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2026년 </a:t>
            </a:r>
            <a:r>
              <a:rPr lang="en-US" sz="1400" b="1" dirty="0" smtClean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6</a:t>
            </a:r>
            <a:r>
              <a:rPr sz="1400" b="1" dirty="0" smtClean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월</a:t>
            </a:r>
            <a:endParaRPr sz="1400" b="1" dirty="0">
              <a:solidFill>
                <a:srgbClr val="C7D4ED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dirty="0" err="1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뉴스핌</a:t>
            </a:r>
            <a:r>
              <a:rPr sz="4400" b="1" dirty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4400" b="1" dirty="0" err="1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월간</a:t>
            </a:r>
            <a:r>
              <a:rPr sz="4400" b="1" dirty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4400" b="1" dirty="0" err="1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추천</a:t>
            </a:r>
            <a:r>
              <a:rPr sz="4400" b="1" dirty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4400" b="1" dirty="0" err="1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포트폴리오</a:t>
            </a:r>
            <a:endParaRPr sz="4400" b="1" dirty="0">
              <a:solidFill>
                <a:srgbClr val="FFFFFF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3703320"/>
            <a:ext cx="2011680" cy="54864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0584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E7EAF1"/>
                </a:solidFill>
                <a:latin typeface="KoPubWorld돋움체 Bold"/>
                <a:ea typeface="KoPubWorld돋움체 Bold"/>
                <a:cs typeface="KoPubWorld돋움체 Bold"/>
              </a:rPr>
              <a:t>퇴직연금 &amp; 여유자금 포트폴리오 솔루션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34840"/>
            <a:ext cx="10058400" cy="29546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dirty="0">
                <a:solidFill>
                  <a:srgbClr val="C9A85B"/>
                </a:solidFill>
                <a:latin typeface="KoPubWorld돋움체 Medium"/>
                <a:ea typeface="KoPubWorld돋움체 Medium"/>
                <a:cs typeface="KoPubWorld돋움체 Medium"/>
              </a:rPr>
              <a:t>AI </a:t>
            </a:r>
            <a:r>
              <a:rPr sz="1400" b="0" dirty="0" err="1">
                <a:solidFill>
                  <a:srgbClr val="C9A85B"/>
                </a:solidFill>
                <a:latin typeface="KoPubWorld돋움체 Medium"/>
                <a:ea typeface="KoPubWorld돋움체 Medium"/>
                <a:cs typeface="KoPubWorld돋움체 Medium"/>
              </a:rPr>
              <a:t>투자</a:t>
            </a:r>
            <a:r>
              <a:rPr sz="1400" b="0" dirty="0">
                <a:solidFill>
                  <a:srgbClr val="C9A85B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400" b="0" dirty="0" err="1">
                <a:solidFill>
                  <a:srgbClr val="C9A85B"/>
                </a:solidFill>
                <a:latin typeface="KoPubWorld돋움체 Medium"/>
                <a:ea typeface="KoPubWorld돋움체 Medium"/>
                <a:cs typeface="KoPubWorld돋움체 Medium"/>
              </a:rPr>
              <a:t>흐름</a:t>
            </a:r>
            <a:r>
              <a:rPr sz="1400" b="0" dirty="0">
                <a:solidFill>
                  <a:srgbClr val="C9A85B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400" b="0" dirty="0" err="1">
                <a:solidFill>
                  <a:srgbClr val="C9A85B"/>
                </a:solidFill>
                <a:latin typeface="KoPubWorld돋움체 Medium"/>
                <a:ea typeface="KoPubWorld돋움체 Medium"/>
                <a:cs typeface="KoPubWorld돋움체 Medium"/>
              </a:rPr>
              <a:t>강화</a:t>
            </a:r>
            <a:r>
              <a:rPr sz="1400" b="0" dirty="0">
                <a:solidFill>
                  <a:srgbClr val="C9A85B"/>
                </a:solidFill>
                <a:latin typeface="KoPubWorld돋움체 Medium"/>
                <a:ea typeface="KoPubWorld돋움체 Medium"/>
                <a:cs typeface="KoPubWorld돋움체 Medium"/>
              </a:rPr>
              <a:t> — </a:t>
            </a:r>
            <a:r>
              <a:rPr sz="1400" b="0" dirty="0" err="1">
                <a:solidFill>
                  <a:srgbClr val="C9A85B"/>
                </a:solidFill>
                <a:latin typeface="KoPubWorld돋움체 Medium"/>
                <a:ea typeface="KoPubWorld돋움체 Medium"/>
                <a:cs typeface="KoPubWorld돋움체 Medium"/>
              </a:rPr>
              <a:t>장기</a:t>
            </a:r>
            <a:r>
              <a:rPr sz="1400" b="0" dirty="0">
                <a:solidFill>
                  <a:srgbClr val="C9A85B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400" b="0" dirty="0" err="1">
                <a:solidFill>
                  <a:srgbClr val="C9A85B"/>
                </a:solidFill>
                <a:latin typeface="KoPubWorld돋움체 Medium"/>
                <a:ea typeface="KoPubWorld돋움체 Medium"/>
                <a:cs typeface="KoPubWorld돋움체 Medium"/>
              </a:rPr>
              <a:t>성장</a:t>
            </a:r>
            <a:r>
              <a:rPr sz="1400" b="0" dirty="0">
                <a:solidFill>
                  <a:srgbClr val="C9A85B"/>
                </a:solidFill>
                <a:latin typeface="KoPubWorld돋움체 Medium"/>
                <a:ea typeface="KoPubWorld돋움체 Medium"/>
                <a:cs typeface="KoPubWorld돋움체 Medium"/>
              </a:rPr>
              <a:t> vs. </a:t>
            </a:r>
            <a:r>
              <a:rPr sz="1400" b="0" dirty="0" err="1">
                <a:solidFill>
                  <a:srgbClr val="C9A85B"/>
                </a:solidFill>
                <a:latin typeface="KoPubWorld돋움체 Medium"/>
                <a:ea typeface="KoPubWorld돋움체 Medium"/>
                <a:cs typeface="KoPubWorld돋움체 Medium"/>
              </a:rPr>
              <a:t>단기</a:t>
            </a:r>
            <a:r>
              <a:rPr sz="1400" b="0" dirty="0">
                <a:solidFill>
                  <a:srgbClr val="C9A85B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400" b="0" dirty="0" err="1" smtClean="0">
                <a:solidFill>
                  <a:srgbClr val="C9A85B"/>
                </a:solidFill>
                <a:latin typeface="KoPubWorld돋움체 Medium"/>
                <a:ea typeface="KoPubWorld돋움체 Medium"/>
                <a:cs typeface="KoPubWorld돋움체 Medium"/>
              </a:rPr>
              <a:t>과열</a:t>
            </a:r>
            <a:endParaRPr sz="1400" b="0" dirty="0">
              <a:solidFill>
                <a:srgbClr val="C9A85B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5760" y="5120640"/>
            <a:ext cx="2221992" cy="960120"/>
          </a:xfrm>
          <a:prstGeom prst="rect">
            <a:avLst/>
          </a:prstGeom>
          <a:solidFill>
            <a:srgbClr val="0A0D3F"/>
          </a:solidFill>
          <a:ln w="7620">
            <a:solidFill>
              <a:srgbClr val="C9A8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" y="5166360"/>
            <a:ext cx="2057400" cy="24006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dirty="0" err="1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퇴직연금</a:t>
            </a:r>
            <a:r>
              <a:rPr sz="1100" b="1" dirty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 20~30대 </a:t>
            </a:r>
            <a:r>
              <a:rPr lang="en-US" sz="1100" b="1" dirty="0" smtClean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MP </a:t>
            </a:r>
            <a:r>
              <a:rPr sz="1100" b="1" dirty="0" smtClean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(</a:t>
            </a:r>
            <a:r>
              <a:rPr lang="en-US" sz="1100" b="1" dirty="0" smtClean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5</a:t>
            </a:r>
            <a:r>
              <a:rPr sz="1100" b="1" dirty="0" smtClean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월</a:t>
            </a:r>
            <a:r>
              <a:rPr sz="1100" b="1" dirty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5458968"/>
            <a:ext cx="20574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dirty="0" smtClean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+</a:t>
            </a:r>
            <a:r>
              <a:rPr lang="en-US" sz="2000" b="1" dirty="0" smtClean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9</a:t>
            </a:r>
            <a:r>
              <a:rPr sz="2000" b="1" dirty="0" smtClean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.</a:t>
            </a:r>
            <a:r>
              <a:rPr lang="en-US" sz="2000" b="1" dirty="0" smtClean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3</a:t>
            </a:r>
            <a:r>
              <a:rPr sz="2000" b="1" dirty="0" smtClean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%</a:t>
            </a:r>
            <a:endParaRPr sz="2000" b="1" dirty="0">
              <a:solidFill>
                <a:srgbClr val="C9A85B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4632" y="5852160"/>
            <a:ext cx="2057400" cy="20313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dirty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6개월 +</a:t>
            </a:r>
            <a:r>
              <a:rPr sz="900" b="0" dirty="0" smtClean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2</a:t>
            </a:r>
            <a:r>
              <a:rPr lang="en-US" sz="900" b="0" dirty="0" smtClean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9</a:t>
            </a:r>
            <a:r>
              <a:rPr sz="900" b="0" dirty="0" smtClean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.</a:t>
            </a:r>
            <a:r>
              <a:rPr lang="en-US" sz="900" b="0" dirty="0" smtClean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5</a:t>
            </a:r>
            <a:r>
              <a:rPr sz="900" b="0" dirty="0" smtClean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%</a:t>
            </a:r>
            <a:endParaRPr sz="900" b="0" dirty="0">
              <a:solidFill>
                <a:srgbClr val="E7EAF1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679192" y="5120640"/>
            <a:ext cx="2221992" cy="960120"/>
          </a:xfrm>
          <a:prstGeom prst="rect">
            <a:avLst/>
          </a:prstGeom>
          <a:solidFill>
            <a:srgbClr val="0A0D3F"/>
          </a:solidFill>
          <a:ln w="7620">
            <a:solidFill>
              <a:srgbClr val="C9A8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98064" y="5166360"/>
            <a:ext cx="2057400" cy="24006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lnSpc>
                <a:spcPct val="120000"/>
              </a:lnSpc>
            </a:pPr>
            <a:r>
              <a:rPr sz="1100" b="1" dirty="0" err="1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퇴직연금</a:t>
            </a:r>
            <a:r>
              <a:rPr sz="1100" b="1" dirty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 40</a:t>
            </a:r>
            <a:r>
              <a:rPr sz="1100" b="1" dirty="0" smtClean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대</a:t>
            </a:r>
            <a:r>
              <a:rPr lang="en-US" altLang="ko-KR" sz="1100" b="1" dirty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 MP </a:t>
            </a:r>
            <a:r>
              <a:rPr sz="1100" b="1" dirty="0" smtClean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(</a:t>
            </a:r>
            <a:r>
              <a:rPr lang="en-US" sz="1100" b="1" dirty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5</a:t>
            </a:r>
            <a:r>
              <a:rPr sz="1100" b="1" dirty="0" smtClean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월</a:t>
            </a:r>
            <a:r>
              <a:rPr sz="1100" b="1" dirty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98064" y="5458968"/>
            <a:ext cx="20574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dirty="0" smtClean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+</a:t>
            </a:r>
            <a:r>
              <a:rPr lang="en-US" sz="2000" b="1" dirty="0" smtClean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7</a:t>
            </a:r>
            <a:r>
              <a:rPr sz="2000" b="1" dirty="0" smtClean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.8%</a:t>
            </a:r>
            <a:endParaRPr sz="2000" b="1" dirty="0">
              <a:solidFill>
                <a:srgbClr val="C9A85B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798064" y="5852160"/>
            <a:ext cx="2057400" cy="20313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dirty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6개월 </a:t>
            </a:r>
            <a:r>
              <a:rPr sz="900" b="0" dirty="0" smtClean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+</a:t>
            </a:r>
            <a:r>
              <a:rPr lang="en-US" sz="900" b="0" dirty="0" smtClean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25</a:t>
            </a:r>
            <a:r>
              <a:rPr sz="900" b="0" dirty="0" smtClean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.</a:t>
            </a:r>
            <a:r>
              <a:rPr lang="en-US" sz="900" b="0" dirty="0" smtClean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0</a:t>
            </a:r>
            <a:r>
              <a:rPr sz="900" b="0" dirty="0" smtClean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%</a:t>
            </a:r>
            <a:endParaRPr sz="900" b="0" dirty="0">
              <a:solidFill>
                <a:srgbClr val="E7EAF1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992624" y="5120640"/>
            <a:ext cx="2221992" cy="960120"/>
          </a:xfrm>
          <a:prstGeom prst="rect">
            <a:avLst/>
          </a:prstGeom>
          <a:solidFill>
            <a:srgbClr val="0A0D3F"/>
          </a:solidFill>
          <a:ln w="7620">
            <a:solidFill>
              <a:srgbClr val="C9A8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11496" y="5166360"/>
            <a:ext cx="2057400" cy="24006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dirty="0" err="1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퇴직연금</a:t>
            </a:r>
            <a:r>
              <a:rPr sz="1100" b="1" dirty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 50대 </a:t>
            </a:r>
            <a:r>
              <a:rPr lang="en-US" sz="1100" b="1" dirty="0" smtClean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MP </a:t>
            </a:r>
            <a:r>
              <a:rPr sz="1100" b="1" dirty="0" smtClean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(</a:t>
            </a:r>
            <a:r>
              <a:rPr lang="en-US" sz="1100" b="1" dirty="0" smtClean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5</a:t>
            </a:r>
            <a:r>
              <a:rPr sz="1100" b="1" dirty="0" smtClean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월</a:t>
            </a:r>
            <a:r>
              <a:rPr sz="1100" b="1" dirty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11496" y="5458968"/>
            <a:ext cx="20574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dirty="0" smtClean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+</a:t>
            </a:r>
            <a:r>
              <a:rPr lang="en-US" sz="2000" b="1" dirty="0" smtClean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5</a:t>
            </a:r>
            <a:r>
              <a:rPr sz="2000" b="1" dirty="0" smtClean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.</a:t>
            </a:r>
            <a:r>
              <a:rPr lang="en-US" sz="2000" b="1" dirty="0" smtClean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1</a:t>
            </a:r>
            <a:r>
              <a:rPr sz="2000" b="1" dirty="0" smtClean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%</a:t>
            </a:r>
            <a:endParaRPr sz="2000" b="1" dirty="0">
              <a:solidFill>
                <a:srgbClr val="C9A85B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111496" y="5852160"/>
            <a:ext cx="2057400" cy="20313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dirty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6개월 </a:t>
            </a:r>
            <a:r>
              <a:rPr sz="900" b="0" dirty="0" smtClean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+</a:t>
            </a:r>
            <a:r>
              <a:rPr lang="en-US" sz="900" b="0" dirty="0" smtClean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17</a:t>
            </a:r>
            <a:r>
              <a:rPr sz="900" b="0" dirty="0" smtClean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.</a:t>
            </a:r>
            <a:r>
              <a:rPr lang="en-US" sz="900" dirty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3</a:t>
            </a:r>
            <a:r>
              <a:rPr sz="900" b="0" dirty="0" smtClean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%</a:t>
            </a:r>
            <a:endParaRPr sz="900" b="0" dirty="0">
              <a:solidFill>
                <a:srgbClr val="E7EAF1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306056" y="5120640"/>
            <a:ext cx="2221992" cy="960120"/>
          </a:xfrm>
          <a:prstGeom prst="rect">
            <a:avLst/>
          </a:prstGeom>
          <a:solidFill>
            <a:srgbClr val="0A0D3F"/>
          </a:solidFill>
          <a:ln w="7620">
            <a:solidFill>
              <a:srgbClr val="C9A8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24928" y="5166360"/>
            <a:ext cx="2057400" cy="24006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dirty="0" err="1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적극적</a:t>
            </a:r>
            <a:r>
              <a:rPr sz="1100" b="1" dirty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100" b="1" dirty="0" err="1" smtClean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여유자금</a:t>
            </a:r>
            <a:r>
              <a:rPr lang="en-US" sz="1100" b="1" dirty="0" smtClean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 MP</a:t>
            </a:r>
            <a:r>
              <a:rPr sz="1100" b="1" dirty="0" smtClean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 (</a:t>
            </a:r>
            <a:r>
              <a:rPr lang="en-US" sz="1100" b="1" dirty="0" smtClean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5</a:t>
            </a:r>
            <a:r>
              <a:rPr sz="1100" b="1" dirty="0" smtClean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월</a:t>
            </a:r>
            <a:r>
              <a:rPr sz="1100" b="1" dirty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4928" y="5458968"/>
            <a:ext cx="20574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dirty="0" smtClean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+</a:t>
            </a:r>
            <a:r>
              <a:rPr lang="en-US" sz="2000" b="1" dirty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6</a:t>
            </a:r>
            <a:r>
              <a:rPr sz="2000" b="1" dirty="0" smtClean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.</a:t>
            </a:r>
            <a:r>
              <a:rPr lang="en-US" sz="2000" b="1" dirty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7</a:t>
            </a:r>
            <a:r>
              <a:rPr sz="2000" b="1" dirty="0" smtClean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%</a:t>
            </a:r>
            <a:endParaRPr sz="2000" b="1" dirty="0">
              <a:solidFill>
                <a:srgbClr val="C9A85B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424928" y="5852160"/>
            <a:ext cx="2057400" cy="20313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dirty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6개월 </a:t>
            </a:r>
            <a:r>
              <a:rPr sz="900" b="0" dirty="0" smtClean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+</a:t>
            </a:r>
            <a:r>
              <a:rPr lang="en-US" sz="900" dirty="0" smtClean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15</a:t>
            </a:r>
            <a:r>
              <a:rPr sz="900" b="0" dirty="0" smtClean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.</a:t>
            </a:r>
            <a:r>
              <a:rPr lang="en-US" sz="900" b="0" dirty="0" smtClean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7</a:t>
            </a:r>
            <a:r>
              <a:rPr sz="900" b="0" dirty="0" smtClean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%</a:t>
            </a:r>
            <a:endParaRPr sz="900" b="0" dirty="0">
              <a:solidFill>
                <a:srgbClr val="E7EAF1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619488" y="5120640"/>
            <a:ext cx="2221992" cy="960120"/>
          </a:xfrm>
          <a:prstGeom prst="rect">
            <a:avLst/>
          </a:prstGeom>
          <a:solidFill>
            <a:srgbClr val="0A0D3F"/>
          </a:solidFill>
          <a:ln w="7620">
            <a:solidFill>
              <a:srgbClr val="C9A8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738360" y="5166360"/>
            <a:ext cx="2057400" cy="24006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dirty="0" err="1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보수적</a:t>
            </a:r>
            <a:r>
              <a:rPr sz="1100" b="1" dirty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100" b="1" dirty="0" err="1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여유자금</a:t>
            </a:r>
            <a:r>
              <a:rPr sz="1100" b="1" dirty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lang="en-US" sz="1100" b="1" dirty="0" smtClean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MP </a:t>
            </a:r>
            <a:r>
              <a:rPr sz="1100" b="1" dirty="0" smtClean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(</a:t>
            </a:r>
            <a:r>
              <a:rPr lang="en-US" sz="1100" b="1" dirty="0" smtClean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5</a:t>
            </a:r>
            <a:r>
              <a:rPr sz="1100" b="1" dirty="0" smtClean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월</a:t>
            </a:r>
            <a:r>
              <a:rPr sz="1100" b="1" dirty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60" y="5458968"/>
            <a:ext cx="20574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dirty="0" smtClean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+</a:t>
            </a:r>
            <a:r>
              <a:rPr lang="en-US" sz="2000" b="1" dirty="0" smtClean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1</a:t>
            </a:r>
            <a:r>
              <a:rPr sz="2000" b="1" dirty="0" smtClean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.</a:t>
            </a:r>
            <a:r>
              <a:rPr lang="en-US" sz="2000" b="1" dirty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6</a:t>
            </a:r>
            <a:r>
              <a:rPr sz="2000" b="1" dirty="0" smtClean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%</a:t>
            </a:r>
            <a:endParaRPr sz="2000" b="1" dirty="0">
              <a:solidFill>
                <a:srgbClr val="C9A85B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738360" y="5852160"/>
            <a:ext cx="2057400" cy="20313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dirty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6개월 </a:t>
            </a:r>
            <a:r>
              <a:rPr sz="900" b="0" dirty="0" smtClean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+</a:t>
            </a:r>
            <a:r>
              <a:rPr lang="en-US" sz="900" dirty="0" smtClean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10</a:t>
            </a:r>
            <a:r>
              <a:rPr sz="900" b="0" dirty="0" smtClean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.</a:t>
            </a:r>
            <a:r>
              <a:rPr lang="en-US" sz="900" b="0" dirty="0" smtClean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2</a:t>
            </a:r>
            <a:r>
              <a:rPr sz="900" b="0" dirty="0" smtClean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%</a:t>
            </a:r>
            <a:endParaRPr sz="900" b="0" dirty="0">
              <a:solidFill>
                <a:srgbClr val="E7EAF1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315200" y="365760"/>
            <a:ext cx="4572000" cy="3693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dirty="0" err="1">
                <a:solidFill>
                  <a:srgbClr val="C7D4ED"/>
                </a:solidFill>
                <a:latin typeface="KoPubWorld돋움체 Medium"/>
                <a:ea typeface="KoPubWorld돋움체 Medium"/>
                <a:cs typeface="KoPubWorld돋움체 Medium"/>
              </a:rPr>
              <a:t>준법감시인</a:t>
            </a:r>
            <a:r>
              <a:rPr sz="900" b="0" dirty="0">
                <a:solidFill>
                  <a:srgbClr val="C7D4ED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C7D4ED"/>
                </a:solidFill>
                <a:latin typeface="KoPubWorld돋움체 Medium"/>
                <a:ea typeface="KoPubWorld돋움체 Medium"/>
                <a:cs typeface="KoPubWorld돋움체 Medium"/>
              </a:rPr>
              <a:t>심사필번호</a:t>
            </a:r>
            <a:r>
              <a:rPr sz="900" b="0" dirty="0">
                <a:solidFill>
                  <a:srgbClr val="C7D4ED"/>
                </a:solidFill>
                <a:latin typeface="KoPubWorld돋움체 Medium"/>
                <a:ea typeface="KoPubWorld돋움체 Medium"/>
                <a:cs typeface="KoPubWorld돋움체 Medium"/>
              </a:rPr>
              <a:t> 제</a:t>
            </a:r>
            <a:r>
              <a:rPr sz="900" b="0" dirty="0" smtClean="0">
                <a:solidFill>
                  <a:srgbClr val="C7D4ED"/>
                </a:solidFill>
                <a:latin typeface="KoPubWorld돋움체 Medium"/>
                <a:ea typeface="KoPubWorld돋움체 Medium"/>
                <a:cs typeface="KoPubWorld돋움체 Medium"/>
              </a:rPr>
              <a:t>26-</a:t>
            </a:r>
            <a:r>
              <a:rPr lang="en-US" sz="900" b="0" dirty="0" smtClean="0">
                <a:solidFill>
                  <a:srgbClr val="C7D4ED"/>
                </a:solidFill>
                <a:latin typeface="KoPubWorld돋움체 Medium"/>
                <a:ea typeface="KoPubWorld돋움체 Medium"/>
                <a:cs typeface="KoPubWorld돋움체 Medium"/>
              </a:rPr>
              <a:t>292</a:t>
            </a:r>
            <a:r>
              <a:rPr sz="900" b="0" dirty="0" smtClean="0">
                <a:solidFill>
                  <a:srgbClr val="C7D4ED"/>
                </a:solidFill>
                <a:latin typeface="KoPubWorld돋움체 Medium"/>
                <a:ea typeface="KoPubWorld돋움체 Medium"/>
                <a:cs typeface="KoPubWorld돋움체 Medium"/>
              </a:rPr>
              <a:t>호</a:t>
            </a:r>
            <a:endParaRPr sz="900" b="0" dirty="0">
              <a:solidFill>
                <a:srgbClr val="C7D4ED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r">
              <a:lnSpc>
                <a:spcPct val="120000"/>
              </a:lnSpc>
            </a:pPr>
            <a:r>
              <a:rPr sz="900" b="0" dirty="0">
                <a:solidFill>
                  <a:srgbClr val="C7D4ED"/>
                </a:solidFill>
                <a:latin typeface="KoPubWorld돋움체 Medium"/>
                <a:ea typeface="KoPubWorld돋움체 Medium"/>
                <a:cs typeface="KoPubWorld돋움체 Medium"/>
              </a:rPr>
              <a:t>(</a:t>
            </a:r>
            <a:r>
              <a:rPr sz="900" b="0" dirty="0" err="1">
                <a:solidFill>
                  <a:srgbClr val="C7D4ED"/>
                </a:solidFill>
                <a:latin typeface="KoPubWorld돋움체 Medium"/>
                <a:ea typeface="KoPubWorld돋움체 Medium"/>
                <a:cs typeface="KoPubWorld돋움체 Medium"/>
              </a:rPr>
              <a:t>유효기간</a:t>
            </a:r>
            <a:r>
              <a:rPr sz="900" b="0" dirty="0">
                <a:solidFill>
                  <a:srgbClr val="C7D4ED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smtClean="0">
                <a:solidFill>
                  <a:srgbClr val="C7D4ED"/>
                </a:solidFill>
                <a:latin typeface="KoPubWorld돋움체 Medium"/>
                <a:ea typeface="KoPubWorld돋움체 Medium"/>
                <a:cs typeface="KoPubWorld돋움체 Medium"/>
              </a:rPr>
              <a:t>2026.0</a:t>
            </a:r>
            <a:r>
              <a:rPr lang="en-US" sz="900" b="0" dirty="0" smtClean="0">
                <a:solidFill>
                  <a:srgbClr val="C7D4ED"/>
                </a:solidFill>
                <a:latin typeface="KoPubWorld돋움체 Medium"/>
                <a:ea typeface="KoPubWorld돋움체 Medium"/>
                <a:cs typeface="KoPubWorld돋움체 Medium"/>
              </a:rPr>
              <a:t>6</a:t>
            </a:r>
            <a:r>
              <a:rPr sz="900" b="0" dirty="0" smtClean="0">
                <a:solidFill>
                  <a:srgbClr val="C7D4ED"/>
                </a:solidFill>
                <a:latin typeface="KoPubWorld돋움체 Medium"/>
                <a:ea typeface="KoPubWorld돋움체 Medium"/>
                <a:cs typeface="KoPubWorld돋움체 Medium"/>
              </a:rPr>
              <a:t>.</a:t>
            </a:r>
            <a:r>
              <a:rPr lang="en-US" sz="900" b="0" dirty="0" smtClean="0">
                <a:solidFill>
                  <a:srgbClr val="C7D4ED"/>
                </a:solidFill>
                <a:latin typeface="KoPubWorld돋움체 Medium"/>
                <a:ea typeface="KoPubWorld돋움체 Medium"/>
                <a:cs typeface="KoPubWorld돋움체 Medium"/>
              </a:rPr>
              <a:t>11</a:t>
            </a:r>
            <a:r>
              <a:rPr sz="900" b="0" dirty="0" smtClean="0">
                <a:solidFill>
                  <a:srgbClr val="C7D4ED"/>
                </a:solidFill>
                <a:latin typeface="KoPubWorld돋움체 Medium"/>
                <a:ea typeface="KoPubWorld돋움체 Medium"/>
                <a:cs typeface="KoPubWorld돋움체 Medium"/>
              </a:rPr>
              <a:t>~2027.0</a:t>
            </a:r>
            <a:r>
              <a:rPr lang="en-US" sz="900" b="0" dirty="0" smtClean="0">
                <a:solidFill>
                  <a:srgbClr val="C7D4ED"/>
                </a:solidFill>
                <a:latin typeface="KoPubWorld돋움체 Medium"/>
                <a:ea typeface="KoPubWorld돋움체 Medium"/>
                <a:cs typeface="KoPubWorld돋움체 Medium"/>
              </a:rPr>
              <a:t>6</a:t>
            </a:r>
            <a:r>
              <a:rPr sz="900" b="0" dirty="0" smtClean="0">
                <a:solidFill>
                  <a:srgbClr val="C7D4ED"/>
                </a:solidFill>
                <a:latin typeface="KoPubWorld돋움체 Medium"/>
                <a:ea typeface="KoPubWorld돋움체 Medium"/>
                <a:cs typeface="KoPubWorld돋움체 Medium"/>
              </a:rPr>
              <a:t>.</a:t>
            </a:r>
            <a:r>
              <a:rPr lang="en-US" sz="900" b="0" dirty="0" smtClean="0">
                <a:solidFill>
                  <a:srgbClr val="C7D4ED"/>
                </a:solidFill>
                <a:latin typeface="KoPubWorld돋움체 Medium"/>
                <a:ea typeface="KoPubWorld돋움체 Medium"/>
                <a:cs typeface="KoPubWorld돋움체 Medium"/>
              </a:rPr>
              <a:t>10</a:t>
            </a:r>
            <a:r>
              <a:rPr sz="900" b="0" dirty="0" smtClean="0">
                <a:solidFill>
                  <a:srgbClr val="C7D4ED"/>
                </a:solidFill>
                <a:latin typeface="KoPubWorld돋움체 Medium"/>
                <a:ea typeface="KoPubWorld돋움체 Medium"/>
                <a:cs typeface="KoPubWorld돋움체 Medium"/>
              </a:rPr>
              <a:t>)</a:t>
            </a:r>
            <a:endParaRPr sz="900" b="0" dirty="0">
              <a:solidFill>
                <a:srgbClr val="C7D4ED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05" y="6263640"/>
            <a:ext cx="12191695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dirty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K C G I  자 산 운 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20217" y="6089194"/>
            <a:ext cx="3221263" cy="3631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800" dirty="0" smtClean="0">
                <a:solidFill>
                  <a:schemeClr val="bg1"/>
                </a:solidFill>
                <a:latin typeface="+mj-ea"/>
                <a:ea typeface="+mj-ea"/>
              </a:rPr>
              <a:t>기준일</a:t>
            </a:r>
            <a:r>
              <a:rPr lang="en-US" altLang="ko-KR" sz="800" dirty="0" smtClean="0">
                <a:solidFill>
                  <a:schemeClr val="bg1"/>
                </a:solidFill>
                <a:latin typeface="+mj-ea"/>
                <a:ea typeface="+mj-ea"/>
              </a:rPr>
              <a:t>:2026.05.31</a:t>
            </a:r>
          </a:p>
          <a:p>
            <a:pPr algn="r">
              <a:lnSpc>
                <a:spcPct val="12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KoPubWorld돋움체 Medium"/>
                <a:ea typeface="KoPubWorld돋움체 Medium"/>
                <a:cs typeface="KoPubWorld돋움체 Medium"/>
              </a:rPr>
              <a:t>과거 수익률이 미래 운용 성과를 보장하지 않습니다</a:t>
            </a:r>
            <a:r>
              <a:rPr lang="en-US" altLang="ko-KR" sz="800" dirty="0">
                <a:solidFill>
                  <a:schemeClr val="bg1"/>
                </a:solidFill>
                <a:latin typeface="KoPubWorld돋움체 Medium"/>
                <a:ea typeface="KoPubWorld돋움체 Medium"/>
                <a:cs typeface="KoPubWorld돋움체 Medium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op-menu-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7772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77724"/>
            <a:ext cx="12191695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kcgi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82880"/>
            <a:ext cx="15087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20240" y="164592"/>
            <a:ext cx="731520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퇴직연금</a:t>
            </a:r>
            <a:r>
              <a:rPr sz="18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8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포트폴리오</a:t>
            </a:r>
            <a:r>
              <a:rPr sz="18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8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솔루션</a:t>
            </a:r>
            <a:endParaRPr sz="1800" b="1" dirty="0">
              <a:solidFill>
                <a:srgbClr val="191877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20240" y="548640"/>
            <a:ext cx="731520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장기</a:t>
            </a:r>
            <a:r>
              <a:rPr sz="13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3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수익률이</a:t>
            </a:r>
            <a:r>
              <a:rPr sz="13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3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우수한</a:t>
            </a:r>
            <a:r>
              <a:rPr sz="13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3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글로벌</a:t>
            </a:r>
            <a:r>
              <a:rPr sz="13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3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자산</a:t>
            </a:r>
            <a:r>
              <a:rPr sz="13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— </a:t>
            </a:r>
            <a:r>
              <a:rPr sz="13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환율</a:t>
            </a:r>
            <a:r>
              <a:rPr sz="13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3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고려</a:t>
            </a:r>
            <a:r>
              <a:rPr sz="13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3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기준</a:t>
            </a:r>
            <a:endParaRPr sz="1300" b="0" dirty="0">
              <a:solidFill>
                <a:srgbClr val="595959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058400" y="457200"/>
            <a:ext cx="2011680" cy="45720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0" y="182880"/>
            <a:ext cx="201168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KCGI </a:t>
            </a:r>
            <a:r>
              <a:rPr sz="11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자산운용</a:t>
            </a:r>
            <a:r>
              <a:rPr sz="11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| </a:t>
            </a:r>
            <a:r>
              <a:rPr sz="11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뉴스핌</a:t>
            </a:r>
            <a:r>
              <a:rPr sz="11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월간</a:t>
            </a:r>
            <a:endParaRPr sz="1100" b="0" dirty="0">
              <a:solidFill>
                <a:srgbClr val="595959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058400" y="561106"/>
            <a:ext cx="2011680" cy="2585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2026.0</a:t>
            </a:r>
            <a:r>
              <a:rPr lang="en-US"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6</a:t>
            </a:r>
            <a:r>
              <a:rPr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 </a:t>
            </a:r>
            <a:r>
              <a:rPr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·  </a:t>
            </a:r>
            <a:r>
              <a:rPr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2/14</a:t>
            </a:r>
            <a:endParaRPr sz="1200" b="1" dirty="0">
              <a:solidFill>
                <a:srgbClr val="191877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960120"/>
            <a:ext cx="11430000" cy="777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■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투자수단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—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퇴직연금·개인연금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내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편입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가능한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ETF로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구성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대표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국가별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인덱스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기초자산</a:t>
            </a:r>
            <a:endParaRPr sz="12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50000"/>
              </a:lnSpc>
            </a:pP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■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투자대상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—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주식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: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미국·중국·일본·한국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대표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지수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/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채권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: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국내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단기채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+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미국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달러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채권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(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환차익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추구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5374172"/>
              </p:ext>
            </p:extLst>
          </p:nvPr>
        </p:nvGraphicFramePr>
        <p:xfrm>
          <a:off x="365760" y="1783080"/>
          <a:ext cx="11429998" cy="2629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80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88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88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88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88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88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1884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1884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229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자산분류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미국 성장주
나스닥100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미국 배당주
Dow 배당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중국 본토
CSI300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일본
니케이225 TR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한국
코스피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미국 달러
SOFR(UH)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한국 단기채
KIS 02-03Y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연평균수익률(%)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18.0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12.4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14.2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9.3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10.1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3.1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1.95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표준편차(%)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22.2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18.1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26.0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22.5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20.6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10.8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샤프비율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0.81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0.69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0.55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0.41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0.49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0.29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1.88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MDD(%)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(30.4)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(29.7)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(59.6)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(27.2)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(53.8)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(35.2)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(4.7)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MDD시점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2022-12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2020-03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2008-11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2020-03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2008-10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2014-07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2022-09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고점회복기간(년)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0.5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7.2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0.3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3.0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15.7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4572000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■ 핵심 정리</a:t>
            </a:r>
            <a:endParaRPr sz="1300" b="1">
              <a:solidFill>
                <a:srgbClr val="191877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65760" y="4983480"/>
            <a:ext cx="3749039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4983480"/>
            <a:ext cx="73152" cy="1188720"/>
          </a:xfrm>
          <a:prstGeom prst="rect">
            <a:avLst/>
          </a:prstGeom>
          <a:solidFill>
            <a:srgbClr val="9CC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5038344"/>
            <a:ext cx="3511295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595959"/>
                </a:solidFill>
                <a:latin typeface="KoPubWorld돋움체 Bold"/>
                <a:ea typeface="KoPubWorld돋움체 Bold"/>
                <a:cs typeface="KoPubWorld돋움체 Bold"/>
              </a:rPr>
              <a:t>장기 수익 1위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294376"/>
            <a:ext cx="3511295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나스닥100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861304"/>
            <a:ext cx="3511295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연평균 +18.0%, 샤프 0.81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4983480"/>
            <a:ext cx="3749039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51960" y="4983480"/>
            <a:ext cx="73152" cy="1188720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53128" y="5038344"/>
            <a:ext cx="3511295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595959"/>
                </a:solidFill>
                <a:latin typeface="KoPubWorld돋움체 Bold"/>
                <a:ea typeface="KoPubWorld돋움체 Bold"/>
                <a:cs typeface="KoPubWorld돋움체 Bold"/>
              </a:rPr>
              <a:t>안정성 1위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8" y="5294376"/>
            <a:ext cx="3511295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KIS 단기채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8" y="5861304"/>
            <a:ext cx="3511295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변동성 1.0%, MDD (4.7%)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4983480"/>
            <a:ext cx="3749039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138160" y="4983480"/>
            <a:ext cx="73152" cy="1188720"/>
          </a:xfrm>
          <a:prstGeom prst="rect">
            <a:avLst/>
          </a:prstGeom>
          <a:solidFill>
            <a:srgbClr val="191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39328" y="5038344"/>
            <a:ext cx="3511295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595959"/>
                </a:solidFill>
                <a:latin typeface="KoPubWorld돋움체 Bold"/>
                <a:ea typeface="KoPubWorld돋움체 Bold"/>
                <a:cs typeface="KoPubWorld돋움체 Bold"/>
              </a:rPr>
              <a:t>위험 대비 수익 우수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5294376"/>
            <a:ext cx="3511295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Dow 배당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5861304"/>
            <a:ext cx="3511295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샤프 0.69, MDD (29.7%)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263640"/>
            <a:ext cx="114300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(출처) Bloomberg, KCGI자산운용  ·  (Note) KRW 기준, 2006.01~2026.04 backtest (KIS 단기채는 2009.05~)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16670" y="4372832"/>
            <a:ext cx="4937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제시된 비교대상 </a:t>
            </a:r>
            <a:r>
              <a:rPr lang="ko-KR" altLang="en-US" sz="90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자산군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내 </a:t>
            </a:r>
            <a:r>
              <a:rPr lang="ko-KR" altLang="en-US" sz="90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백테스트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결과이며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전체 금융상품 또는 모든 </a:t>
            </a:r>
            <a:r>
              <a:rPr lang="ko-KR" altLang="en-US" sz="90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자산군을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대표하지 않습니다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</a:t>
            </a:r>
            <a:endParaRPr lang="ko-KR" altLang="en-US" sz="900" dirty="0">
              <a:solidFill>
                <a:srgbClr val="8C8C8C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endParaRPr lang="ko-KR" altLang="en-US" sz="900" dirty="0">
              <a:solidFill>
                <a:srgbClr val="FF00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65760" y="6600985"/>
            <a:ext cx="11430000" cy="20313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정보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제공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목적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투자권유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자료가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아닙니다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보수차감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전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예상수익률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(gross of fees)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가정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과거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수익률이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미래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운용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성과를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보장하지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않습니다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그림 3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" y="2256783"/>
            <a:ext cx="7315200" cy="2377440"/>
          </a:xfrm>
          <a:prstGeom prst="rect">
            <a:avLst/>
          </a:prstGeom>
        </p:spPr>
      </p:pic>
      <p:pic>
        <p:nvPicPr>
          <p:cNvPr id="2" name="Picture 1" descr="top-menu-gradi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7772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77724"/>
            <a:ext cx="12191695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kcgi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182880"/>
            <a:ext cx="15087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20240" y="164592"/>
            <a:ext cx="731520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퇴직연금 — 연령별 최적화 투자전략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548640"/>
            <a:ext cx="731520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샤프비율</a:t>
            </a:r>
            <a:r>
              <a:rPr sz="13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3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극대화</a:t>
            </a:r>
            <a:r>
              <a:rPr sz="13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3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추구</a:t>
            </a:r>
            <a:r>
              <a:rPr sz="13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sz="13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연령에</a:t>
            </a:r>
            <a:r>
              <a:rPr sz="13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3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따른</a:t>
            </a:r>
            <a:r>
              <a:rPr sz="13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3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주식·채권</a:t>
            </a:r>
            <a:r>
              <a:rPr sz="13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3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비중</a:t>
            </a:r>
            <a:r>
              <a:rPr sz="13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3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조정</a:t>
            </a:r>
            <a:endParaRPr sz="1300" b="0" dirty="0">
              <a:solidFill>
                <a:srgbClr val="595959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058400" y="457200"/>
            <a:ext cx="2011680" cy="45720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0" y="182880"/>
            <a:ext cx="201168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KCGI 자산운용 | 뉴스핌 월간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561106"/>
            <a:ext cx="2011680" cy="2585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2026.0</a:t>
            </a:r>
            <a:r>
              <a:rPr lang="en-US"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6</a:t>
            </a:r>
            <a:r>
              <a:rPr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 </a:t>
            </a:r>
            <a:r>
              <a:rPr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·  3/14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960120"/>
            <a:ext cx="7132320" cy="2585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■ </a:t>
            </a:r>
            <a:r>
              <a:rPr sz="12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최적화</a:t>
            </a:r>
            <a:r>
              <a:rPr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2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목표</a:t>
            </a:r>
            <a:r>
              <a:rPr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— </a:t>
            </a:r>
            <a:r>
              <a:rPr sz="12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수익률·변동성을</a:t>
            </a:r>
            <a:r>
              <a:rPr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2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고려한</a:t>
            </a:r>
            <a:r>
              <a:rPr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2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샤프비율</a:t>
            </a:r>
            <a:r>
              <a:rPr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2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극대화</a:t>
            </a:r>
            <a:r>
              <a:rPr lang="en-US"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lang="ko-KR" altLang="en-US"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추구</a:t>
            </a:r>
            <a:endParaRPr sz="1200" b="1" dirty="0">
              <a:solidFill>
                <a:srgbClr val="191877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5760" y="1280160"/>
            <a:ext cx="71323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젊을수록</a:t>
            </a:r>
            <a:r>
              <a:rPr sz="11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성장주</a:t>
            </a:r>
            <a:r>
              <a:rPr sz="11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비중</a:t>
            </a:r>
            <a:r>
              <a:rPr sz="11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확대</a:t>
            </a:r>
            <a:r>
              <a:rPr sz="11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sz="11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은퇴시점에</a:t>
            </a:r>
            <a:r>
              <a:rPr sz="11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가까울수록</a:t>
            </a:r>
            <a:r>
              <a:rPr sz="11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채권</a:t>
            </a:r>
            <a:r>
              <a:rPr sz="11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비중</a:t>
            </a:r>
            <a:r>
              <a:rPr sz="11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확대로</a:t>
            </a:r>
            <a:r>
              <a:rPr sz="11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안정성</a:t>
            </a:r>
            <a:r>
              <a:rPr sz="11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 smtClean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강화</a:t>
            </a:r>
            <a:r>
              <a:rPr lang="en-US" sz="1100" b="0" dirty="0" smtClean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lang="ko-KR" altLang="en-US" sz="1100" b="0" dirty="0" smtClean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전략</a:t>
            </a:r>
            <a:endParaRPr lang="en-US" altLang="ko-KR" sz="1100" b="0" dirty="0" smtClean="0">
              <a:solidFill>
                <a:srgbClr val="595959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20000"/>
              </a:lnSpc>
            </a:pPr>
            <a:r>
              <a:rPr sz="1100" b="0" dirty="0" smtClean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20~30</a:t>
            </a:r>
            <a:r>
              <a:rPr sz="11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대 </a:t>
            </a:r>
            <a:r>
              <a:rPr sz="11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연평균</a:t>
            </a:r>
            <a:r>
              <a:rPr sz="11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+16% </a:t>
            </a:r>
            <a:r>
              <a:rPr sz="11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추구</a:t>
            </a:r>
            <a:r>
              <a:rPr sz="11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, 50대는 10% </a:t>
            </a:r>
            <a:r>
              <a:rPr sz="11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이내</a:t>
            </a:r>
            <a:r>
              <a:rPr sz="11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 smtClean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최대</a:t>
            </a:r>
            <a:r>
              <a:rPr lang="en-US" sz="1100" b="0" dirty="0" smtClean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 smtClean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하락폭</a:t>
            </a:r>
            <a:r>
              <a:rPr sz="1100" b="0" dirty="0" smtClean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관리</a:t>
            </a:r>
            <a:endParaRPr sz="1100" b="0" dirty="0">
              <a:solidFill>
                <a:srgbClr val="595959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5760" y="1828800"/>
            <a:ext cx="71323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■ 연령별 추천 비중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960120"/>
            <a:ext cx="4114800" cy="2585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■ 4월말 </a:t>
            </a:r>
            <a:r>
              <a:rPr lang="ko-KR" altLang="en-US"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수익률</a:t>
            </a:r>
            <a:endParaRPr sz="1200" b="1" dirty="0">
              <a:solidFill>
                <a:srgbClr val="191877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680960" y="132588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680960" y="1325880"/>
            <a:ext cx="73152" cy="1005840"/>
          </a:xfrm>
          <a:prstGeom prst="rect">
            <a:avLst/>
          </a:prstGeom>
          <a:solidFill>
            <a:srgbClr val="9CC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82128" y="1388727"/>
            <a:ext cx="3877056" cy="24006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dirty="0" err="1">
                <a:solidFill>
                  <a:srgbClr val="595959"/>
                </a:solidFill>
                <a:latin typeface="KoPubWorld돋움체 Bold"/>
                <a:ea typeface="KoPubWorld돋움체 Bold"/>
                <a:cs typeface="KoPubWorld돋움체 Bold"/>
              </a:rPr>
              <a:t>퇴직연금</a:t>
            </a:r>
            <a:r>
              <a:rPr sz="1100" b="1" dirty="0">
                <a:solidFill>
                  <a:srgbClr val="595959"/>
                </a:solidFill>
                <a:latin typeface="KoPubWorld돋움체 Bold"/>
                <a:ea typeface="KoPubWorld돋움체 Bold"/>
                <a:cs typeface="KoPubWorld돋움체 Bold"/>
              </a:rPr>
              <a:t> 20~30대 </a:t>
            </a:r>
            <a:r>
              <a:rPr sz="1100" b="1" dirty="0" smtClean="0">
                <a:solidFill>
                  <a:srgbClr val="595959"/>
                </a:solidFill>
                <a:latin typeface="KoPubWorld돋움체 Bold"/>
                <a:ea typeface="KoPubWorld돋움체 Bold"/>
                <a:cs typeface="KoPubWorld돋움체 Bold"/>
              </a:rPr>
              <a:t>(</a:t>
            </a:r>
            <a:r>
              <a:rPr lang="en-US" sz="1100" b="1" dirty="0" smtClean="0">
                <a:solidFill>
                  <a:srgbClr val="595959"/>
                </a:solidFill>
                <a:latin typeface="KoPubWorld돋움체 Bold"/>
                <a:ea typeface="KoPubWorld돋움체 Bold"/>
                <a:cs typeface="KoPubWorld돋움체 Bold"/>
              </a:rPr>
              <a:t>5</a:t>
            </a:r>
            <a:r>
              <a:rPr sz="1100" b="1" dirty="0" smtClean="0">
                <a:solidFill>
                  <a:srgbClr val="595959"/>
                </a:solidFill>
                <a:latin typeface="KoPubWorld돋움체 Bold"/>
                <a:ea typeface="KoPubWorld돋움체 Bold"/>
                <a:cs typeface="KoPubWorld돋움체 Bold"/>
              </a:rPr>
              <a:t>월</a:t>
            </a:r>
            <a:r>
              <a:rPr sz="1100" b="1" dirty="0">
                <a:solidFill>
                  <a:srgbClr val="595959"/>
                </a:solidFill>
                <a:latin typeface="KoPubWorld돋움체 Bold"/>
                <a:ea typeface="KoPubWorld돋움체 Bold"/>
                <a:cs typeface="KoPubWorld돋움체 Bold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2128" y="1607201"/>
            <a:ext cx="3877056" cy="44319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+</a:t>
            </a:r>
            <a:r>
              <a:rPr lang="en-US" sz="2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9</a:t>
            </a:r>
            <a:r>
              <a:rPr sz="2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.</a:t>
            </a:r>
            <a:r>
              <a:rPr lang="en-US" sz="2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3</a:t>
            </a:r>
            <a:r>
              <a:rPr sz="2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%</a:t>
            </a:r>
            <a:endParaRPr sz="2200" b="1" dirty="0">
              <a:solidFill>
                <a:srgbClr val="191877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882128" y="2038040"/>
            <a:ext cx="3877056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연 +</a:t>
            </a:r>
            <a:r>
              <a:rPr sz="1000" b="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16.</a:t>
            </a:r>
            <a:r>
              <a:rPr lang="en-US" sz="1000" b="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7</a:t>
            </a:r>
            <a:r>
              <a:rPr sz="1000" b="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% </a:t>
            </a:r>
            <a:r>
              <a:rPr sz="10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· </a:t>
            </a:r>
            <a:r>
              <a:rPr sz="10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샤프</a:t>
            </a:r>
            <a:r>
              <a:rPr sz="10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1.3</a:t>
            </a:r>
            <a:r>
              <a:rPr lang="en-US" sz="1000" b="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2</a:t>
            </a:r>
            <a:r>
              <a:rPr sz="1000" b="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· MDD (18.2%)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80960" y="242316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680960" y="2423160"/>
            <a:ext cx="73152" cy="1005840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82128" y="2486007"/>
            <a:ext cx="3877056" cy="24006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dirty="0" err="1">
                <a:solidFill>
                  <a:srgbClr val="595959"/>
                </a:solidFill>
                <a:latin typeface="KoPubWorld돋움체 Bold"/>
                <a:ea typeface="KoPubWorld돋움체 Bold"/>
                <a:cs typeface="KoPubWorld돋움체 Bold"/>
              </a:rPr>
              <a:t>퇴직연금</a:t>
            </a:r>
            <a:r>
              <a:rPr sz="1100" b="1" dirty="0">
                <a:solidFill>
                  <a:srgbClr val="595959"/>
                </a:solidFill>
                <a:latin typeface="KoPubWorld돋움체 Bold"/>
                <a:ea typeface="KoPubWorld돋움체 Bold"/>
                <a:cs typeface="KoPubWorld돋움체 Bold"/>
              </a:rPr>
              <a:t> 40대 </a:t>
            </a:r>
            <a:r>
              <a:rPr sz="1100" b="1" dirty="0" smtClean="0">
                <a:solidFill>
                  <a:srgbClr val="595959"/>
                </a:solidFill>
                <a:latin typeface="KoPubWorld돋움체 Bold"/>
                <a:ea typeface="KoPubWorld돋움체 Bold"/>
                <a:cs typeface="KoPubWorld돋움체 Bold"/>
              </a:rPr>
              <a:t>(</a:t>
            </a:r>
            <a:r>
              <a:rPr lang="en-US" sz="1100" b="1" dirty="0" smtClean="0">
                <a:solidFill>
                  <a:srgbClr val="595959"/>
                </a:solidFill>
                <a:latin typeface="KoPubWorld돋움체 Bold"/>
                <a:ea typeface="KoPubWorld돋움체 Bold"/>
                <a:cs typeface="KoPubWorld돋움체 Bold"/>
              </a:rPr>
              <a:t>5</a:t>
            </a:r>
            <a:r>
              <a:rPr sz="1100" b="1" dirty="0" smtClean="0">
                <a:solidFill>
                  <a:srgbClr val="595959"/>
                </a:solidFill>
                <a:latin typeface="KoPubWorld돋움체 Bold"/>
                <a:ea typeface="KoPubWorld돋움체 Bold"/>
                <a:cs typeface="KoPubWorld돋움체 Bold"/>
              </a:rPr>
              <a:t>월</a:t>
            </a:r>
            <a:r>
              <a:rPr sz="1100" b="1" dirty="0">
                <a:solidFill>
                  <a:srgbClr val="595959"/>
                </a:solidFill>
                <a:latin typeface="KoPubWorld돋움체 Bold"/>
                <a:ea typeface="KoPubWorld돋움체 Bold"/>
                <a:cs typeface="KoPubWorld돋움체 Bold"/>
              </a:rPr>
              <a:t>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82128" y="2704481"/>
            <a:ext cx="3877056" cy="44319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+</a:t>
            </a:r>
            <a:r>
              <a:rPr sz="2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4.8%</a:t>
            </a:r>
            <a:endParaRPr sz="2200" b="1" dirty="0">
              <a:solidFill>
                <a:srgbClr val="191877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882128" y="3135320"/>
            <a:ext cx="3877056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연 +</a:t>
            </a:r>
            <a:r>
              <a:rPr sz="1000" b="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14.</a:t>
            </a:r>
            <a:r>
              <a:rPr lang="en-US" sz="1000" b="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9</a:t>
            </a:r>
            <a:r>
              <a:rPr sz="1000" b="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% </a:t>
            </a:r>
            <a:r>
              <a:rPr sz="10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· </a:t>
            </a:r>
            <a:r>
              <a:rPr sz="10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샤프</a:t>
            </a:r>
            <a:r>
              <a:rPr sz="10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1.3</a:t>
            </a:r>
            <a:r>
              <a:rPr lang="en-US" sz="1000" b="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7</a:t>
            </a:r>
            <a:r>
              <a:rPr sz="1000" b="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· MDD (15.5%)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0" y="3520439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680960" y="3520439"/>
            <a:ext cx="73152" cy="1005840"/>
          </a:xfrm>
          <a:prstGeom prst="rect">
            <a:avLst/>
          </a:prstGeom>
          <a:solidFill>
            <a:srgbClr val="191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82128" y="3583286"/>
            <a:ext cx="3877056" cy="24006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dirty="0" err="1">
                <a:solidFill>
                  <a:srgbClr val="595959"/>
                </a:solidFill>
                <a:latin typeface="KoPubWorld돋움체 Bold"/>
                <a:ea typeface="KoPubWorld돋움체 Bold"/>
                <a:cs typeface="KoPubWorld돋움체 Bold"/>
              </a:rPr>
              <a:t>퇴직연금</a:t>
            </a:r>
            <a:r>
              <a:rPr sz="1100" b="1" dirty="0">
                <a:solidFill>
                  <a:srgbClr val="595959"/>
                </a:solidFill>
                <a:latin typeface="KoPubWorld돋움체 Bold"/>
                <a:ea typeface="KoPubWorld돋움체 Bold"/>
                <a:cs typeface="KoPubWorld돋움체 Bold"/>
              </a:rPr>
              <a:t> 50대 </a:t>
            </a:r>
            <a:r>
              <a:rPr sz="1100" b="1" dirty="0" smtClean="0">
                <a:solidFill>
                  <a:srgbClr val="595959"/>
                </a:solidFill>
                <a:latin typeface="KoPubWorld돋움체 Bold"/>
                <a:ea typeface="KoPubWorld돋움체 Bold"/>
                <a:cs typeface="KoPubWorld돋움체 Bold"/>
              </a:rPr>
              <a:t>(</a:t>
            </a:r>
            <a:r>
              <a:rPr lang="en-US" sz="1100" b="1" dirty="0" smtClean="0">
                <a:solidFill>
                  <a:srgbClr val="595959"/>
                </a:solidFill>
                <a:latin typeface="KoPubWorld돋움체 Bold"/>
                <a:ea typeface="KoPubWorld돋움체 Bold"/>
                <a:cs typeface="KoPubWorld돋움체 Bold"/>
              </a:rPr>
              <a:t>5</a:t>
            </a:r>
            <a:r>
              <a:rPr sz="1100" b="1" dirty="0" smtClean="0">
                <a:solidFill>
                  <a:srgbClr val="595959"/>
                </a:solidFill>
                <a:latin typeface="KoPubWorld돋움체 Bold"/>
                <a:ea typeface="KoPubWorld돋움체 Bold"/>
                <a:cs typeface="KoPubWorld돋움체 Bold"/>
              </a:rPr>
              <a:t>월</a:t>
            </a:r>
            <a:r>
              <a:rPr sz="1100" b="1" dirty="0">
                <a:solidFill>
                  <a:srgbClr val="595959"/>
                </a:solidFill>
                <a:latin typeface="KoPubWorld돋움체 Bold"/>
                <a:ea typeface="KoPubWorld돋움체 Bold"/>
                <a:cs typeface="KoPubWorld돋움체 Bold"/>
              </a:rPr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82128" y="3801760"/>
            <a:ext cx="3877056" cy="44319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+</a:t>
            </a:r>
            <a:r>
              <a:rPr sz="2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3.2%</a:t>
            </a:r>
            <a:endParaRPr sz="2200" b="1" dirty="0">
              <a:solidFill>
                <a:srgbClr val="191877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882128" y="4232599"/>
            <a:ext cx="3877056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연 +</a:t>
            </a:r>
            <a:r>
              <a:rPr sz="1000" b="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11.</a:t>
            </a:r>
            <a:r>
              <a:rPr lang="en-US" sz="1000" b="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6</a:t>
            </a:r>
            <a:r>
              <a:rPr sz="1000" b="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% </a:t>
            </a:r>
            <a:r>
              <a:rPr sz="10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· </a:t>
            </a:r>
            <a:r>
              <a:rPr sz="10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샤프</a:t>
            </a:r>
            <a:r>
              <a:rPr sz="10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1.5</a:t>
            </a:r>
            <a:r>
              <a:rPr lang="en-US" sz="1000" b="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2</a:t>
            </a:r>
            <a:r>
              <a:rPr sz="1000" b="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· MDD (10.8%)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663440"/>
            <a:ext cx="11430000" cy="2585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■ </a:t>
            </a:r>
            <a:r>
              <a:rPr sz="12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연령별</a:t>
            </a:r>
            <a:r>
              <a:rPr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2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포트폴리오</a:t>
            </a:r>
            <a:r>
              <a:rPr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2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성과</a:t>
            </a:r>
            <a:r>
              <a:rPr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(2026년 </a:t>
            </a:r>
            <a:r>
              <a:rPr lang="en-US"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5</a:t>
            </a:r>
            <a:r>
              <a:rPr lang="ko-KR" altLang="en-US"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월</a:t>
            </a:r>
            <a:r>
              <a:rPr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말 </a:t>
            </a:r>
            <a:r>
              <a:rPr sz="12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기준</a:t>
            </a:r>
            <a:r>
              <a:rPr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)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004910"/>
              </p:ext>
            </p:extLst>
          </p:nvPr>
        </p:nvGraphicFramePr>
        <p:xfrm>
          <a:off x="365760" y="4983480"/>
          <a:ext cx="11429998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5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53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53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53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884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성과</a:t>
                      </a:r>
                      <a:r>
                        <a:rPr sz="1000" b="1" dirty="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지표</a:t>
                      </a:r>
                      <a:endParaRPr sz="1000" b="1" dirty="0">
                        <a:solidFill>
                          <a:srgbClr val="FFFFFF"/>
                        </a:solidFill>
                        <a:latin typeface="KoPubWorld돋움체 Bold"/>
                        <a:ea typeface="KoPubWorld돋움체 Bold"/>
                        <a:cs typeface="KoPubWorld돋움체 Bold"/>
                      </a:endParaRP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퇴직연금 20~30대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퇴직연금 40대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퇴직연금 50대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비고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연평균 수익률(%)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16.</a:t>
                      </a:r>
                      <a:r>
                        <a:rPr lang="en-US"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7</a:t>
                      </a:r>
                      <a:endParaRPr sz="1000" dirty="0">
                        <a:solidFill>
                          <a:srgbClr val="1A1A1A"/>
                        </a:solidFill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14.</a:t>
                      </a:r>
                      <a:r>
                        <a:rPr lang="en-US"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9</a:t>
                      </a:r>
                      <a:endParaRPr sz="1000" dirty="0">
                        <a:solidFill>
                          <a:srgbClr val="1A1A1A"/>
                        </a:solidFill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11.</a:t>
                      </a:r>
                      <a:r>
                        <a:rPr lang="en-US"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6</a:t>
                      </a:r>
                      <a:endParaRPr sz="1000" dirty="0">
                        <a:solidFill>
                          <a:srgbClr val="1A1A1A"/>
                        </a:solidFill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장기 백테스트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표준편차(%)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12.</a:t>
                      </a:r>
                      <a:r>
                        <a:rPr lang="en-US"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7</a:t>
                      </a:r>
                      <a:endParaRPr sz="1000" dirty="0">
                        <a:solidFill>
                          <a:srgbClr val="1A1A1A"/>
                        </a:solidFill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10.</a:t>
                      </a:r>
                      <a:r>
                        <a:rPr lang="en-US"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8</a:t>
                      </a:r>
                      <a:endParaRPr sz="1000" dirty="0">
                        <a:solidFill>
                          <a:srgbClr val="1A1A1A"/>
                        </a:solidFill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7.</a:t>
                      </a:r>
                      <a:r>
                        <a:rPr lang="en-US"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6</a:t>
                      </a:r>
                      <a:endParaRPr sz="1000" dirty="0">
                        <a:solidFill>
                          <a:srgbClr val="1A1A1A"/>
                        </a:solidFill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변동성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샤프비율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1.3</a:t>
                      </a:r>
                      <a:r>
                        <a:rPr lang="en-US"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</a:t>
                      </a:r>
                      <a:endParaRPr sz="1000" dirty="0">
                        <a:solidFill>
                          <a:srgbClr val="1A1A1A"/>
                        </a:solidFill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1.3</a:t>
                      </a:r>
                      <a:r>
                        <a:rPr lang="en-US"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7</a:t>
                      </a:r>
                      <a:endParaRPr sz="1000" dirty="0">
                        <a:solidFill>
                          <a:srgbClr val="1A1A1A"/>
                        </a:solidFill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1.5</a:t>
                      </a:r>
                      <a:r>
                        <a:rPr lang="en-US"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</a:t>
                      </a:r>
                      <a:endParaRPr sz="1000" dirty="0">
                        <a:solidFill>
                          <a:srgbClr val="1A1A1A"/>
                        </a:solidFill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위험조정 수익률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MDD(%) / 회복(년)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(18.2) / 0.2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(15.5) / 0.2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(10.8) / 0.2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MDD시점 2020.03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1M / 3M / 6M (%)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+</a:t>
                      </a:r>
                      <a:r>
                        <a:rPr lang="en-US"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9</a:t>
                      </a:r>
                      <a:r>
                        <a:rPr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.</a:t>
                      </a:r>
                      <a:r>
                        <a:rPr lang="en-US"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3</a:t>
                      </a:r>
                      <a:r>
                        <a:rPr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/ +</a:t>
                      </a:r>
                      <a:r>
                        <a:rPr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</a:t>
                      </a:r>
                      <a:r>
                        <a:rPr lang="en-US"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3</a:t>
                      </a:r>
                      <a:r>
                        <a:rPr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.</a:t>
                      </a:r>
                      <a:r>
                        <a:rPr lang="en-US"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8</a:t>
                      </a:r>
                      <a:r>
                        <a:rPr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/ +</a:t>
                      </a:r>
                      <a:r>
                        <a:rPr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</a:t>
                      </a:r>
                      <a:r>
                        <a:rPr lang="en-US"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9.5</a:t>
                      </a:r>
                      <a:endParaRPr sz="1000" dirty="0">
                        <a:solidFill>
                          <a:srgbClr val="1A1A1A"/>
                        </a:solidFill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+</a:t>
                      </a:r>
                      <a:r>
                        <a:rPr lang="en-US"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7</a:t>
                      </a:r>
                      <a:r>
                        <a:rPr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.8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/ </a:t>
                      </a:r>
                      <a:r>
                        <a:rPr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+</a:t>
                      </a:r>
                      <a:r>
                        <a:rPr lang="en-US"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11.5</a:t>
                      </a:r>
                      <a:r>
                        <a:rPr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/ </a:t>
                      </a:r>
                      <a:r>
                        <a:rPr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+</a:t>
                      </a:r>
                      <a:r>
                        <a:rPr lang="en-US"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25</a:t>
                      </a:r>
                      <a:r>
                        <a:rPr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.</a:t>
                      </a:r>
                      <a:r>
                        <a:rPr lang="en-US"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0</a:t>
                      </a:r>
                      <a:endParaRPr sz="1000" dirty="0">
                        <a:solidFill>
                          <a:srgbClr val="1A1A1A"/>
                        </a:solidFill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+</a:t>
                      </a:r>
                      <a:r>
                        <a:rPr lang="en-US"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5</a:t>
                      </a:r>
                      <a:r>
                        <a:rPr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.</a:t>
                      </a:r>
                      <a:r>
                        <a:rPr lang="en-US"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</a:t>
                      </a:r>
                      <a:r>
                        <a:rPr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/ </a:t>
                      </a:r>
                      <a:r>
                        <a:rPr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+</a:t>
                      </a:r>
                      <a:r>
                        <a:rPr lang="en-US"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7</a:t>
                      </a:r>
                      <a:r>
                        <a:rPr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.</a:t>
                      </a:r>
                      <a:r>
                        <a:rPr lang="en-US"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7</a:t>
                      </a:r>
                      <a:r>
                        <a:rPr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/ +</a:t>
                      </a:r>
                      <a:r>
                        <a:rPr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</a:t>
                      </a:r>
                      <a:r>
                        <a:rPr lang="en-US"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7</a:t>
                      </a:r>
                      <a:r>
                        <a:rPr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.</a:t>
                      </a:r>
                      <a:r>
                        <a:rPr lang="en-US"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3</a:t>
                      </a:r>
                      <a:endParaRPr sz="1000" dirty="0">
                        <a:solidFill>
                          <a:srgbClr val="1A1A1A"/>
                        </a:solidFill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5</a:t>
                      </a:r>
                      <a:r>
                        <a:rPr lang="ko-KR" altLang="en-US"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월</a:t>
                      </a:r>
                      <a:r>
                        <a:rPr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 </a:t>
                      </a:r>
                      <a:r>
                        <a:rPr sz="1000" dirty="0" err="1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실적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 </a:t>
                      </a:r>
                      <a:r>
                        <a:rPr sz="1000" dirty="0" err="1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기준</a:t>
                      </a:r>
                      <a:endParaRPr sz="1000" dirty="0">
                        <a:solidFill>
                          <a:srgbClr val="1A1A1A"/>
                        </a:solidFill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5760" y="6517885"/>
            <a:ext cx="11430000" cy="3693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>
              <a:lnSpc>
                <a:spcPct val="120000"/>
              </a:lnSpc>
            </a:pP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정보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제공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목적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투자권유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자료가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아닙니다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보수차감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전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예상수익률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(gross of fees)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가정</a:t>
            </a:r>
            <a:r>
              <a:rPr sz="900" b="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endParaRPr lang="en-US" altLang="ko-KR" sz="900" dirty="0" smtClean="0">
              <a:solidFill>
                <a:srgbClr val="8C8C8C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>
              <a:lnSpc>
                <a:spcPct val="120000"/>
              </a:lnSpc>
            </a:pP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 </a:t>
            </a:r>
            <a:r>
              <a:rPr lang="ko-KR" altLang="en-US" sz="90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상기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내용은 시장 상황 및 운용 전략에 따라 집합투자업자의 판단으로 변경될 수 있으며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투자 참고 자료로 과거 </a:t>
            </a:r>
            <a:r>
              <a:rPr lang="ko-KR" altLang="en-US" sz="90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실적이나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전망이 미래 수익을 보장하지 </a:t>
            </a:r>
            <a:r>
              <a:rPr lang="ko-KR" altLang="en-US" sz="90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않고 그 정확성</a:t>
            </a:r>
            <a:r>
              <a:rPr lang="en-US" altLang="ko-KR" sz="90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lang="ko-KR" altLang="en-US" sz="90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및 완전성을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보장하지 않습니다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</a:t>
            </a:r>
            <a:endParaRPr sz="900" b="0" dirty="0">
              <a:solidFill>
                <a:srgbClr val="8C8C8C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op-menu-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772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77724"/>
            <a:ext cx="12191695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kcgi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15087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20240" y="164592"/>
            <a:ext cx="731520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보수적 여유자금 포트폴리오 — 멀티에셋 자산배분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548640"/>
            <a:ext cx="731520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위험자산 70% + 안전자산 30% 자산배분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0" y="457200"/>
            <a:ext cx="2011680" cy="45720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0" y="182880"/>
            <a:ext cx="201168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KCGI 자산운용 | 뉴스핌 월간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561106"/>
            <a:ext cx="2011680" cy="2585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2026.0</a:t>
            </a:r>
            <a:r>
              <a:rPr lang="en-US"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6</a:t>
            </a:r>
            <a:r>
              <a:rPr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 </a:t>
            </a:r>
            <a:r>
              <a:rPr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·  </a:t>
            </a:r>
            <a:r>
              <a:rPr lang="en-US"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5</a:t>
            </a:r>
            <a:r>
              <a:rPr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/14</a:t>
            </a:r>
            <a:endParaRPr sz="1200" b="1" dirty="0">
              <a:solidFill>
                <a:srgbClr val="191877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960120"/>
            <a:ext cx="11430000" cy="24006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■ </a:t>
            </a:r>
            <a:r>
              <a:rPr sz="11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다양한</a:t>
            </a:r>
            <a:r>
              <a:rPr sz="11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1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자산</a:t>
            </a:r>
            <a:r>
              <a:rPr sz="11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1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분산투자로</a:t>
            </a:r>
            <a:r>
              <a:rPr sz="11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1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변동성을</a:t>
            </a:r>
            <a:r>
              <a:rPr sz="11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1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낮추고</a:t>
            </a:r>
            <a:r>
              <a:rPr sz="11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1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위험</a:t>
            </a:r>
            <a:r>
              <a:rPr sz="11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1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대비</a:t>
            </a:r>
            <a:r>
              <a:rPr sz="11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1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높은</a:t>
            </a:r>
            <a:r>
              <a:rPr sz="11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1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수익률</a:t>
            </a:r>
            <a:r>
              <a:rPr sz="11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100" b="1" dirty="0" err="1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추구</a:t>
            </a:r>
            <a:endParaRPr sz="1100" b="1" dirty="0">
              <a:solidFill>
                <a:srgbClr val="191877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pic>
        <p:nvPicPr>
          <p:cNvPr id="11" name="Picture 10" descr="chart_conservat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325880"/>
            <a:ext cx="7132320" cy="31089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680960" y="132588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680960" y="1325880"/>
            <a:ext cx="73152" cy="1005840"/>
          </a:xfrm>
          <a:prstGeom prst="rect">
            <a:avLst/>
          </a:prstGeom>
          <a:solidFill>
            <a:srgbClr val="9CC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82128" y="1380744"/>
            <a:ext cx="3877056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595959"/>
                </a:solidFill>
                <a:latin typeface="KoPubWorld돋움체 Bold"/>
                <a:ea typeface="KoPubWorld돋움체 Bold"/>
                <a:cs typeface="KoPubWorld돋움체 Bold"/>
              </a:rPr>
              <a:t>보수적 여유자금 4월 수익률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2128" y="1588735"/>
            <a:ext cx="3877056" cy="480131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+</a:t>
            </a:r>
            <a:r>
              <a:rPr sz="24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6.</a:t>
            </a:r>
            <a:r>
              <a:rPr lang="en-US" sz="24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3</a:t>
            </a:r>
            <a:r>
              <a:rPr sz="24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%</a:t>
            </a:r>
            <a:endParaRPr sz="2400" b="1" dirty="0">
              <a:solidFill>
                <a:srgbClr val="191877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882128" y="2038040"/>
            <a:ext cx="3877056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3월 -</a:t>
            </a:r>
            <a:r>
              <a:rPr sz="1000" b="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8.</a:t>
            </a:r>
            <a:r>
              <a:rPr lang="en-US" sz="1000" b="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1</a:t>
            </a:r>
            <a:r>
              <a:rPr sz="1000" b="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%</a:t>
            </a:r>
            <a:r>
              <a:rPr sz="10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에서 </a:t>
            </a:r>
            <a:r>
              <a:rPr sz="10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회복</a:t>
            </a:r>
            <a:endParaRPr sz="1000" b="0" dirty="0">
              <a:solidFill>
                <a:srgbClr val="8C8C8C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680960" y="2423160"/>
            <a:ext cx="19659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680960" y="2423160"/>
            <a:ext cx="73152" cy="1005840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82128" y="2478024"/>
            <a:ext cx="1728216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595959"/>
                </a:solidFill>
                <a:latin typeface="KoPubWorld돋움체 Bold"/>
                <a:ea typeface="KoPubWorld돋움체 Bold"/>
                <a:cs typeface="KoPubWorld돋움체 Bold"/>
              </a:rPr>
              <a:t>연 수익률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8" y="2734056"/>
            <a:ext cx="1728216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10.1%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82128" y="3118104"/>
            <a:ext cx="1728216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BM 9% 대비 +1.1%p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29800" y="2423160"/>
            <a:ext cx="19659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829800" y="2423160"/>
            <a:ext cx="73152" cy="1005840"/>
          </a:xfrm>
          <a:prstGeom prst="rect">
            <a:avLst/>
          </a:prstGeom>
          <a:solidFill>
            <a:srgbClr val="191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30968" y="2478024"/>
            <a:ext cx="1728216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595959"/>
                </a:solidFill>
                <a:latin typeface="KoPubWorld돋움체 Bold"/>
                <a:ea typeface="KoPubWorld돋움체 Bold"/>
                <a:cs typeface="KoPubWorld돋움체 Bold"/>
              </a:rPr>
              <a:t>샤프비율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30968" y="2734056"/>
            <a:ext cx="1728216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1.00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30968" y="3118104"/>
            <a:ext cx="1728216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BM 0.90 대비 우위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0" y="352044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680960" y="3520440"/>
            <a:ext cx="73152" cy="10058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82128" y="3575304"/>
            <a:ext cx="3877056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595959"/>
                </a:solidFill>
                <a:latin typeface="KoPubWorld돋움체 Bold"/>
                <a:ea typeface="KoPubWorld돋움체 Bold"/>
                <a:cs typeface="KoPubWorld돋움체 Bold"/>
              </a:rPr>
              <a:t>MDD / 회복기간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82128" y="3831336"/>
            <a:ext cx="3877056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(24.7%) / 3.8년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82128" y="4215384"/>
            <a:ext cx="3877056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MDD시점 2009.05 (글로벌 금융위기)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4663440"/>
            <a:ext cx="114300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■ 포트폴리오 vs 벤치마크 주요 성과 지표 (2002.11~2026.04)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0442746"/>
              </p:ext>
            </p:extLst>
          </p:nvPr>
        </p:nvGraphicFramePr>
        <p:xfrm>
          <a:off x="365760" y="4983480"/>
          <a:ext cx="114300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62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지표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포트폴리오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벤치마크 (ACWI 70% + AGG 30%)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초과</a:t>
                      </a:r>
                      <a:r>
                        <a:rPr sz="1000" b="1" dirty="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수익률</a:t>
                      </a:r>
                      <a:endParaRPr sz="1000" b="1" dirty="0">
                        <a:solidFill>
                          <a:srgbClr val="FFFFFF"/>
                        </a:solidFill>
                        <a:latin typeface="KoPubWorld돋움체 Bold"/>
                        <a:ea typeface="KoPubWorld돋움체 Bold"/>
                        <a:cs typeface="KoPubWorld돋움체 Bold"/>
                      </a:endParaRP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연 수익률(%)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10.1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9.</a:t>
                      </a:r>
                      <a:r>
                        <a:rPr lang="en-US" sz="11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</a:t>
                      </a:r>
                      <a:endParaRPr sz="1100" dirty="0">
                        <a:solidFill>
                          <a:srgbClr val="1A1A1A"/>
                        </a:solidFill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+</a:t>
                      </a:r>
                      <a:r>
                        <a:rPr sz="1100" b="1" dirty="0" smtClean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1.</a:t>
                      </a:r>
                      <a:r>
                        <a:rPr lang="en-US" sz="1100" b="1" dirty="0" smtClean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0</a:t>
                      </a:r>
                      <a:endParaRPr sz="1100" b="1" dirty="0">
                        <a:solidFill>
                          <a:schemeClr val="tx1"/>
                        </a:solidFill>
                        <a:latin typeface="KoPubWorld돋움체 Bold"/>
                        <a:ea typeface="KoPubWorld돋움체 Bold"/>
                        <a:cs typeface="KoPubWorld돋움체 Bold"/>
                      </a:endParaRP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월 </a:t>
                      </a:r>
                      <a:r>
                        <a:rPr sz="1100" b="1" dirty="0" err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수익</a:t>
                      </a:r>
                      <a:r>
                        <a:rPr sz="1100" b="1" dirty="0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확률</a:t>
                      </a:r>
                      <a:r>
                        <a:rPr sz="1100" b="1" dirty="0" smtClean="0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(</a:t>
                      </a:r>
                      <a:r>
                        <a:rPr lang="en-US" sz="1100" b="1" dirty="0" smtClean="0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Hit ratio, </a:t>
                      </a:r>
                      <a:r>
                        <a:rPr sz="1100" b="1" dirty="0" smtClean="0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%)</a:t>
                      </a:r>
                      <a:endParaRPr sz="1100" b="1" dirty="0">
                        <a:solidFill>
                          <a:srgbClr val="1A1A1A"/>
                        </a:solidFill>
                        <a:latin typeface="KoPubWorld돋움체 Bold"/>
                        <a:ea typeface="KoPubWorld돋움체 Bold"/>
                        <a:cs typeface="KoPubWorld돋움체 Bold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+5%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연 변동성(%)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10.1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9.9</a:t>
                      </a:r>
                      <a:endParaRPr sz="1100" dirty="0">
                        <a:solidFill>
                          <a:srgbClr val="1A1A1A"/>
                        </a:solidFill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+</a:t>
                      </a:r>
                      <a:r>
                        <a:rPr sz="1100" b="1" dirty="0" smtClean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0.</a:t>
                      </a:r>
                      <a:r>
                        <a:rPr lang="en-US" sz="1100" b="1" dirty="0" smtClean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2</a:t>
                      </a:r>
                      <a:endParaRPr sz="1100" b="1" dirty="0">
                        <a:solidFill>
                          <a:schemeClr val="tx1"/>
                        </a:solidFill>
                        <a:latin typeface="KoPubWorld돋움체 Bold"/>
                        <a:ea typeface="KoPubWorld돋움체 Bold"/>
                        <a:cs typeface="KoPubWorld돋움체 Bold"/>
                      </a:endParaRP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샤프비율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0.9</a:t>
                      </a:r>
                      <a:r>
                        <a:rPr lang="en-US" sz="11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</a:t>
                      </a:r>
                      <a:endParaRPr sz="1100" dirty="0">
                        <a:solidFill>
                          <a:srgbClr val="1A1A1A"/>
                        </a:solidFill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+</a:t>
                      </a:r>
                      <a:r>
                        <a:rPr sz="1100" b="1" dirty="0" smtClean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0.</a:t>
                      </a:r>
                      <a:r>
                        <a:rPr lang="en-US" sz="1100" b="1" dirty="0" smtClean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08</a:t>
                      </a:r>
                      <a:endParaRPr sz="1100" b="1" dirty="0">
                        <a:solidFill>
                          <a:schemeClr val="tx1"/>
                        </a:solidFill>
                        <a:latin typeface="KoPubWorld돋움체 Bold"/>
                        <a:ea typeface="KoPubWorld돋움체 Bold"/>
                        <a:cs typeface="KoPubWorld돋움체 Bold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5760" y="6517886"/>
            <a:ext cx="11430000" cy="3693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정보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제공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목적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투자권유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자료가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아닙니다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보수차감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전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예상수익률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(gross of fees)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가정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  <a:endParaRPr lang="en-US" sz="900" b="0" dirty="0" smtClean="0">
              <a:solidFill>
                <a:srgbClr val="8C8C8C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20000"/>
              </a:lnSpc>
            </a:pPr>
            <a:r>
              <a:rPr lang="en-US" altLang="ko-KR" sz="90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상기 내용은 시장 상황 및 운용 전략에 따라 집합투자업자의 판단으로 변경될 수 있으며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투자 참고 자료로 과거 실적이나 전망이 미래 수익을 보장하지 않고 그 정확성 및 완전성을 보장하지 않습니다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</a:t>
            </a:r>
            <a:endParaRPr lang="ko-KR" altLang="en-US" sz="900" dirty="0">
              <a:solidFill>
                <a:srgbClr val="8C8C8C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op-menu-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772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77724"/>
            <a:ext cx="12191695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kcgi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15087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20240" y="164592"/>
            <a:ext cx="731520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적극적</a:t>
            </a:r>
            <a:r>
              <a:rPr sz="18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8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여유자금</a:t>
            </a:r>
            <a:r>
              <a:rPr sz="18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8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포트폴리오</a:t>
            </a:r>
            <a:r>
              <a:rPr sz="18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— </a:t>
            </a:r>
            <a:r>
              <a:rPr sz="18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듀얼</a:t>
            </a:r>
            <a:r>
              <a:rPr sz="18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8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모멘텀</a:t>
            </a:r>
            <a:r>
              <a:rPr sz="18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8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전략</a:t>
            </a:r>
            <a:endParaRPr sz="1800" b="1" dirty="0">
              <a:solidFill>
                <a:srgbClr val="191877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20240" y="548640"/>
            <a:ext cx="731520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미국</a:t>
            </a:r>
            <a:r>
              <a:rPr sz="13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ETF 60개 중 6M </a:t>
            </a:r>
            <a:r>
              <a:rPr sz="13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절대</a:t>
            </a:r>
            <a:r>
              <a:rPr sz="13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+ 10M </a:t>
            </a:r>
            <a:r>
              <a:rPr sz="13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상대</a:t>
            </a:r>
            <a:r>
              <a:rPr sz="13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3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모멘텀</a:t>
            </a:r>
            <a:r>
              <a:rPr sz="13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3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상위</a:t>
            </a:r>
            <a:r>
              <a:rPr sz="13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3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균등</a:t>
            </a:r>
            <a:r>
              <a:rPr sz="13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3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가중</a:t>
            </a:r>
            <a:endParaRPr sz="1300" b="0" dirty="0">
              <a:solidFill>
                <a:srgbClr val="595959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058400" y="457200"/>
            <a:ext cx="2011680" cy="45720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0" y="182880"/>
            <a:ext cx="201168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KCGI 자산운용 | 뉴스핌 월간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561106"/>
            <a:ext cx="2011680" cy="2585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2026.0</a:t>
            </a:r>
            <a:r>
              <a:rPr lang="en-US"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6</a:t>
            </a:r>
            <a:r>
              <a:rPr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 </a:t>
            </a:r>
            <a:r>
              <a:rPr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·  6/14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960120"/>
            <a:ext cx="11430000" cy="2585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■ </a:t>
            </a:r>
            <a:r>
              <a:rPr sz="12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시장</a:t>
            </a:r>
            <a:r>
              <a:rPr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2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흐름</a:t>
            </a:r>
            <a:r>
              <a:rPr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2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추격</a:t>
            </a:r>
            <a:r>
              <a:rPr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— </a:t>
            </a:r>
            <a:r>
              <a:rPr lang="ko-KR" altLang="en-US"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시장 </a:t>
            </a:r>
            <a:r>
              <a:rPr lang="ko-KR" altLang="en-US" sz="12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상승시</a:t>
            </a:r>
            <a:r>
              <a:rPr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2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수익률</a:t>
            </a:r>
            <a:r>
              <a:rPr lang="en-US"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lang="ko-KR" altLang="en-US"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확보</a:t>
            </a:r>
            <a:r>
              <a:rPr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+ </a:t>
            </a:r>
            <a:r>
              <a:rPr sz="12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하락</a:t>
            </a:r>
            <a:r>
              <a:rPr lang="ko-KR" altLang="en-US"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시</a:t>
            </a:r>
            <a:r>
              <a:rPr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2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최대손실폭</a:t>
            </a:r>
            <a:r>
              <a:rPr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2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개선</a:t>
            </a:r>
            <a:endParaRPr sz="1200" b="1" dirty="0">
              <a:solidFill>
                <a:srgbClr val="191877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pic>
        <p:nvPicPr>
          <p:cNvPr id="11" name="Picture 10" descr="chart_aggress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325880"/>
            <a:ext cx="7132320" cy="31089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680960" y="1325880"/>
            <a:ext cx="4114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680960" y="1325880"/>
            <a:ext cx="73152" cy="868680"/>
          </a:xfrm>
          <a:prstGeom prst="rect">
            <a:avLst/>
          </a:prstGeom>
          <a:solidFill>
            <a:srgbClr val="9CC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82128" y="1380744"/>
            <a:ext cx="3877056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595959"/>
                </a:solidFill>
                <a:latin typeface="KoPubWorld돋움체 Bold"/>
                <a:ea typeface="KoPubWorld돋움체 Bold"/>
                <a:cs typeface="KoPubWorld돋움체 Bold"/>
              </a:rPr>
              <a:t>적극적 여유자금 4월 수익률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2128" y="1520155"/>
            <a:ext cx="3877056" cy="480131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+</a:t>
            </a:r>
            <a:r>
              <a:rPr sz="24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8.</a:t>
            </a:r>
            <a:r>
              <a:rPr lang="en-US" sz="24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1</a:t>
            </a:r>
            <a:r>
              <a:rPr sz="24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%</a:t>
            </a:r>
            <a:endParaRPr sz="2400" b="1" dirty="0">
              <a:solidFill>
                <a:srgbClr val="191877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882128" y="1900880"/>
            <a:ext cx="3877056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3월 -</a:t>
            </a:r>
            <a:r>
              <a:rPr sz="1000" b="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8.9%</a:t>
            </a:r>
            <a:r>
              <a:rPr sz="10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에서 </a:t>
            </a:r>
            <a:r>
              <a:rPr sz="10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회복</a:t>
            </a:r>
            <a:r>
              <a:rPr sz="10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(</a:t>
            </a:r>
            <a:r>
              <a:rPr sz="10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V자</a:t>
            </a:r>
            <a:r>
              <a:rPr sz="10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0" y="2331720"/>
            <a:ext cx="1965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680960" y="2331720"/>
            <a:ext cx="73152" cy="914400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82128" y="2386584"/>
            <a:ext cx="1728216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595959"/>
                </a:solidFill>
                <a:latin typeface="KoPubWorld돋움체 Bold"/>
                <a:ea typeface="KoPubWorld돋움체 Bold"/>
                <a:cs typeface="KoPubWorld돋움체 Bold"/>
              </a:rPr>
              <a:t>연 수익률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8" y="2642616"/>
            <a:ext cx="1728216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13.1%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82128" y="2935224"/>
            <a:ext cx="1728216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BM 8% 대비 +5.1%p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29800" y="2331720"/>
            <a:ext cx="1965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829800" y="2331720"/>
            <a:ext cx="73152" cy="914400"/>
          </a:xfrm>
          <a:prstGeom prst="rect">
            <a:avLst/>
          </a:prstGeom>
          <a:solidFill>
            <a:srgbClr val="191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30968" y="2386584"/>
            <a:ext cx="1728216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595959"/>
                </a:solidFill>
                <a:latin typeface="KoPubWorld돋움체 Bold"/>
                <a:ea typeface="KoPubWorld돋움체 Bold"/>
                <a:cs typeface="KoPubWorld돋움체 Bold"/>
              </a:rPr>
              <a:t>샤프비율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30968" y="2642616"/>
            <a:ext cx="1728216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0.97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30968" y="2935224"/>
            <a:ext cx="1728216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BM 0.74 대비 우위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0" y="333756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680960" y="3337560"/>
            <a:ext cx="73152" cy="10972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82128" y="3392424"/>
            <a:ext cx="3877056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595959"/>
                </a:solidFill>
                <a:latin typeface="KoPubWorld돋움체 Bold"/>
                <a:ea typeface="KoPubWorld돋움체 Bold"/>
                <a:cs typeface="KoPubWorld돋움체 Bold"/>
              </a:rPr>
              <a:t>MDD / 회복기간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82128" y="3648456"/>
            <a:ext cx="3877056" cy="4754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(17.6%) / 1.2년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82128" y="4123944"/>
            <a:ext cx="3877056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MDD시점 2019.05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4572000"/>
            <a:ext cx="114300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■ 포트폴리오 vs 벤치마크 주요 성과 지표 (2013.01~2026.04)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2116360"/>
              </p:ext>
            </p:extLst>
          </p:nvPr>
        </p:nvGraphicFramePr>
        <p:xfrm>
          <a:off x="365760" y="4983480"/>
          <a:ext cx="11430000" cy="102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62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지표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포트폴리오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벤치마크 (MSCI ACWI)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초과 수익률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연 수익률(%)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13.1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8.</a:t>
                      </a:r>
                      <a:r>
                        <a:rPr lang="en-US" sz="11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6</a:t>
                      </a:r>
                      <a:endParaRPr sz="1100" dirty="0">
                        <a:solidFill>
                          <a:srgbClr val="1A1A1A"/>
                        </a:solidFill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smtClean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+</a:t>
                      </a:r>
                      <a:r>
                        <a:rPr lang="en-US" sz="1100" b="1" dirty="0" smtClean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4.6</a:t>
                      </a:r>
                      <a:endParaRPr sz="1100" b="1" dirty="0">
                        <a:solidFill>
                          <a:schemeClr val="tx1"/>
                        </a:solidFill>
                        <a:latin typeface="KoPubWorld돋움체 Bold"/>
                        <a:ea typeface="KoPubWorld돋움체 Bold"/>
                        <a:cs typeface="KoPubWorld돋움체 Bold"/>
                      </a:endParaRP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샤프비율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0.97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0.</a:t>
                      </a:r>
                      <a:r>
                        <a:rPr lang="en-US" sz="11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61</a:t>
                      </a:r>
                      <a:endParaRPr sz="1100" dirty="0">
                        <a:solidFill>
                          <a:srgbClr val="1A1A1A"/>
                        </a:solidFill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+</a:t>
                      </a:r>
                      <a:r>
                        <a:rPr sz="1100" b="1" dirty="0" smtClean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0.</a:t>
                      </a:r>
                      <a:r>
                        <a:rPr lang="en-US" sz="1100" b="1" dirty="0" smtClean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36</a:t>
                      </a:r>
                      <a:endParaRPr sz="1100" b="1" dirty="0">
                        <a:solidFill>
                          <a:schemeClr val="tx1"/>
                        </a:solidFill>
                        <a:latin typeface="KoPubWorld돋움체 Bold"/>
                        <a:ea typeface="KoPubWorld돋움체 Bold"/>
                        <a:cs typeface="KoPubWorld돋움체 Bold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1M / 3M / 6M (%)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+8.1 / +1.0 / +6.4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+9.5 / +</a:t>
                      </a:r>
                      <a:r>
                        <a:rPr lang="en-US" sz="11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</a:t>
                      </a:r>
                      <a:r>
                        <a:rPr sz="11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.</a:t>
                      </a:r>
                      <a:r>
                        <a:rPr lang="en-US" sz="11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0</a:t>
                      </a:r>
                      <a:r>
                        <a:rPr sz="11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 / +</a:t>
                      </a:r>
                      <a:r>
                        <a:rPr lang="en-US" sz="11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3.9</a:t>
                      </a:r>
                      <a:endParaRPr sz="1100" dirty="0">
                        <a:solidFill>
                          <a:srgbClr val="1A1A1A"/>
                        </a:solidFill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00" dirty="0">
                        <a:solidFill>
                          <a:srgbClr val="1A1A1A"/>
                        </a:solidFill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5760" y="6517886"/>
            <a:ext cx="11430000" cy="3693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정보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제공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목적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투자권유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자료가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아닙니다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보수차감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전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예상수익률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(gross of fees)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가정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  <a:endParaRPr lang="en-US" sz="900" b="0" dirty="0" smtClean="0">
              <a:solidFill>
                <a:srgbClr val="8C8C8C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20000"/>
              </a:lnSpc>
            </a:pPr>
            <a:r>
              <a:rPr lang="en-US" altLang="ko-KR" sz="90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상기 내용은 시장 상황 및 운용 전략에 따라 집합투자업자의 판단으로 변경될 수 있으며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투자 참고 자료로 과거 실적이나 전망이 미래 수익을 보장하지 않고 그 정확성 및 완전성을 보장하지 않습니다</a:t>
            </a:r>
            <a:r>
              <a:rPr lang="en-US" altLang="ko-KR" sz="90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</a:t>
            </a:r>
            <a:endParaRPr lang="ko-KR" altLang="en-US" sz="900" dirty="0">
              <a:solidFill>
                <a:srgbClr val="8C8C8C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439" y="4849802"/>
            <a:ext cx="7011081" cy="1957260"/>
          </a:xfrm>
          <a:prstGeom prst="rect">
            <a:avLst/>
          </a:prstGeom>
        </p:spPr>
      </p:pic>
      <p:pic>
        <p:nvPicPr>
          <p:cNvPr id="2" name="Picture 1" descr="top-menu-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7772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77724"/>
            <a:ext cx="12191695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kcgi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82880"/>
            <a:ext cx="15087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20240" y="164592"/>
            <a:ext cx="731520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적극적 여유자금 월간 변화 — 26년 3월말 → 4월말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570160"/>
            <a:ext cx="7315200" cy="2769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300" b="0" dirty="0" smtClean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CSI300, VIS </a:t>
            </a:r>
            <a:r>
              <a:rPr lang="ko-KR" altLang="en-US" sz="1300" b="0" dirty="0" err="1" smtClean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산업재</a:t>
            </a:r>
            <a:r>
              <a:rPr sz="1300" b="0" dirty="0" smtClean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3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편출</a:t>
            </a:r>
            <a:r>
              <a:rPr sz="13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/ </a:t>
            </a:r>
            <a:r>
              <a:rPr lang="ko-KR" altLang="en-US" sz="1300" b="0" dirty="0" smtClean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일본 신규 편입</a:t>
            </a:r>
            <a:endParaRPr sz="1300" b="0" dirty="0">
              <a:solidFill>
                <a:srgbClr val="595959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058400" y="457200"/>
            <a:ext cx="2011680" cy="45720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0" y="182880"/>
            <a:ext cx="201168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KCGI 자산운용 | 뉴스핌 월간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561106"/>
            <a:ext cx="2011680" cy="2585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2026.0</a:t>
            </a:r>
            <a:r>
              <a:rPr lang="en-US"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6</a:t>
            </a:r>
            <a:r>
              <a:rPr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 </a:t>
            </a:r>
            <a:r>
              <a:rPr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·  7/14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097280"/>
            <a:ext cx="128016" cy="128016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914400"/>
            <a:ext cx="713232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포트폴리오 주요 변화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371600"/>
            <a:ext cx="7132320" cy="31577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■ QQQ(나스닥100) + XLK(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기술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ETF)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신규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편입</a:t>
            </a:r>
            <a:endParaRPr sz="12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30000"/>
              </a:lnSpc>
            </a:pP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   -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빅테크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1Q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실적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호조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+ AI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반도체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수요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지속</a:t>
            </a:r>
            <a:endParaRPr sz="12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30000"/>
              </a:lnSpc>
            </a:pP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   - SOXX 4월 +40%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단일월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신고치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(2001년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이후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)</a:t>
            </a:r>
          </a:p>
          <a:p>
            <a:pPr algn="l">
              <a:lnSpc>
                <a:spcPct val="130000"/>
              </a:lnSpc>
            </a:pP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   - NVDA </a:t>
            </a:r>
            <a:r>
              <a:rPr sz="12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+</a:t>
            </a:r>
            <a:r>
              <a:rPr lang="en-US" sz="12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14</a:t>
            </a:r>
            <a:r>
              <a:rPr sz="12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% 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/ MU </a:t>
            </a:r>
            <a:r>
              <a:rPr sz="12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+</a:t>
            </a:r>
            <a:r>
              <a:rPr lang="en-US" sz="12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53</a:t>
            </a:r>
            <a:r>
              <a:rPr sz="12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% 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/ AMD +74%</a:t>
            </a:r>
          </a:p>
          <a:p>
            <a:pPr algn="l">
              <a:lnSpc>
                <a:spcPct val="130000"/>
              </a:lnSpc>
            </a:pP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   -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방산에서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AI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성장주로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흐름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전환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포착</a:t>
            </a:r>
            <a:endParaRPr sz="12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30000"/>
              </a:lnSpc>
            </a:pPr>
            <a:endParaRPr sz="12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30000"/>
              </a:lnSpc>
            </a:pP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■ ITA(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방산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)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편출</a:t>
            </a:r>
            <a:endParaRPr sz="12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30000"/>
              </a:lnSpc>
            </a:pP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   -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단기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상승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후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흐름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약화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(10개월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순위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17위 → 26위)</a:t>
            </a:r>
          </a:p>
          <a:p>
            <a:pPr algn="l">
              <a:lnSpc>
                <a:spcPct val="130000"/>
              </a:lnSpc>
            </a:pP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   -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중동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리스크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가격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반영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→ AI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기술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자금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회전</a:t>
            </a:r>
            <a:endParaRPr sz="12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30000"/>
              </a:lnSpc>
            </a:pPr>
            <a:endParaRPr sz="12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30000"/>
              </a:lnSpc>
            </a:pP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■ DBC(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원자재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)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비중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유지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(3월부터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보유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)</a:t>
            </a:r>
          </a:p>
          <a:p>
            <a:pPr algn="l">
              <a:lnSpc>
                <a:spcPct val="130000"/>
              </a:lnSpc>
            </a:pP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   -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달러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약세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+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무역전쟁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불확실성</a:t>
            </a:r>
            <a:endParaRPr sz="12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30000"/>
              </a:lnSpc>
            </a:pP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   - 금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사상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신고가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흐름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지속</a:t>
            </a:r>
            <a:endParaRPr sz="12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65760" y="4617720"/>
            <a:ext cx="128016" cy="128016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4478863"/>
            <a:ext cx="7132320" cy="35086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글로벌</a:t>
            </a:r>
            <a:r>
              <a:rPr sz="17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7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증시</a:t>
            </a:r>
            <a:r>
              <a:rPr sz="17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lang="en-US" sz="17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5</a:t>
            </a:r>
            <a:r>
              <a:rPr sz="17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월 </a:t>
            </a:r>
            <a:r>
              <a:rPr sz="17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수익률</a:t>
            </a:r>
            <a:endParaRPr sz="1700" b="1" dirty="0">
              <a:solidFill>
                <a:srgbClr val="191877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680960" y="1097280"/>
            <a:ext cx="128016" cy="128016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09560" y="914400"/>
            <a:ext cx="411480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자산 비중 변화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842998"/>
              </p:ext>
            </p:extLst>
          </p:nvPr>
        </p:nvGraphicFramePr>
        <p:xfrm>
          <a:off x="7680960" y="1325880"/>
          <a:ext cx="4114798" cy="2364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2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13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13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5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657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자산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3월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4월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변화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코스피(226490)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5%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5%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중국(ASHR)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(1%)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신흥국(EEM)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5%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5%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ITA(방산)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(5%)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QQQ(나스닥)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0%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5%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+5%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XLK(기술)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+5%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7680960" y="3657600"/>
            <a:ext cx="41148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기타 ETF — 비중 유지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80960" y="4114800"/>
            <a:ext cx="128016" cy="128016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09560" y="3931920"/>
            <a:ext cx="411480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전략별 3월 → 4월 1M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2037433"/>
              </p:ext>
            </p:extLst>
          </p:nvPr>
        </p:nvGraphicFramePr>
        <p:xfrm>
          <a:off x="7680960" y="4343400"/>
          <a:ext cx="4114800" cy="1802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44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전략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3월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4월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44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적극적 여유자금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(8.9%)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+8.1%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44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보수적 여유자금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(8.1%)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+6.3%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44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퇴직연금 20~30대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(1.6%)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+5.7%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44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퇴직연금 40대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(1.4%)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+4.8%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44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퇴직연금 50대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(0.8%)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+3.2%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Rectangle 2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6517886"/>
            <a:ext cx="11430000" cy="3693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>
              <a:lnSpc>
                <a:spcPct val="120000"/>
              </a:lnSpc>
            </a:pP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정보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제공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목적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투자권유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자료가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아닙니다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보수차감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전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예상수익률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(gross of fees)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가정</a:t>
            </a:r>
            <a:r>
              <a:rPr sz="900" b="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</a:t>
            </a:r>
            <a:r>
              <a:rPr lang="en-US" sz="900" b="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 </a:t>
            </a:r>
            <a:r>
              <a:rPr lang="ko-KR" altLang="en-US" sz="90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</a:t>
            </a:r>
            <a:r>
              <a:rPr sz="900" b="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lang="ko-KR" altLang="en-US" sz="90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특정 섹터나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종목의 언급이 매수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매도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보유 혹은 직접투자의 추천으로 해석되어서는 안됩니다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  <a:endParaRPr lang="en-US" sz="900" b="0" dirty="0" smtClean="0">
              <a:solidFill>
                <a:srgbClr val="8C8C8C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20000"/>
              </a:lnSpc>
            </a:pPr>
            <a:r>
              <a:rPr lang="en-US" altLang="ko-KR" sz="90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상기 내용은 시장 상황 및 운용 전략에 따라 집합투자업자의 판단으로 변경될 수 있으며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투자 참고 자료로 과거 실적이나 전망이 미래 수익을 보장하지 않고 그 정확성 및 완전성을 보장하지 않습니다</a:t>
            </a:r>
            <a:r>
              <a:rPr lang="en-US" altLang="ko-KR" sz="90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</a:t>
            </a:r>
            <a:endParaRPr lang="ko-KR" altLang="en-US" sz="900" dirty="0">
              <a:solidFill>
                <a:srgbClr val="8C8C8C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op-menu-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772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77724"/>
            <a:ext cx="12191695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kcgi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15087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20240" y="164592"/>
            <a:ext cx="731520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이슈 #1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548640"/>
            <a:ext cx="731520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AI 반도체 — HW 압도와 Hyperscaler Capex 사이클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0" y="457200"/>
            <a:ext cx="2011680" cy="45720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0" y="182880"/>
            <a:ext cx="201168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KCGI 자산운용 | 뉴스핌 월간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561106"/>
            <a:ext cx="2011680" cy="2585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2026.0</a:t>
            </a:r>
            <a:r>
              <a:rPr lang="en-US"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6</a:t>
            </a:r>
            <a:r>
              <a:rPr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 </a:t>
            </a:r>
            <a:r>
              <a:rPr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·  8/14</a:t>
            </a:r>
          </a:p>
        </p:txBody>
      </p:sp>
      <p:pic>
        <p:nvPicPr>
          <p:cNvPr id="11" name="Picture 10" descr="chart_8b_cape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914400"/>
            <a:ext cx="5715000" cy="24688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65760" y="3703320"/>
            <a:ext cx="128016" cy="128016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3520440"/>
            <a:ext cx="713232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핵심 포인트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977639"/>
            <a:ext cx="7132320" cy="758952"/>
          </a:xfrm>
          <a:prstGeom prst="rect">
            <a:avLst/>
          </a:prstGeom>
          <a:solidFill>
            <a:srgbClr val="E7EAF1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3977639"/>
            <a:ext cx="91440" cy="758952"/>
          </a:xfrm>
          <a:prstGeom prst="rect">
            <a:avLst/>
          </a:prstGeom>
          <a:solidFill>
            <a:srgbClr val="191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4014215"/>
            <a:ext cx="68580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AI HW 상대적 성과 우위 (12개월, Total Return)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288535"/>
            <a:ext cx="68580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SOXX(반도체 HW) +153% vs SKYY(클라우드 SW) +14%. Capex 직접 수혜. (Total Return 기준)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800600"/>
            <a:ext cx="7132320" cy="758952"/>
          </a:xfrm>
          <a:prstGeom prst="rect">
            <a:avLst/>
          </a:prstGeom>
          <a:solidFill>
            <a:srgbClr val="E7EAF1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4800600"/>
            <a:ext cx="91440" cy="758952"/>
          </a:xfrm>
          <a:prstGeom prst="rect">
            <a:avLst/>
          </a:prstGeom>
          <a:solidFill>
            <a:srgbClr val="191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4837176"/>
            <a:ext cx="68580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Big4 Capex 26년 상향조정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111496"/>
            <a:ext cx="68580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Microsoft·Alphabet·Amazon·Meta 합계 26년 ~$710B 가이던스 (25년 ~$374B 대비 +90%). MSFT $190B·GOOGL $180~190B·AMZN $200B·META $125~145B.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623559"/>
            <a:ext cx="7132320" cy="758952"/>
          </a:xfrm>
          <a:prstGeom prst="rect">
            <a:avLst/>
          </a:prstGeom>
          <a:solidFill>
            <a:srgbClr val="E7EAF1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5623559"/>
            <a:ext cx="91440" cy="758952"/>
          </a:xfrm>
          <a:prstGeom prst="rect">
            <a:avLst/>
          </a:prstGeom>
          <a:solidFill>
            <a:srgbClr val="191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5660135"/>
            <a:ext cx="68580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실적</a:t>
            </a:r>
            <a:r>
              <a:rPr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2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기반</a:t>
            </a:r>
            <a:r>
              <a:rPr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2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구조적</a:t>
            </a:r>
            <a:r>
              <a:rPr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2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성장</a:t>
            </a:r>
            <a:endParaRPr sz="1200" b="1" dirty="0">
              <a:solidFill>
                <a:srgbClr val="191877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66928" y="5934455"/>
            <a:ext cx="68580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기술 섹터가 전체 EPS 상향 조정의 85% 차지. 1Q26 S&amp;P 500 EPS +12% YoY (증권사 추정치 상회).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80960" y="3703320"/>
            <a:ext cx="128016" cy="128016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09560" y="3520440"/>
            <a:ext cx="411480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포트폴리오 함의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3950208"/>
            <a:ext cx="4114800" cy="191590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QQQ + XLK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신규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편입으로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HW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흐름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직접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노출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확보</a:t>
            </a:r>
            <a:endParaRPr sz="11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40000"/>
              </a:lnSpc>
            </a:pP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기존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SOXX(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반도체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), ROBO(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로봇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)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보유로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다층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수혜</a:t>
            </a:r>
            <a:endParaRPr sz="11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40000"/>
              </a:lnSpc>
            </a:pP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적극적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여유자금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4월 +</a:t>
            </a:r>
            <a:r>
              <a:rPr sz="11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8.</a:t>
            </a:r>
            <a:r>
              <a:rPr lang="en-US" sz="11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1</a:t>
            </a:r>
            <a:r>
              <a:rPr sz="11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% 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— 3월 -</a:t>
            </a:r>
            <a:r>
              <a:rPr sz="11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8.9%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에서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V자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회복</a:t>
            </a:r>
            <a:endParaRPr sz="11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40000"/>
              </a:lnSpc>
            </a:pPr>
            <a:endParaRPr sz="11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40000"/>
              </a:lnSpc>
            </a:pP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[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주의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]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시장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심리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과열</a:t>
            </a:r>
            <a:endParaRPr sz="11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40000"/>
              </a:lnSpc>
            </a:pP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 - Fear &amp; Greed Index 75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이상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(Greed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영역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)</a:t>
            </a:r>
          </a:p>
          <a:p>
            <a:pPr algn="l">
              <a:lnSpc>
                <a:spcPct val="140000"/>
              </a:lnSpc>
            </a:pP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 - S&amp;P 500 12M Forward P/E 22배 (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역사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평균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16배)</a:t>
            </a:r>
          </a:p>
          <a:p>
            <a:pPr algn="l">
              <a:lnSpc>
                <a:spcPct val="140000"/>
              </a:lnSpc>
            </a:pP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 - HW 12M </a:t>
            </a:r>
            <a:r>
              <a:rPr sz="11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+</a:t>
            </a:r>
            <a:r>
              <a:rPr lang="en-US" sz="11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153</a:t>
            </a:r>
            <a:r>
              <a:rPr sz="11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% 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—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단기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조정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가능성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상존</a:t>
            </a:r>
            <a:endParaRPr sz="11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65760" y="6382512"/>
            <a:ext cx="114300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* 차트 수익률은 Total Return 기준 (배당 재투자 포함). 데이터 출처: yfinance API. Capex 출처: MSFT Q3 FY2026 어닝콜 (2026-04-29) · GOOGL Q1 2026 어닝콜 · AMZN 2026 가이던스 · META Q1 2026 어닝콜.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5760" y="6517886"/>
            <a:ext cx="11430000" cy="3693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>
              <a:lnSpc>
                <a:spcPct val="120000"/>
              </a:lnSpc>
            </a:pP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정보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제공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목적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투자권유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자료가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아닙니다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보수차감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전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예상수익률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(gross of fees)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가정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특정 섹터나 종목의 언급이 매수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매도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보유 혹은 직접투자의 추천으로 해석되어서는 안됩니다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  <a:endParaRPr lang="en-US" sz="900" b="0" dirty="0" smtClean="0">
              <a:solidFill>
                <a:srgbClr val="8C8C8C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20000"/>
              </a:lnSpc>
            </a:pPr>
            <a:r>
              <a:rPr lang="en-US" altLang="ko-KR" sz="90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상기 내용은 시장 상황 및 운용 전략에 따라 집합투자업자의 판단으로 변경될 수 있으며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투자 참고 자료로 과거 실적이나 전망이 미래 수익을 보장하지 않고 그 정확성 및 완전성을 보장하지 않습니다</a:t>
            </a:r>
            <a:r>
              <a:rPr lang="en-US" altLang="ko-KR" sz="90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</a:t>
            </a:r>
            <a:endParaRPr lang="ko-KR" altLang="en-US" sz="900" dirty="0">
              <a:solidFill>
                <a:srgbClr val="8C8C8C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pic>
        <p:nvPicPr>
          <p:cNvPr id="33" name="Picture 9" descr="chart_8a_hws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905256"/>
            <a:ext cx="571500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op-menu-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772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77724"/>
            <a:ext cx="12191695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kcgi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15087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20240" y="164592"/>
            <a:ext cx="731520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이슈 #2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548640"/>
            <a:ext cx="731520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지정학 리스크 — 이란-이스라엘 충돌과 안전자산·원자재 동반 강세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0" y="457200"/>
            <a:ext cx="2011680" cy="45720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0" y="182880"/>
            <a:ext cx="201168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KCGI 자산운용 | 뉴스핌 월간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561106"/>
            <a:ext cx="2011680" cy="2585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2026.0</a:t>
            </a:r>
            <a:r>
              <a:rPr lang="en-US"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6</a:t>
            </a:r>
            <a:r>
              <a:rPr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 </a:t>
            </a:r>
            <a:r>
              <a:rPr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·  9/14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703320"/>
            <a:ext cx="128016" cy="128016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3520440"/>
            <a:ext cx="713232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핵심 포인트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977639"/>
            <a:ext cx="7132320" cy="758952"/>
          </a:xfrm>
          <a:prstGeom prst="rect">
            <a:avLst/>
          </a:prstGeom>
          <a:solidFill>
            <a:srgbClr val="E7EAF1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3977639"/>
            <a:ext cx="91440" cy="758952"/>
          </a:xfrm>
          <a:prstGeom prst="rect">
            <a:avLst/>
          </a:prstGeom>
          <a:solidFill>
            <a:srgbClr val="191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4014215"/>
            <a:ext cx="68580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이란-이스라엘 충돌 가속 (4월)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288535"/>
            <a:ext cx="68580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중동 긴장 고조로 안전자산 수요 증가. 4월 들어 안전자산 매수 흐름 본격화.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800600"/>
            <a:ext cx="7132320" cy="758952"/>
          </a:xfrm>
          <a:prstGeom prst="rect">
            <a:avLst/>
          </a:prstGeom>
          <a:solidFill>
            <a:srgbClr val="E7EAF1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4800600"/>
            <a:ext cx="91440" cy="758952"/>
          </a:xfrm>
          <a:prstGeom prst="rect">
            <a:avLst/>
          </a:prstGeom>
          <a:solidFill>
            <a:srgbClr val="191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4837176"/>
            <a:ext cx="68580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금·은</a:t>
            </a:r>
            <a:r>
              <a:rPr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12개월 </a:t>
            </a:r>
            <a:r>
              <a:rPr sz="12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동반</a:t>
            </a:r>
            <a:r>
              <a:rPr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+39% / +122%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111496"/>
            <a:ext cx="6858000" cy="22929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금 $4,237/온스 사상 신고가, 은 $67/온스. 달러 약세 + 중앙은행 금 매입 + 지정학 헤지 수요.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623559"/>
            <a:ext cx="7132320" cy="758952"/>
          </a:xfrm>
          <a:prstGeom prst="rect">
            <a:avLst/>
          </a:prstGeom>
          <a:solidFill>
            <a:srgbClr val="E7EAF1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5623559"/>
            <a:ext cx="91440" cy="758952"/>
          </a:xfrm>
          <a:prstGeom prst="rect">
            <a:avLst/>
          </a:prstGeom>
          <a:solidFill>
            <a:srgbClr val="191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5660135"/>
            <a:ext cx="68580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WTI 원유 4월 가속 상승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5934455"/>
            <a:ext cx="68580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USO Total Return 12개월 +131% (이란 갈등 + OPEC + 4월 가속). 지정학 프리미엄 확대.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80960" y="3703320"/>
            <a:ext cx="128016" cy="128016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09560" y="3520440"/>
            <a:ext cx="411480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포트폴리오 함의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3950208"/>
            <a:ext cx="4114800" cy="2423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금(GLD) + 은(SLV) 각 5%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비중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유지</a:t>
            </a:r>
            <a:endParaRPr sz="11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40000"/>
              </a:lnSpc>
            </a:pP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 -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이란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지정학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+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달러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약세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+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중앙은행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금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매입</a:t>
            </a:r>
            <a:endParaRPr sz="11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40000"/>
              </a:lnSpc>
            </a:pP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 -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산업금속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(은) —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안전자산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+ Capex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수혜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중첩</a:t>
            </a:r>
            <a:endParaRPr sz="11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40000"/>
              </a:lnSpc>
            </a:pPr>
            <a:endParaRPr sz="11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40000"/>
              </a:lnSpc>
            </a:pP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원자재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(DBC) 5% +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원유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(USO) 5%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유지</a:t>
            </a:r>
            <a:endParaRPr sz="11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40000"/>
              </a:lnSpc>
            </a:pP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 - WTI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강세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+ DBC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인덱스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+7</a:t>
            </a:r>
            <a:r>
              <a:rPr sz="1100" b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% </a:t>
            </a:r>
            <a:r>
              <a:rPr sz="1100" b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이상</a:t>
            </a:r>
            <a:r>
              <a:rPr lang="en-US" sz="1100" b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lang="ko-KR" altLang="en-US" sz="1100" b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상승</a:t>
            </a:r>
            <a:endParaRPr sz="11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40000"/>
              </a:lnSpc>
            </a:pPr>
            <a:endParaRPr sz="11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40000"/>
              </a:lnSpc>
            </a:pP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[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주의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]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이란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충돌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격화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시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유가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$100/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bbl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lang="ko-KR" altLang="en-US" sz="11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지속 가능</a:t>
            </a:r>
            <a:endParaRPr sz="11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40000"/>
              </a:lnSpc>
            </a:pP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 -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글로벌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인플레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+0.7%p /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성장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-0.4%p (Goldman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시뮬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)</a:t>
            </a:r>
          </a:p>
          <a:p>
            <a:pPr algn="l">
              <a:lnSpc>
                <a:spcPct val="140000"/>
              </a:lnSpc>
            </a:pP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 - 4월 후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추가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충돌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격화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시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위험자산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재조정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가능</a:t>
            </a:r>
            <a:endParaRPr sz="11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65760" y="6382512"/>
            <a:ext cx="114300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*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차트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수익률은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Total Return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기준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(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배당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재투자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포함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).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데이터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출처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: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yfinance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API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5760" y="6517886"/>
            <a:ext cx="11430000" cy="3693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>
              <a:lnSpc>
                <a:spcPct val="120000"/>
              </a:lnSpc>
            </a:pP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정보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제공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목적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투자권유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자료가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아닙니다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보수차감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전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예상수익률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(gross of fees)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가정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특정 섹터나 종목의 언급이 매수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매도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보유 혹은 직접투자의 추천으로 해석되어서는 안됩니다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  <a:endParaRPr lang="en-US" sz="900" b="0" dirty="0" smtClean="0">
              <a:solidFill>
                <a:srgbClr val="8C8C8C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20000"/>
              </a:lnSpc>
            </a:pPr>
            <a:r>
              <a:rPr lang="en-US" altLang="ko-KR" sz="90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상기 내용은 시장 상황 및 운용 전략에 따라 집합투자업자의 판단으로 변경될 수 있으며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투자 참고 자료로 과거 실적이나 전망이 미래 수익을 보장하지 않고 그 정확성 및 완전성을 보장하지 않습니다</a:t>
            </a:r>
            <a:r>
              <a:rPr lang="en-US" altLang="ko-KR" sz="90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</a:t>
            </a:r>
            <a:endParaRPr lang="ko-KR" altLang="en-US" sz="900" dirty="0">
              <a:solidFill>
                <a:srgbClr val="8C8C8C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pic>
        <p:nvPicPr>
          <p:cNvPr id="36" name="Picture 9" descr="chart_9a_o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914400"/>
            <a:ext cx="5715000" cy="2468880"/>
          </a:xfrm>
          <a:prstGeom prst="rect">
            <a:avLst/>
          </a:prstGeom>
        </p:spPr>
      </p:pic>
      <p:pic>
        <p:nvPicPr>
          <p:cNvPr id="37" name="Picture 10" descr="chart_9b_safehav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914400"/>
            <a:ext cx="571500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op-menu-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772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77724"/>
            <a:ext cx="12191695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kcgi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15087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20240" y="164592"/>
            <a:ext cx="731520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이슈 #3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548640"/>
            <a:ext cx="731520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Fed 4월 회의 — 정책 동결 + 완화 경로 vs 시장 가격 (Goldman 분석)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0" y="457200"/>
            <a:ext cx="2011680" cy="45720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0" y="182880"/>
            <a:ext cx="201168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KCGI 자산운용 | 뉴스핌 월간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561106"/>
            <a:ext cx="2011680" cy="2585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2026.0</a:t>
            </a:r>
            <a:r>
              <a:rPr lang="en-US"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6</a:t>
            </a:r>
            <a:r>
              <a:rPr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 </a:t>
            </a:r>
            <a:r>
              <a:rPr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·  10/14</a:t>
            </a:r>
          </a:p>
        </p:txBody>
      </p:sp>
      <p:pic>
        <p:nvPicPr>
          <p:cNvPr id="10" name="Picture 9" descr="chart_10a_fed_pa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914400"/>
            <a:ext cx="5715000" cy="24688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65760" y="3703320"/>
            <a:ext cx="128016" cy="128016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3520440"/>
            <a:ext cx="713232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핵심 포인트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977639"/>
            <a:ext cx="7132320" cy="758952"/>
          </a:xfrm>
          <a:prstGeom prst="rect">
            <a:avLst/>
          </a:prstGeom>
          <a:solidFill>
            <a:srgbClr val="E7EAF1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3977639"/>
            <a:ext cx="91440" cy="758952"/>
          </a:xfrm>
          <a:prstGeom prst="rect">
            <a:avLst/>
          </a:prstGeom>
          <a:solidFill>
            <a:srgbClr val="191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4014215"/>
            <a:ext cx="68580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4월 FOMC: 동결 + 3명 위원이 완화 편향에 반대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288535"/>
            <a:ext cx="68580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Hammack·Kashkari·Logan 위원이 기존 완화 기조에 반대 의견 (예상 밖 의견). Powell: 'FOMC 중심이 더 중립으로 이동 중'.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800600"/>
            <a:ext cx="7132320" cy="758952"/>
          </a:xfrm>
          <a:prstGeom prst="rect">
            <a:avLst/>
          </a:prstGeom>
          <a:solidFill>
            <a:srgbClr val="E7EAF1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4800600"/>
            <a:ext cx="91440" cy="758952"/>
          </a:xfrm>
          <a:prstGeom prst="rect">
            <a:avLst/>
          </a:prstGeom>
          <a:solidFill>
            <a:srgbClr val="191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4837176"/>
            <a:ext cx="68580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GS 기본 — 9월·12월 인하 (장기 균형 3.0~3.25%)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111496"/>
            <a:ext cx="68580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확률 35%. 시장 가격(빨간 점선)은 GS 대비 매파적 — 4월 회의 후 매파 이동. 향후 인하 가속 가능성.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623559"/>
            <a:ext cx="7132320" cy="758952"/>
          </a:xfrm>
          <a:prstGeom prst="rect">
            <a:avLst/>
          </a:prstGeom>
          <a:solidFill>
            <a:srgbClr val="E7EAF1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5623559"/>
            <a:ext cx="91440" cy="758952"/>
          </a:xfrm>
          <a:prstGeom prst="rect">
            <a:avLst/>
          </a:prstGeom>
          <a:solidFill>
            <a:srgbClr val="191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5660135"/>
            <a:ext cx="68580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PCE 인플레 시나리오 — 전쟁 변수 결정적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5934455"/>
            <a:ext cx="68580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GS 기본: 2026년말 헤드라인 PCE 3.4%, Core 2.6%. 최악(전쟁 격화) 시 헤드라인 4.6%까지 가능.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80960" y="3703320"/>
            <a:ext cx="128016" cy="128016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09560" y="3520440"/>
            <a:ext cx="411480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포트폴리오 함의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3950208"/>
            <a:ext cx="4114800" cy="2423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신흥국(EEM) 5% + 중국(ASHR) 4% 유지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 - GS 기본 시나리오 시 달러 약세 → EM 자금 유입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 - 비미국 자산의 원화 환산 수익률 개선 흐름</a:t>
            </a:r>
          </a:p>
          <a:p>
            <a:pPr algn="l">
              <a:lnSpc>
                <a:spcPct val="140000"/>
              </a:lnSpc>
            </a:pPr>
            <a:endParaRPr sz="1100" b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금(GLD) + 은(SLV) + DBC 실물자산 총 15%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 - 전쟁 격화 시나리오 헤지 기능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 - PCE 4%대 진입 시 강세 지속 가능</a:t>
            </a:r>
          </a:p>
          <a:p>
            <a:pPr algn="l">
              <a:lnSpc>
                <a:spcPct val="140000"/>
              </a:lnSpc>
            </a:pPr>
            <a:endParaRPr sz="1100" b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[관전 포인트] 9월 SEP + 8월 잭슨홀 — 가이던스 변경 시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포트폴리오 듀레이션·EM 비중 점진 조정 검토</a:t>
            </a:r>
          </a:p>
          <a:p>
            <a:pPr algn="l">
              <a:lnSpc>
                <a:spcPct val="140000"/>
              </a:lnSpc>
            </a:pPr>
            <a:endParaRPr sz="1100" b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(출처) Goldman Sachs, FOMC Roundtable 2026.04.27-28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382512"/>
            <a:ext cx="114300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*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차트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수익률은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Total Return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기준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(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배당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재투자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포함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).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데이터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출처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: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yfinance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API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5760" y="6517886"/>
            <a:ext cx="11430000" cy="3693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>
              <a:lnSpc>
                <a:spcPct val="120000"/>
              </a:lnSpc>
            </a:pP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정보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제공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목적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투자권유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자료가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아닙니다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보수차감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전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예상수익률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(gross of fees)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가정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특정 섹터나 종목의 언급이 매수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매도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보유 혹은 직접투자의 추천으로 해석되어서는 안됩니다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  <a:endParaRPr lang="en-US" sz="900" b="0" dirty="0" smtClean="0">
              <a:solidFill>
                <a:srgbClr val="8C8C8C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20000"/>
              </a:lnSpc>
            </a:pPr>
            <a:r>
              <a:rPr lang="en-US" altLang="ko-KR" sz="90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상기 내용은 시장 상황 및 운용 전략에 따라 집합투자업자의 판단으로 변경될 수 있으며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투자 참고 자료로 과거 실적이나 전망이 미래 수익을 보장하지 않고 그 정확성 및 완전성을 보장하지 않습니다</a:t>
            </a:r>
            <a:r>
              <a:rPr lang="en-US" altLang="ko-KR" sz="90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</a:t>
            </a:r>
            <a:endParaRPr lang="ko-KR" altLang="en-US" sz="900" dirty="0">
              <a:solidFill>
                <a:srgbClr val="8C8C8C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pic>
        <p:nvPicPr>
          <p:cNvPr id="33" name="Picture 10" descr="chart_10b_pce_scenario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914400"/>
            <a:ext cx="571500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op-menu-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772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77724"/>
            <a:ext cx="12191695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kcgi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15087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20240" y="164592"/>
            <a:ext cx="731520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이슈 #4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548640"/>
            <a:ext cx="731520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MP 편입 EM vs DM ETF — 한국·중국 강세, 미국 회복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0" y="457200"/>
            <a:ext cx="2011680" cy="45720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0" y="182880"/>
            <a:ext cx="201168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KCGI 자산운용 | 뉴스핌 월간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561106"/>
            <a:ext cx="2011680" cy="2585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2026.0</a:t>
            </a:r>
            <a:r>
              <a:rPr lang="en-US"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6</a:t>
            </a:r>
            <a:r>
              <a:rPr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 </a:t>
            </a:r>
            <a:r>
              <a:rPr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·  11/14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703320"/>
            <a:ext cx="128016" cy="128016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3520440"/>
            <a:ext cx="713232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핵심 포인트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977639"/>
            <a:ext cx="7132320" cy="758952"/>
          </a:xfrm>
          <a:prstGeom prst="rect">
            <a:avLst/>
          </a:prstGeom>
          <a:solidFill>
            <a:srgbClr val="E7EAF1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3977639"/>
            <a:ext cx="91440" cy="758952"/>
          </a:xfrm>
          <a:prstGeom prst="rect">
            <a:avLst/>
          </a:prstGeom>
          <a:solidFill>
            <a:srgbClr val="191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4014215"/>
            <a:ext cx="68580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EM 전 종목 강세 (12M)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288535"/>
            <a:ext cx="68580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KOSPI(226490) +162%, ASHR +40%, EEM +50% — 달러 약세 + 미-중 탈동조화 자금 유입 (Total Return).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800600"/>
            <a:ext cx="7132320" cy="758952"/>
          </a:xfrm>
          <a:prstGeom prst="rect">
            <a:avLst/>
          </a:prstGeom>
          <a:solidFill>
            <a:srgbClr val="E7EAF1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4800600"/>
            <a:ext cx="91440" cy="758952"/>
          </a:xfrm>
          <a:prstGeom prst="rect">
            <a:avLst/>
          </a:prstGeom>
          <a:solidFill>
            <a:srgbClr val="191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4837176"/>
            <a:ext cx="68580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DM 회복 (4월 반등)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111496"/>
            <a:ext cx="68580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SPY +10.5%, QQQ +15.7%, VGK +5.7% — 4월 관세 유예 + AI 실적으로 강한 1개월 반등 (4월 1M Total Return).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623559"/>
            <a:ext cx="7132320" cy="758952"/>
          </a:xfrm>
          <a:prstGeom prst="rect">
            <a:avLst/>
          </a:prstGeom>
          <a:solidFill>
            <a:srgbClr val="E7EAF1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5623559"/>
            <a:ext cx="91440" cy="758952"/>
          </a:xfrm>
          <a:prstGeom prst="rect">
            <a:avLst/>
          </a:prstGeom>
          <a:solidFill>
            <a:srgbClr val="191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5660135"/>
            <a:ext cx="68580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MP 분산 효과 검증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5934455"/>
            <a:ext cx="68580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EM 평균 4월 +17.2%, DM 평균 +10.6% — 두 진영 동반 강세로 분산 포트폴리오 균형 잡힌 회복.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80960" y="3703320"/>
            <a:ext cx="128016" cy="128016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09560" y="3520440"/>
            <a:ext cx="411480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포트폴리오 함의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3950208"/>
            <a:ext cx="4114800" cy="2423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보유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EM ETF (총 14%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비중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)</a:t>
            </a:r>
          </a:p>
          <a:p>
            <a:pPr algn="l">
              <a:lnSpc>
                <a:spcPct val="140000"/>
              </a:lnSpc>
            </a:pP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 -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코스피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(226490) 5% — 12M </a:t>
            </a:r>
            <a:r>
              <a:rPr sz="11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+</a:t>
            </a:r>
            <a:r>
              <a:rPr lang="en-US" sz="11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162</a:t>
            </a:r>
            <a:r>
              <a:rPr sz="11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%, </a:t>
            </a:r>
            <a:r>
              <a:rPr lang="ko-KR" altLang="en-US" sz="1100" b="0" dirty="0" err="1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신고점</a:t>
            </a:r>
            <a:r>
              <a:rPr sz="11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도달</a:t>
            </a:r>
            <a:endParaRPr sz="11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40000"/>
              </a:lnSpc>
            </a:pP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 -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중국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(ASHR) 4% —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협상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진전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시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추가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상승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여력</a:t>
            </a:r>
            <a:endParaRPr sz="11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40000"/>
              </a:lnSpc>
            </a:pP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 -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신흥국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(EEM) 5% —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광범위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분산</a:t>
            </a:r>
            <a:endParaRPr sz="11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40000"/>
              </a:lnSpc>
            </a:pPr>
            <a:endParaRPr sz="11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40000"/>
              </a:lnSpc>
            </a:pP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보유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DM ETF</a:t>
            </a:r>
          </a:p>
          <a:p>
            <a:pPr algn="l">
              <a:lnSpc>
                <a:spcPct val="140000"/>
              </a:lnSpc>
            </a:pP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 -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미국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: QQQ + XLK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편입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(10%) + SOXX/IBB/XBI/XLE 등 </a:t>
            </a:r>
            <a:r>
              <a:rPr lang="ko-KR" altLang="en-US" sz="110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산업</a:t>
            </a:r>
            <a:endParaRPr sz="11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40000"/>
              </a:lnSpc>
            </a:pP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 -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유럽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직접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ETF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없음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— VIS(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산업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)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통한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간접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노출</a:t>
            </a:r>
            <a:endParaRPr sz="11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40000"/>
              </a:lnSpc>
            </a:pPr>
            <a:endParaRPr sz="11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40000"/>
              </a:lnSpc>
            </a:pP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[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관전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포인트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] EM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강세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지속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vs DM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추가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회복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—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분산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균형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유지</a:t>
            </a:r>
            <a:endParaRPr sz="11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65760" y="6382512"/>
            <a:ext cx="114300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*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차트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수익률은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Total Return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기준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(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배당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재투자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포함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).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데이터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출처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: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yfinance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API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5760" y="6517886"/>
            <a:ext cx="11430000" cy="3693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>
              <a:lnSpc>
                <a:spcPct val="120000"/>
              </a:lnSpc>
            </a:pP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정보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제공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목적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투자권유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자료가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아닙니다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보수차감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전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예상수익률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(gross of fees)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가정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특정 섹터나 종목의 언급이 매수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매도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보유 혹은 직접투자의 추천으로 해석되어서는 안됩니다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  <a:endParaRPr lang="en-US" sz="900" b="0" dirty="0" smtClean="0">
              <a:solidFill>
                <a:srgbClr val="8C8C8C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20000"/>
              </a:lnSpc>
            </a:pPr>
            <a:r>
              <a:rPr lang="en-US" altLang="ko-KR" sz="90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상기 내용은 시장 상황 및 운용 전략에 따라 집합투자업자의 판단으로 변경될 수 있으며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투자 참고 자료로 과거 실적이나 전망이 미래 수익을 보장하지 않고 그 정확성 및 완전성을 보장하지 않습니다</a:t>
            </a:r>
            <a:r>
              <a:rPr lang="en-US" altLang="ko-KR" sz="90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</a:t>
            </a:r>
            <a:endParaRPr lang="ko-KR" altLang="en-US" sz="900" dirty="0">
              <a:solidFill>
                <a:srgbClr val="8C8C8C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pic>
        <p:nvPicPr>
          <p:cNvPr id="33" name="Picture 9" descr="chart_11a_em_d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914400"/>
            <a:ext cx="5715000" cy="2468880"/>
          </a:xfrm>
          <a:prstGeom prst="rect">
            <a:avLst/>
          </a:prstGeom>
        </p:spPr>
      </p:pic>
      <p:pic>
        <p:nvPicPr>
          <p:cNvPr id="34" name="Picture 10" descr="chart_11b_em_dm_apri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914400"/>
            <a:ext cx="571500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op-menu-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7772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77724"/>
            <a:ext cx="12191695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kcgi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82880"/>
            <a:ext cx="15087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20240" y="164592"/>
            <a:ext cx="731520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결론 — 4월 회복과 단기 과열 주의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548640"/>
            <a:ext cx="731520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AI 흐름 강화 + 실물자산 헤지 + 단기 조정 대비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0" y="457200"/>
            <a:ext cx="2011680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0" y="182880"/>
            <a:ext cx="201168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KCGI 자산운용 | 뉴스핌 월간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561106"/>
            <a:ext cx="2011680" cy="2585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2026.0</a:t>
            </a:r>
            <a:r>
              <a:rPr lang="en-US"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6</a:t>
            </a:r>
            <a:r>
              <a:rPr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 </a:t>
            </a:r>
            <a:r>
              <a:rPr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·  12/14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097280"/>
            <a:ext cx="128016" cy="128016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914400"/>
            <a:ext cx="713232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내러티브 전환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25880"/>
            <a:ext cx="7132320" cy="1508760"/>
          </a:xfrm>
          <a:prstGeom prst="rect">
            <a:avLst/>
          </a:prstGeom>
          <a:solidFill>
            <a:srgbClr val="E7EAF1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1325880"/>
            <a:ext cx="73152" cy="1508760"/>
          </a:xfrm>
          <a:prstGeom prst="rect">
            <a:avLst/>
          </a:prstGeom>
          <a:solidFill>
            <a:srgbClr val="191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1417320"/>
            <a:ext cx="6858000" cy="96026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■ 3월: </a:t>
            </a:r>
            <a:r>
              <a:rPr sz="10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관세</a:t>
            </a: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충격</a:t>
            </a: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+ </a:t>
            </a:r>
            <a:r>
              <a:rPr sz="10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성장</a:t>
            </a: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둔화</a:t>
            </a: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우려</a:t>
            </a: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→ </a:t>
            </a:r>
            <a:r>
              <a:rPr sz="10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적극적</a:t>
            </a: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여유자금</a:t>
            </a: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(</a:t>
            </a:r>
            <a:r>
              <a:rPr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8.9%)</a:t>
            </a:r>
            <a:endParaRPr sz="10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50000"/>
              </a:lnSpc>
            </a:pP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■ 4월: </a:t>
            </a:r>
            <a:r>
              <a:rPr sz="10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빅테크</a:t>
            </a: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실적</a:t>
            </a: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+ </a:t>
            </a:r>
            <a:r>
              <a:rPr sz="10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무역협상</a:t>
            </a: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진전</a:t>
            </a: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→ </a:t>
            </a:r>
            <a:r>
              <a:rPr sz="10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적극적</a:t>
            </a: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여유자금</a:t>
            </a: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+</a:t>
            </a:r>
            <a:r>
              <a:rPr sz="1000" b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8.</a:t>
            </a:r>
            <a:r>
              <a:rPr lang="en-US" sz="1000" b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1</a:t>
            </a:r>
            <a:r>
              <a:rPr sz="1000" b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%</a:t>
            </a:r>
            <a:endParaRPr sz="10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50000"/>
              </a:lnSpc>
            </a:pP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■ AI </a:t>
            </a:r>
            <a:r>
              <a:rPr sz="10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기반</a:t>
            </a: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실적</a:t>
            </a:r>
            <a:r>
              <a:rPr lang="en-US"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&gt;</a:t>
            </a:r>
            <a:r>
              <a:rPr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매크로</a:t>
            </a: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불확실성</a:t>
            </a:r>
            <a:endParaRPr sz="10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50000"/>
              </a:lnSpc>
            </a:pP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■ Capex </a:t>
            </a:r>
            <a:r>
              <a:rPr sz="10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사이클</a:t>
            </a: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재확인</a:t>
            </a: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: SOXX +40% / NVDA </a:t>
            </a:r>
            <a:r>
              <a:rPr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+</a:t>
            </a:r>
            <a:r>
              <a:rPr lang="en-US"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14</a:t>
            </a:r>
            <a:r>
              <a:rPr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% </a:t>
            </a: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/ AMD +74%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1097280"/>
            <a:ext cx="128016" cy="128016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09560" y="914400"/>
            <a:ext cx="411480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포트폴리오 대응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0" y="1325880"/>
            <a:ext cx="4114800" cy="1508760"/>
          </a:xfrm>
          <a:prstGeom prst="rect">
            <a:avLst/>
          </a:prstGeom>
          <a:solidFill>
            <a:srgbClr val="E7EAF1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680960" y="1325880"/>
            <a:ext cx="73152" cy="1508760"/>
          </a:xfrm>
          <a:prstGeom prst="rect">
            <a:avLst/>
          </a:prstGeom>
          <a:solidFill>
            <a:srgbClr val="191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63840" y="1417320"/>
            <a:ext cx="384048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■ AI 흐름 포착 — ITA 편출, QQQ + XLK 신규 편입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■ 실물자산 GLD 5% + DBC 5% = 10% (인플레·달러 헤지)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■ 분산 — 한국·중국·신흥국·금 (미국 일변도 회피)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■ 듀얼 모멘텀 — 흐름 약화 시 자동 편출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926080"/>
            <a:ext cx="11430000" cy="1737360"/>
          </a:xfrm>
          <a:prstGeom prst="rect">
            <a:avLst/>
          </a:prstGeom>
          <a:solidFill>
            <a:srgbClr val="FFF5F5"/>
          </a:solidFill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2926080"/>
            <a:ext cx="137160" cy="17373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3017520"/>
            <a:ext cx="10972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C00000"/>
                </a:solidFill>
                <a:latin typeface="KoPubWorld돋움체 Bold"/>
                <a:ea typeface="KoPubWorld돋움체 Bold"/>
                <a:cs typeface="KoPubWorld돋움체 Bold"/>
              </a:rPr>
              <a:t>⚠ 시장 심리 과열 신호 다수 — 단기 조정 가능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383280"/>
            <a:ext cx="5486400" cy="8987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Fear &amp; Greed Index 75 </a:t>
            </a:r>
            <a:r>
              <a:rPr sz="10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이상</a:t>
            </a: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(Greed </a:t>
            </a:r>
            <a:r>
              <a:rPr sz="10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영역</a:t>
            </a: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)</a:t>
            </a:r>
          </a:p>
          <a:p>
            <a:pPr algn="l">
              <a:lnSpc>
                <a:spcPct val="140000"/>
              </a:lnSpc>
            </a:pP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AAII </a:t>
            </a:r>
            <a:r>
              <a:rPr sz="10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개인투자자</a:t>
            </a: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Bull </a:t>
            </a:r>
            <a:r>
              <a:rPr sz="10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비중</a:t>
            </a: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50% </a:t>
            </a:r>
            <a:r>
              <a:rPr sz="10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초과</a:t>
            </a:r>
            <a:endParaRPr sz="10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40000"/>
              </a:lnSpc>
            </a:pP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S&amp;P 500 12M Forward P/E 22배 (</a:t>
            </a:r>
            <a:r>
              <a:rPr sz="10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역사</a:t>
            </a: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평균</a:t>
            </a: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+37%)</a:t>
            </a:r>
          </a:p>
          <a:p>
            <a:pPr algn="l">
              <a:lnSpc>
                <a:spcPct val="140000"/>
              </a:lnSpc>
            </a:pP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4월 </a:t>
            </a:r>
            <a:r>
              <a:rPr lang="en-US" sz="100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S&amp;P 500 </a:t>
            </a:r>
            <a:r>
              <a:rPr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+10.5</a:t>
            </a: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% — </a:t>
            </a:r>
            <a:r>
              <a:rPr sz="10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통계상</a:t>
            </a: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단기</a:t>
            </a: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정점</a:t>
            </a: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신호</a:t>
            </a: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가능</a:t>
            </a:r>
            <a:endParaRPr sz="10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126480" y="3383280"/>
            <a:ext cx="5486400" cy="11887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대응 가이드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 • 분할 매수 — 한 번에 위험자산 추가 X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 • 캐시 비중 점진 축소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 • 듀얼 모멘텀 약화 시 자동 편출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 • 7월 초 90일 관세 유예 만료 모니터링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937760"/>
            <a:ext cx="128016" cy="128016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4754880"/>
            <a:ext cx="1143000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4월 포트폴리오 성과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3541551"/>
              </p:ext>
            </p:extLst>
          </p:nvPr>
        </p:nvGraphicFramePr>
        <p:xfrm>
          <a:off x="365760" y="5138928"/>
          <a:ext cx="11430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09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전략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3월 1M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4월 1M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연 수익률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샤프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MDD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비고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적극적 여유자금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</a:t>
                      </a:r>
                      <a:r>
                        <a:rPr sz="1000" dirty="0" smtClean="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8.9%)</a:t>
                      </a:r>
                      <a:endParaRPr sz="1000" dirty="0">
                        <a:solidFill>
                          <a:srgbClr val="C00000"/>
                        </a:solidFill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+</a:t>
                      </a:r>
                      <a:r>
                        <a:rPr sz="1000" b="1" dirty="0" smtClean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8.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1</a:t>
                      </a:r>
                      <a:r>
                        <a:rPr sz="1000" b="1" dirty="0" smtClean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%</a:t>
                      </a:r>
                      <a:endParaRPr sz="1000" b="1" dirty="0">
                        <a:solidFill>
                          <a:schemeClr val="tx1"/>
                        </a:solidFill>
                        <a:latin typeface="KoPubWorld돋움체 Bold"/>
                        <a:ea typeface="KoPubWorld돋움체 Bold"/>
                        <a:cs typeface="KoPubWorld돋움체 Bold"/>
                      </a:endParaRP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+13.1%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0.97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(17.6%)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AI 반등 적극 참여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보수적 여유자금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</a:t>
                      </a:r>
                      <a:r>
                        <a:rPr sz="1000" dirty="0" smtClean="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8.</a:t>
                      </a:r>
                      <a:r>
                        <a:rPr lang="en-US" sz="1000" dirty="0" smtClean="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</a:t>
                      </a:r>
                      <a:r>
                        <a:rPr sz="1000" dirty="0" smtClean="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%)</a:t>
                      </a:r>
                      <a:endParaRPr sz="1000" dirty="0">
                        <a:solidFill>
                          <a:srgbClr val="C00000"/>
                        </a:solidFill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+</a:t>
                      </a:r>
                      <a:r>
                        <a:rPr sz="1000" b="1" dirty="0" smtClean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6.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3</a:t>
                      </a:r>
                      <a:r>
                        <a:rPr sz="1000" b="1" dirty="0" smtClean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%</a:t>
                      </a:r>
                      <a:endParaRPr sz="1000" b="1" dirty="0">
                        <a:solidFill>
                          <a:schemeClr val="tx1"/>
                        </a:solidFill>
                        <a:latin typeface="KoPubWorld돋움체 Bold"/>
                        <a:ea typeface="KoPubWorld돋움체 Bold"/>
                        <a:cs typeface="KoPubWorld돋움체 Bold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+10.1%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(24.7%)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분산 리스크 관리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퇴직연금 20~30대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</a:t>
                      </a:r>
                      <a:r>
                        <a:rPr sz="1000" dirty="0" smtClean="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1.</a:t>
                      </a:r>
                      <a:r>
                        <a:rPr lang="en-US" sz="1000" dirty="0" smtClean="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6</a:t>
                      </a:r>
                      <a:r>
                        <a:rPr sz="1000" dirty="0" smtClean="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%)</a:t>
                      </a:r>
                      <a:endParaRPr sz="1000" dirty="0">
                        <a:solidFill>
                          <a:srgbClr val="C00000"/>
                        </a:solidFill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+</a:t>
                      </a:r>
                      <a:r>
                        <a:rPr sz="1000" b="1" dirty="0" smtClean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5.7%</a:t>
                      </a:r>
                      <a:endParaRPr sz="1000" b="1" dirty="0">
                        <a:solidFill>
                          <a:schemeClr val="tx1"/>
                        </a:solidFill>
                        <a:latin typeface="KoPubWorld돋움체 Bold"/>
                        <a:ea typeface="KoPubWorld돋움체 Bold"/>
                        <a:cs typeface="KoPubWorld돋움체 Bold"/>
                      </a:endParaRP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+16.2%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1.30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(18.2%)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성장주 비중 79%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퇴직연금 40대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</a:t>
                      </a:r>
                      <a:r>
                        <a:rPr sz="1000" dirty="0" smtClean="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1.</a:t>
                      </a:r>
                      <a:r>
                        <a:rPr lang="en-US" sz="1000" dirty="0" smtClean="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4</a:t>
                      </a:r>
                      <a:r>
                        <a:rPr sz="1000" dirty="0" smtClean="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%)</a:t>
                      </a:r>
                      <a:endParaRPr sz="1000" dirty="0">
                        <a:solidFill>
                          <a:srgbClr val="C00000"/>
                        </a:solidFill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+</a:t>
                      </a:r>
                      <a:r>
                        <a:rPr sz="1000" b="1" dirty="0" smtClean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4.8%</a:t>
                      </a:r>
                      <a:endParaRPr sz="1000" b="1" dirty="0">
                        <a:solidFill>
                          <a:schemeClr val="tx1"/>
                        </a:solidFill>
                        <a:latin typeface="KoPubWorld돋움체 Bold"/>
                        <a:ea typeface="KoPubWorld돋움체 Bold"/>
                        <a:cs typeface="KoPubWorld돋움체 Bold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+14.5%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1.36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(15.5%)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 err="1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균형</a:t>
                      </a:r>
                      <a:r>
                        <a:rPr lang="en-US" sz="1000" baseline="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포트</a:t>
                      </a:r>
                      <a:endParaRPr sz="1000" dirty="0">
                        <a:solidFill>
                          <a:srgbClr val="1A1A1A"/>
                        </a:solidFill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퇴직연금 50대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</a:t>
                      </a:r>
                      <a:r>
                        <a:rPr sz="1000" dirty="0" smtClean="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0.8%)</a:t>
                      </a:r>
                      <a:endParaRPr sz="1000" dirty="0">
                        <a:solidFill>
                          <a:srgbClr val="C00000"/>
                        </a:solidFill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+</a:t>
                      </a:r>
                      <a:r>
                        <a:rPr sz="1000" b="1" dirty="0" smtClean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3.2%</a:t>
                      </a:r>
                      <a:endParaRPr sz="1000" b="1" dirty="0">
                        <a:solidFill>
                          <a:schemeClr val="tx1"/>
                        </a:solidFill>
                        <a:latin typeface="KoPubWorld돋움체 Bold"/>
                        <a:ea typeface="KoPubWorld돋움체 Bold"/>
                        <a:cs typeface="KoPubWorld돋움체 Bold"/>
                      </a:endParaRP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+11.4%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1.51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(10.8%)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 err="1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안정형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 (</a:t>
                      </a:r>
                      <a:r>
                        <a:rPr sz="1000" dirty="0" err="1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채권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 56%)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8" name="Rectangle 2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60" y="6517886"/>
            <a:ext cx="11430000" cy="3693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>
              <a:lnSpc>
                <a:spcPct val="120000"/>
              </a:lnSpc>
            </a:pP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정보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제공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목적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투자권유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자료가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아닙니다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보수차감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전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예상수익률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(gross of fees)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가정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특정 섹터나 종목의 언급이 매수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매도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보유 혹은 직접투자의 추천으로 해석되어서는 안됩니다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  <a:endParaRPr lang="en-US" sz="900" b="0" dirty="0" smtClean="0">
              <a:solidFill>
                <a:srgbClr val="8C8C8C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20000"/>
              </a:lnSpc>
            </a:pPr>
            <a:r>
              <a:rPr lang="en-US" altLang="ko-KR" sz="90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상기 내용은 시장 상황 및 운용 전략에 따라 집합투자업자의 판단으로 변경될 수 있으며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투자 참고 자료로 과거 실적이나 전망이 미래 수익을 보장하지 않고 그 정확성 및 완전성을 보장하지 않습니다</a:t>
            </a:r>
            <a:r>
              <a:rPr lang="en-US" altLang="ko-KR" sz="90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</a:t>
            </a:r>
            <a:endParaRPr lang="ko-KR" altLang="en-US" sz="900" dirty="0">
              <a:solidFill>
                <a:srgbClr val="8C8C8C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op-menu-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77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74320"/>
            <a:ext cx="114300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면책조항</a:t>
            </a:r>
            <a:r>
              <a:rPr sz="2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(Disclaimer)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36893"/>
            <a:ext cx="365760" cy="2215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1" dirty="0">
                <a:latin typeface="KoPubWorld돋움체 Bold"/>
                <a:ea typeface="KoPubWorld돋움체 Bold"/>
                <a:cs typeface="KoPubWorld돋움체 Bold"/>
              </a:rPr>
              <a:t>1</a:t>
            </a:r>
            <a:r>
              <a:rPr sz="1000" b="1" dirty="0" smtClean="0">
                <a:latin typeface="KoPubWorld돋움체 Bold"/>
                <a:ea typeface="KoPubWorld돋움체 Bold"/>
                <a:cs typeface="KoPubWorld돋움체 Bold"/>
              </a:rPr>
              <a:t>.</a:t>
            </a:r>
            <a:endParaRPr sz="1000" b="1" dirty="0"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1336893"/>
            <a:ext cx="11155680" cy="22544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금융투자상품은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자산가치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변동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금리·환율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변동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신용등급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하락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등에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따라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투자원금의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손실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(0~100%)이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발생할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수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있으며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, 그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손실은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투자자에게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귀속됩니다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794093"/>
            <a:ext cx="365760" cy="2215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1" dirty="0">
                <a:latin typeface="KoPubWorld돋움체 Bold"/>
                <a:ea typeface="KoPubWorld돋움체 Bold"/>
                <a:cs typeface="KoPubWorld돋움체 Bold"/>
              </a:rPr>
              <a:t>2</a:t>
            </a:r>
            <a:r>
              <a:rPr sz="1000" b="1" dirty="0" smtClean="0">
                <a:latin typeface="KoPubWorld돋움체 Bold"/>
                <a:ea typeface="KoPubWorld돋움체 Bold"/>
                <a:cs typeface="KoPubWorld돋움체 Bold"/>
              </a:rPr>
              <a:t>.</a:t>
            </a:r>
            <a:endParaRPr sz="1000" b="1" dirty="0"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1794093"/>
            <a:ext cx="11155680" cy="22544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금융투자상품은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예금자보호법에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따라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보호되지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않습니다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51293"/>
            <a:ext cx="365760" cy="2215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1" dirty="0">
                <a:latin typeface="KoPubWorld돋움체 Bold"/>
                <a:ea typeface="KoPubWorld돋움체 Bold"/>
                <a:cs typeface="KoPubWorld돋움체 Bold"/>
              </a:rPr>
              <a:t>3</a:t>
            </a:r>
            <a:r>
              <a:rPr sz="1000" b="1" dirty="0" smtClean="0">
                <a:latin typeface="KoPubWorld돋움체 Bold"/>
                <a:ea typeface="KoPubWorld돋움체 Bold"/>
                <a:cs typeface="KoPubWorld돋움체 Bold"/>
              </a:rPr>
              <a:t>.</a:t>
            </a:r>
            <a:endParaRPr sz="1000" b="1" dirty="0"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2251293"/>
            <a:ext cx="11155680" cy="22544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보수·수수료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외에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증권거래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비용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및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기타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비용이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추가로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발생할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수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있고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과세기준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및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방법은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향후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법령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변경에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따라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변동될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수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있습니다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08493"/>
            <a:ext cx="365760" cy="2215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1" dirty="0">
                <a:latin typeface="KoPubWorld돋움체 Bold"/>
                <a:ea typeface="KoPubWorld돋움체 Bold"/>
                <a:cs typeface="KoPubWorld돋움체 Bold"/>
              </a:rPr>
              <a:t>4</a:t>
            </a:r>
            <a:r>
              <a:rPr sz="1000" b="1" dirty="0" smtClean="0">
                <a:latin typeface="KoPubWorld돋움체 Bold"/>
                <a:ea typeface="KoPubWorld돋움체 Bold"/>
                <a:cs typeface="KoPubWorld돋움체 Bold"/>
              </a:rPr>
              <a:t>.</a:t>
            </a:r>
            <a:endParaRPr sz="1000" b="1" dirty="0"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2708493"/>
            <a:ext cx="11155680" cy="22544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과거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투자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성과는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미래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결과를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보장하지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않으며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투자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결정을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내리기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전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신중히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고려하시기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바랍니다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65693"/>
            <a:ext cx="365760" cy="2215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1" dirty="0" smtClean="0">
                <a:latin typeface="KoPubWorld돋움체 Bold"/>
                <a:ea typeface="KoPubWorld돋움체 Bold"/>
                <a:cs typeface="KoPubWorld돋움체 Bold"/>
              </a:rPr>
              <a:t>5</a:t>
            </a:r>
            <a:r>
              <a:rPr sz="1000" b="1" dirty="0" smtClean="0">
                <a:latin typeface="KoPubWorld돋움체 Bold"/>
                <a:ea typeface="KoPubWorld돋움체 Bold"/>
                <a:cs typeface="KoPubWorld돋움체 Bold"/>
              </a:rPr>
              <a:t>.</a:t>
            </a:r>
            <a:endParaRPr sz="1000" b="1" dirty="0"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7240" y="3165693"/>
            <a:ext cx="11155680" cy="22544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dirty="0" err="1" smtClean="0">
                <a:latin typeface="KoPubWorld돋움체 Medium"/>
                <a:ea typeface="KoPubWorld돋움체 Medium"/>
                <a:cs typeface="KoPubWorld돋움체 Medium"/>
              </a:rPr>
              <a:t>판매</a:t>
            </a:r>
            <a:r>
              <a:rPr lang="ko-KR" altLang="en-US" sz="1000" b="0" dirty="0" smtClean="0">
                <a:latin typeface="KoPubWorld돋움체 Medium"/>
                <a:ea typeface="KoPubWorld돋움체 Medium"/>
                <a:cs typeface="KoPubWorld돋움체 Medium"/>
              </a:rPr>
              <a:t>회</a:t>
            </a:r>
            <a:r>
              <a:rPr sz="1000" b="0" dirty="0" err="1" smtClean="0">
                <a:latin typeface="KoPubWorld돋움체 Medium"/>
                <a:ea typeface="KoPubWorld돋움체 Medium"/>
                <a:cs typeface="KoPubWorld돋움체 Medium"/>
              </a:rPr>
              <a:t>사는</a:t>
            </a:r>
            <a:r>
              <a:rPr sz="1000" b="0" dirty="0" smtClean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금융투자상품에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관하여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충분히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설명할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의무가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있으며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투자자는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투자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결정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전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반드시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(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간이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)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투자설명서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및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집합투자규약을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수령하여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상품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내용을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충분히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인지하신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후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투자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여부를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결정하시기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바랍니다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22893"/>
            <a:ext cx="365760" cy="2215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1" dirty="0" smtClean="0">
                <a:latin typeface="KoPubWorld돋움체 Bold"/>
                <a:ea typeface="KoPubWorld돋움체 Bold"/>
                <a:cs typeface="KoPubWorld돋움체 Bold"/>
              </a:rPr>
              <a:t>6</a:t>
            </a:r>
            <a:r>
              <a:rPr sz="1000" b="1" dirty="0" smtClean="0">
                <a:latin typeface="KoPubWorld돋움체 Bold"/>
                <a:ea typeface="KoPubWorld돋움체 Bold"/>
                <a:cs typeface="KoPubWorld돋움체 Bold"/>
              </a:rPr>
              <a:t>.</a:t>
            </a:r>
            <a:endParaRPr sz="1000" b="1" dirty="0"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77240" y="3622893"/>
            <a:ext cx="11414760" cy="2369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본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자료의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세부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운용계획은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특정시점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시장상황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기반의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예시적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운용계획이며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고객과의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합의·확약을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위해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작성된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것이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아닙니다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.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실제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운용은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시장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변화에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따라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집합투자규약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범위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내에서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본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자료와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다르게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이루어질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수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있습니다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080093"/>
            <a:ext cx="365760" cy="2215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1" dirty="0">
                <a:latin typeface="KoPubWorld돋움체 Bold"/>
                <a:ea typeface="KoPubWorld돋움체 Bold"/>
                <a:cs typeface="KoPubWorld돋움체 Bold"/>
              </a:rPr>
              <a:t>7</a:t>
            </a:r>
            <a:r>
              <a:rPr sz="1000" b="1" dirty="0" smtClean="0">
                <a:latin typeface="KoPubWorld돋움체 Bold"/>
                <a:ea typeface="KoPubWorld돋움체 Bold"/>
                <a:cs typeface="KoPubWorld돋움체 Bold"/>
              </a:rPr>
              <a:t>.</a:t>
            </a:r>
            <a:endParaRPr sz="1000" b="1" dirty="0"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7240" y="4080093"/>
            <a:ext cx="11155680" cy="22544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본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자료의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경제·시장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전망은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자료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작성일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시점의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당사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전망이며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사전통지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없이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변경될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수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있고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반드시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실현된다는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보장은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없습니다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537293"/>
            <a:ext cx="365760" cy="2215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1" dirty="0" smtClean="0">
                <a:latin typeface="KoPubWorld돋움체 Bold"/>
                <a:ea typeface="KoPubWorld돋움체 Bold"/>
                <a:cs typeface="KoPubWorld돋움체 Bold"/>
              </a:rPr>
              <a:t>8</a:t>
            </a:r>
            <a:r>
              <a:rPr sz="1000" b="1" dirty="0" smtClean="0">
                <a:latin typeface="KoPubWorld돋움체 Bold"/>
                <a:ea typeface="KoPubWorld돋움체 Bold"/>
                <a:cs typeface="KoPubWorld돋움체 Bold"/>
              </a:rPr>
              <a:t>.</a:t>
            </a:r>
            <a:endParaRPr sz="1000" b="1" dirty="0"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77240" y="4537293"/>
            <a:ext cx="11155680" cy="22544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본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자료의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정보는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신뢰할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만한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출처에서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취득한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자료를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기반으로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작성되었으나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완전함이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전적으로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당사에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의해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보장되지는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않습니다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994493"/>
            <a:ext cx="365760" cy="2215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1" dirty="0" smtClean="0">
                <a:latin typeface="KoPubWorld돋움체 Bold"/>
                <a:ea typeface="KoPubWorld돋움체 Bold"/>
                <a:cs typeface="KoPubWorld돋움체 Bold"/>
              </a:rPr>
              <a:t>9</a:t>
            </a:r>
            <a:r>
              <a:rPr sz="1000" b="1" dirty="0" smtClean="0">
                <a:latin typeface="KoPubWorld돋움체 Bold"/>
                <a:ea typeface="KoPubWorld돋움체 Bold"/>
                <a:cs typeface="KoPubWorld돋움체 Bold"/>
              </a:rPr>
              <a:t>.</a:t>
            </a:r>
            <a:endParaRPr sz="1000" b="1" dirty="0"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7240" y="4994493"/>
            <a:ext cx="11155680" cy="22544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특정회사·종목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언급이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매수·매도·보유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또는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직접투자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추천으로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해석되어서는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안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됩니다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451693"/>
            <a:ext cx="365760" cy="2215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1" dirty="0" smtClean="0">
                <a:latin typeface="KoPubWorld돋움체 Bold"/>
                <a:ea typeface="KoPubWorld돋움체 Bold"/>
                <a:cs typeface="KoPubWorld돋움체 Bold"/>
              </a:rPr>
              <a:t>10</a:t>
            </a:r>
            <a:r>
              <a:rPr sz="1000" b="1" dirty="0" smtClean="0">
                <a:latin typeface="KoPubWorld돋움체 Bold"/>
                <a:ea typeface="KoPubWorld돋움체 Bold"/>
                <a:cs typeface="KoPubWorld돋움체 Bold"/>
              </a:rPr>
              <a:t>.</a:t>
            </a:r>
            <a:endParaRPr sz="1000" b="1" dirty="0"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77240" y="5451693"/>
            <a:ext cx="11155680" cy="43704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000" dirty="0" smtClean="0">
                <a:latin typeface="KoPubWorld돋움체 Medium"/>
                <a:ea typeface="KoPubWorld돋움체 Medium"/>
                <a:cs typeface="KoPubWorld돋움체 Medium"/>
              </a:rPr>
              <a:t>본 </a:t>
            </a:r>
            <a:r>
              <a:rPr lang="ko-KR" altLang="en-US" sz="1000" dirty="0">
                <a:latin typeface="KoPubWorld돋움체 Medium"/>
                <a:ea typeface="KoPubWorld돋움체 Medium"/>
                <a:cs typeface="KoPubWorld돋움체 Medium"/>
              </a:rPr>
              <a:t>자료의 모든 정보는 당사 승인 없이 복제</a:t>
            </a:r>
            <a:r>
              <a:rPr lang="en-US" altLang="ko-KR" sz="1000" dirty="0">
                <a:latin typeface="KoPubWorld돋움체 Medium"/>
                <a:ea typeface="KoPubWorld돋움체 Medium"/>
                <a:cs typeface="KoPubWorld돋움체 Medium"/>
              </a:rPr>
              <a:t>·</a:t>
            </a:r>
            <a:r>
              <a:rPr lang="ko-KR" altLang="en-US" sz="1000" dirty="0">
                <a:latin typeface="KoPubWorld돋움체 Medium"/>
                <a:ea typeface="KoPubWorld돋움체 Medium"/>
                <a:cs typeface="KoPubWorld돋움체 Medium"/>
              </a:rPr>
              <a:t>유통될 수 없습니다</a:t>
            </a:r>
            <a:r>
              <a:rPr lang="en-US" altLang="ko-KR" sz="1000" dirty="0">
                <a:latin typeface="KoPubWorld돋움체 Medium"/>
                <a:ea typeface="KoPubWorld돋움체 Medium"/>
                <a:cs typeface="KoPubWorld돋움체 Medium"/>
              </a:rPr>
              <a:t>.</a:t>
            </a:r>
            <a:r>
              <a:rPr lang="ko-KR" altLang="en-US" sz="1000" dirty="0">
                <a:latin typeface="KoPubWorld돋움체 Medium"/>
                <a:ea typeface="KoPubWorld돋움체 Medium"/>
                <a:cs typeface="KoPubWorld돋움체 Medium"/>
              </a:rPr>
              <a:t> 무단 배포됨으로써 발생하는 문제에 대하여 당사는 책임을 부담하지 않으며</a:t>
            </a:r>
            <a:r>
              <a:rPr lang="en-US" altLang="ko-KR" sz="1000" dirty="0"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1000" dirty="0">
                <a:latin typeface="KoPubWorld돋움체 Medium"/>
                <a:ea typeface="KoPubWorld돋움체 Medium"/>
                <a:cs typeface="KoPubWorld돋움체 Medium"/>
              </a:rPr>
              <a:t>투자 결과의 법적 책임소재 증빙자료로 사용될 수 없습니다</a:t>
            </a:r>
            <a:r>
              <a:rPr lang="en-US" altLang="ko-KR" sz="1000" dirty="0">
                <a:latin typeface="KoPubWorld돋움체 Medium"/>
                <a:ea typeface="KoPubWorld돋움체 Medium"/>
                <a:cs typeface="KoPubWorld돋움체 Medium"/>
              </a:rPr>
              <a:t>.</a:t>
            </a:r>
            <a:endParaRPr lang="ko-KR" altLang="en-US" sz="1000" dirty="0"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30000"/>
              </a:lnSpc>
            </a:pPr>
            <a:endParaRPr sz="1000" b="0" dirty="0"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430000" y="6565392"/>
            <a:ext cx="64008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13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03120" cy="54864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606040"/>
            <a:ext cx="12191695" cy="11887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7200" b="1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감사합니다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931920"/>
            <a:ext cx="2103120" cy="54864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>
                <a:solidFill>
                  <a:srgbClr val="C7D4ED"/>
                </a:solidFill>
                <a:latin typeface="KoPubWorld돋움체 Medium"/>
                <a:ea typeface="KoPubWorld돋움체 Medium"/>
                <a:cs typeface="KoPubWorld돋움체 Medium"/>
              </a:rPr>
              <a:t>K C G I  자 산 운 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754880"/>
            <a:ext cx="12191695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D8D8D8"/>
                </a:solidFill>
                <a:latin typeface="KoPubWorld돋움체 Medium"/>
                <a:ea typeface="KoPubWorld돋움체 Medium"/>
                <a:cs typeface="KoPubWorld돋움체 Medium"/>
              </a:rPr>
              <a:t>kcgiam.com  ·  뉴스핌 월간 — 2026.05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3426</Words>
  <Application>Microsoft Office PowerPoint</Application>
  <PresentationFormat>와이드스크린</PresentationFormat>
  <Paragraphs>490</Paragraphs>
  <Slides>13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9" baseType="lpstr">
      <vt:lpstr>KoPubWorld돋움체 Bold</vt:lpstr>
      <vt:lpstr>KoPubWorld돋움체 Medium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KCGIAM</dc:creator>
  <cp:keywords/>
  <dc:description>generated using python-pptx</dc:description>
  <cp:lastModifiedBy>kcgi</cp:lastModifiedBy>
  <cp:revision>32</cp:revision>
  <dcterms:created xsi:type="dcterms:W3CDTF">2013-01-27T09:14:16Z</dcterms:created>
  <dcterms:modified xsi:type="dcterms:W3CDTF">2026-06-01T23:51:29Z</dcterms:modified>
  <cp:category/>
</cp:coreProperties>
</file>