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76" r:id="rId3"/>
    <p:sldId id="277" r:id="rId4"/>
    <p:sldId id="278" r:id="rId5"/>
    <p:sldId id="275" r:id="rId6"/>
    <p:sldId id="269" r:id="rId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08" d="100"/>
          <a:sy n="108" d="100"/>
        </p:scale>
        <p:origin x="678" y="7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CC0F455-62AD-4B2B-A33A-13F0B038F0E4}" type="datetimeFigureOut">
              <a:rPr lang="ko-KR" altLang="en-US" smtClean="0"/>
              <a:t>2026-06-01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8B3F86D-5F0F-46B0-A96E-9B0A0592F01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399815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8.png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0.png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918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3" name="TextBox 2"/>
          <p:cNvSpPr txBox="1"/>
          <p:nvPr/>
        </p:nvSpPr>
        <p:spPr>
          <a:xfrm>
            <a:off x="731520" y="2194560"/>
            <a:ext cx="10058400" cy="54864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C7D4ED"/>
                </a:solidFill>
                <a:latin typeface="KoPubWorld돋움체 Bold"/>
                <a:ea typeface="KoPubWorld돋움체 Bold"/>
                <a:cs typeface="KoPubWorld돋움체 Bold"/>
              </a:rPr>
              <a:t>2026년 5월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606040"/>
            <a:ext cx="10972800" cy="91440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4400" b="1" dirty="0" err="1">
                <a:solidFill>
                  <a:srgbClr val="FFFFFF"/>
                </a:solidFill>
                <a:latin typeface="KoPubWorld돋움체 Bold"/>
                <a:ea typeface="KoPubWorld돋움체 Bold"/>
                <a:cs typeface="KoPubWorld돋움체 Bold"/>
              </a:rPr>
              <a:t>뉴스핌</a:t>
            </a:r>
            <a:r>
              <a:rPr sz="4400" b="1" dirty="0">
                <a:solidFill>
                  <a:srgbClr val="FFFFFF"/>
                </a:solidFill>
                <a:latin typeface="KoPubWorld돋움체 Bold"/>
                <a:ea typeface="KoPubWorld돋움체 Bold"/>
                <a:cs typeface="KoPubWorld돋움체 Bold"/>
              </a:rPr>
              <a:t> </a:t>
            </a:r>
            <a:r>
              <a:rPr sz="4400" b="1" dirty="0" err="1">
                <a:solidFill>
                  <a:srgbClr val="FFFFFF"/>
                </a:solidFill>
                <a:latin typeface="KoPubWorld돋움체 Bold"/>
                <a:ea typeface="KoPubWorld돋움체 Bold"/>
                <a:cs typeface="KoPubWorld돋움체 Bold"/>
              </a:rPr>
              <a:t>월간</a:t>
            </a:r>
            <a:r>
              <a:rPr sz="4400" b="1" dirty="0">
                <a:solidFill>
                  <a:srgbClr val="FFFFFF"/>
                </a:solidFill>
                <a:latin typeface="KoPubWorld돋움체 Bold"/>
                <a:ea typeface="KoPubWorld돋움체 Bold"/>
                <a:cs typeface="KoPubWorld돋움체 Bold"/>
              </a:rPr>
              <a:t> </a:t>
            </a:r>
            <a:r>
              <a:rPr sz="4400" b="1" dirty="0" err="1">
                <a:solidFill>
                  <a:srgbClr val="FFFFFF"/>
                </a:solidFill>
                <a:latin typeface="KoPubWorld돋움체 Bold"/>
                <a:ea typeface="KoPubWorld돋움체 Bold"/>
                <a:cs typeface="KoPubWorld돋움체 Bold"/>
              </a:rPr>
              <a:t>추천</a:t>
            </a:r>
            <a:r>
              <a:rPr sz="4400" b="1" dirty="0">
                <a:solidFill>
                  <a:srgbClr val="FFFFFF"/>
                </a:solidFill>
                <a:latin typeface="KoPubWorld돋움체 Bold"/>
                <a:ea typeface="KoPubWorld돋움체 Bold"/>
                <a:cs typeface="KoPubWorld돋움체 Bold"/>
              </a:rPr>
              <a:t> </a:t>
            </a:r>
            <a:r>
              <a:rPr sz="4400" b="1" dirty="0" err="1">
                <a:solidFill>
                  <a:srgbClr val="FFFFFF"/>
                </a:solidFill>
                <a:latin typeface="KoPubWorld돋움체 Bold"/>
                <a:ea typeface="KoPubWorld돋움체 Bold"/>
                <a:cs typeface="KoPubWorld돋움체 Bold"/>
              </a:rPr>
              <a:t>포트폴리오</a:t>
            </a:r>
            <a:endParaRPr sz="4400" b="1" dirty="0">
              <a:solidFill>
                <a:srgbClr val="FFFFFF"/>
              </a:solidFill>
              <a:latin typeface="KoPubWorld돋움체 Bold"/>
              <a:ea typeface="KoPubWorld돋움체 Bold"/>
              <a:cs typeface="KoPubWorld돋움체 Bold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731520" y="3703320"/>
            <a:ext cx="2011680" cy="54864"/>
          </a:xfrm>
          <a:prstGeom prst="rect">
            <a:avLst/>
          </a:prstGeom>
          <a:solidFill>
            <a:srgbClr val="C9A8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" y="3840480"/>
            <a:ext cx="10058400" cy="45720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1">
                <a:solidFill>
                  <a:srgbClr val="E7EAF1"/>
                </a:solidFill>
                <a:latin typeface="KoPubWorld돋움체 Bold"/>
                <a:ea typeface="KoPubWorld돋움체 Bold"/>
                <a:cs typeface="KoPubWorld돋움체 Bold"/>
              </a:rPr>
              <a:t>퇴직연금 &amp; 여유자금 포트폴리오 솔루션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434840"/>
            <a:ext cx="10058400" cy="295466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 dirty="0">
                <a:solidFill>
                  <a:srgbClr val="C9A85B"/>
                </a:solidFill>
                <a:latin typeface="KoPubWorld돋움체 Medium"/>
                <a:ea typeface="KoPubWorld돋움체 Medium"/>
                <a:cs typeface="KoPubWorld돋움체 Medium"/>
              </a:rPr>
              <a:t>AI </a:t>
            </a:r>
            <a:r>
              <a:rPr sz="1400" b="0" dirty="0" err="1">
                <a:solidFill>
                  <a:srgbClr val="C9A85B"/>
                </a:solidFill>
                <a:latin typeface="KoPubWorld돋움체 Medium"/>
                <a:ea typeface="KoPubWorld돋움체 Medium"/>
                <a:cs typeface="KoPubWorld돋움체 Medium"/>
              </a:rPr>
              <a:t>투자</a:t>
            </a:r>
            <a:r>
              <a:rPr sz="1400" b="0" dirty="0">
                <a:solidFill>
                  <a:srgbClr val="C9A85B"/>
                </a:solidFill>
                <a:latin typeface="KoPubWorld돋움체 Medium"/>
                <a:ea typeface="KoPubWorld돋움체 Medium"/>
                <a:cs typeface="KoPubWorld돋움체 Medium"/>
              </a:rPr>
              <a:t> </a:t>
            </a:r>
            <a:r>
              <a:rPr sz="1400" b="0" dirty="0" err="1">
                <a:solidFill>
                  <a:srgbClr val="C9A85B"/>
                </a:solidFill>
                <a:latin typeface="KoPubWorld돋움체 Medium"/>
                <a:ea typeface="KoPubWorld돋움체 Medium"/>
                <a:cs typeface="KoPubWorld돋움체 Medium"/>
              </a:rPr>
              <a:t>흐름</a:t>
            </a:r>
            <a:r>
              <a:rPr sz="1400" b="0" dirty="0">
                <a:solidFill>
                  <a:srgbClr val="C9A85B"/>
                </a:solidFill>
                <a:latin typeface="KoPubWorld돋움체 Medium"/>
                <a:ea typeface="KoPubWorld돋움체 Medium"/>
                <a:cs typeface="KoPubWorld돋움체 Medium"/>
              </a:rPr>
              <a:t> </a:t>
            </a:r>
            <a:r>
              <a:rPr sz="1400" b="0" dirty="0" err="1">
                <a:solidFill>
                  <a:srgbClr val="C9A85B"/>
                </a:solidFill>
                <a:latin typeface="KoPubWorld돋움체 Medium"/>
                <a:ea typeface="KoPubWorld돋움체 Medium"/>
                <a:cs typeface="KoPubWorld돋움체 Medium"/>
              </a:rPr>
              <a:t>강화</a:t>
            </a:r>
            <a:r>
              <a:rPr sz="1400" b="0" dirty="0">
                <a:solidFill>
                  <a:srgbClr val="C9A85B"/>
                </a:solidFill>
                <a:latin typeface="KoPubWorld돋움체 Medium"/>
                <a:ea typeface="KoPubWorld돋움체 Medium"/>
                <a:cs typeface="KoPubWorld돋움체 Medium"/>
              </a:rPr>
              <a:t> — </a:t>
            </a:r>
            <a:r>
              <a:rPr sz="1400" b="0" dirty="0" err="1">
                <a:solidFill>
                  <a:srgbClr val="C9A85B"/>
                </a:solidFill>
                <a:latin typeface="KoPubWorld돋움체 Medium"/>
                <a:ea typeface="KoPubWorld돋움체 Medium"/>
                <a:cs typeface="KoPubWorld돋움체 Medium"/>
              </a:rPr>
              <a:t>장기</a:t>
            </a:r>
            <a:r>
              <a:rPr sz="1400" b="0" dirty="0">
                <a:solidFill>
                  <a:srgbClr val="C9A85B"/>
                </a:solidFill>
                <a:latin typeface="KoPubWorld돋움체 Medium"/>
                <a:ea typeface="KoPubWorld돋움체 Medium"/>
                <a:cs typeface="KoPubWorld돋움체 Medium"/>
              </a:rPr>
              <a:t> </a:t>
            </a:r>
            <a:r>
              <a:rPr sz="1400" b="0" dirty="0" err="1">
                <a:solidFill>
                  <a:srgbClr val="C9A85B"/>
                </a:solidFill>
                <a:latin typeface="KoPubWorld돋움체 Medium"/>
                <a:ea typeface="KoPubWorld돋움체 Medium"/>
                <a:cs typeface="KoPubWorld돋움체 Medium"/>
              </a:rPr>
              <a:t>성장</a:t>
            </a:r>
            <a:r>
              <a:rPr sz="1400" b="0" dirty="0">
                <a:solidFill>
                  <a:srgbClr val="C9A85B"/>
                </a:solidFill>
                <a:latin typeface="KoPubWorld돋움체 Medium"/>
                <a:ea typeface="KoPubWorld돋움체 Medium"/>
                <a:cs typeface="KoPubWorld돋움체 Medium"/>
              </a:rPr>
              <a:t> vs. </a:t>
            </a:r>
            <a:r>
              <a:rPr sz="1400" b="0" dirty="0" err="1">
                <a:solidFill>
                  <a:srgbClr val="C9A85B"/>
                </a:solidFill>
                <a:latin typeface="KoPubWorld돋움체 Medium"/>
                <a:ea typeface="KoPubWorld돋움체 Medium"/>
                <a:cs typeface="KoPubWorld돋움체 Medium"/>
              </a:rPr>
              <a:t>단기</a:t>
            </a:r>
            <a:r>
              <a:rPr sz="1400" b="0" dirty="0">
                <a:solidFill>
                  <a:srgbClr val="C9A85B"/>
                </a:solidFill>
                <a:latin typeface="KoPubWorld돋움체 Medium"/>
                <a:ea typeface="KoPubWorld돋움체 Medium"/>
                <a:cs typeface="KoPubWorld돋움체 Medium"/>
              </a:rPr>
              <a:t> </a:t>
            </a:r>
            <a:r>
              <a:rPr sz="1400" b="0" dirty="0" err="1" smtClean="0">
                <a:solidFill>
                  <a:srgbClr val="C9A85B"/>
                </a:solidFill>
                <a:latin typeface="KoPubWorld돋움체 Medium"/>
                <a:ea typeface="KoPubWorld돋움체 Medium"/>
                <a:cs typeface="KoPubWorld돋움체 Medium"/>
              </a:rPr>
              <a:t>과열</a:t>
            </a:r>
            <a:endParaRPr sz="1400" b="0" dirty="0">
              <a:solidFill>
                <a:srgbClr val="C9A85B"/>
              </a:solidFill>
              <a:latin typeface="KoPubWorld돋움체 Medium"/>
              <a:ea typeface="KoPubWorld돋움체 Medium"/>
              <a:cs typeface="KoPubWorld돋움체 Medium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365760" y="5120640"/>
            <a:ext cx="2221992" cy="960120"/>
          </a:xfrm>
          <a:prstGeom prst="rect">
            <a:avLst/>
          </a:prstGeom>
          <a:solidFill>
            <a:srgbClr val="0A0D3F"/>
          </a:solidFill>
          <a:ln w="7620">
            <a:solidFill>
              <a:srgbClr val="C9A8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84632" y="5166360"/>
            <a:ext cx="2057400" cy="240066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dirty="0" err="1">
                <a:solidFill>
                  <a:srgbClr val="C7D4ED"/>
                </a:solidFill>
                <a:latin typeface="KoPubWorld돋움체 Bold"/>
                <a:ea typeface="KoPubWorld돋움체 Bold"/>
                <a:cs typeface="KoPubWorld돋움체 Bold"/>
              </a:rPr>
              <a:t>퇴직연금</a:t>
            </a:r>
            <a:r>
              <a:rPr sz="1100" b="1" dirty="0">
                <a:solidFill>
                  <a:srgbClr val="C7D4ED"/>
                </a:solidFill>
                <a:latin typeface="KoPubWorld돋움체 Bold"/>
                <a:ea typeface="KoPubWorld돋움체 Bold"/>
                <a:cs typeface="KoPubWorld돋움체 Bold"/>
              </a:rPr>
              <a:t> 20~30대 </a:t>
            </a:r>
            <a:r>
              <a:rPr lang="en-US" sz="1100" b="1" dirty="0" smtClean="0">
                <a:solidFill>
                  <a:srgbClr val="C7D4ED"/>
                </a:solidFill>
                <a:latin typeface="KoPubWorld돋움체 Bold"/>
                <a:ea typeface="KoPubWorld돋움체 Bold"/>
                <a:cs typeface="KoPubWorld돋움체 Bold"/>
              </a:rPr>
              <a:t>MP </a:t>
            </a:r>
            <a:r>
              <a:rPr sz="1100" b="1" dirty="0" smtClean="0">
                <a:solidFill>
                  <a:srgbClr val="C7D4ED"/>
                </a:solidFill>
                <a:latin typeface="KoPubWorld돋움체 Bold"/>
                <a:ea typeface="KoPubWorld돋움체 Bold"/>
                <a:cs typeface="KoPubWorld돋움체 Bold"/>
              </a:rPr>
              <a:t>(4</a:t>
            </a:r>
            <a:r>
              <a:rPr sz="1100" b="1" dirty="0">
                <a:solidFill>
                  <a:srgbClr val="C7D4ED"/>
                </a:solidFill>
                <a:latin typeface="KoPubWorld돋움체 Bold"/>
                <a:ea typeface="KoPubWorld돋움체 Bold"/>
                <a:cs typeface="KoPubWorld돋움체 Bold"/>
              </a:rPr>
              <a:t>월)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84632" y="5458968"/>
            <a:ext cx="2057400" cy="41148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1" dirty="0">
                <a:solidFill>
                  <a:srgbClr val="C9A85B"/>
                </a:solidFill>
                <a:latin typeface="KoPubWorld돋움체 Bold"/>
                <a:ea typeface="KoPubWorld돋움체 Bold"/>
                <a:cs typeface="KoPubWorld돋움체 Bold"/>
              </a:rPr>
              <a:t>+</a:t>
            </a:r>
            <a:r>
              <a:rPr sz="2000" b="1" dirty="0" smtClean="0">
                <a:solidFill>
                  <a:srgbClr val="C9A85B"/>
                </a:solidFill>
                <a:latin typeface="KoPubWorld돋움체 Bold"/>
                <a:ea typeface="KoPubWorld돋움체 Bold"/>
                <a:cs typeface="KoPubWorld돋움체 Bold"/>
              </a:rPr>
              <a:t>5.7%</a:t>
            </a:r>
            <a:endParaRPr sz="2000" b="1" dirty="0">
              <a:solidFill>
                <a:srgbClr val="C9A85B"/>
              </a:solidFill>
              <a:latin typeface="KoPubWorld돋움체 Bold"/>
              <a:ea typeface="KoPubWorld돋움체 Bold"/>
              <a:cs typeface="KoPubWorld돋움체 Bold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484632" y="5852160"/>
            <a:ext cx="2057400" cy="203133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 dirty="0">
                <a:solidFill>
                  <a:srgbClr val="E7EAF1"/>
                </a:solidFill>
                <a:latin typeface="KoPubWorld돋움체 Medium"/>
                <a:ea typeface="KoPubWorld돋움체 Medium"/>
                <a:cs typeface="KoPubWorld돋움체 Medium"/>
              </a:rPr>
              <a:t>6개월 +</a:t>
            </a:r>
            <a:r>
              <a:rPr sz="900" b="0" dirty="0" smtClean="0">
                <a:solidFill>
                  <a:srgbClr val="E7EAF1"/>
                </a:solidFill>
                <a:latin typeface="KoPubWorld돋움체 Medium"/>
                <a:ea typeface="KoPubWorld돋움체 Medium"/>
                <a:cs typeface="KoPubWorld돋움체 Medium"/>
              </a:rPr>
              <a:t>20.4%</a:t>
            </a:r>
            <a:endParaRPr sz="900" b="0" dirty="0">
              <a:solidFill>
                <a:srgbClr val="E7EAF1"/>
              </a:solidFill>
              <a:latin typeface="KoPubWorld돋움체 Medium"/>
              <a:ea typeface="KoPubWorld돋움체 Medium"/>
              <a:cs typeface="KoPubWorld돋움체 Medium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2679192" y="5120640"/>
            <a:ext cx="2221992" cy="960120"/>
          </a:xfrm>
          <a:prstGeom prst="rect">
            <a:avLst/>
          </a:prstGeom>
          <a:solidFill>
            <a:srgbClr val="0A0D3F"/>
          </a:solidFill>
          <a:ln w="7620">
            <a:solidFill>
              <a:srgbClr val="C9A8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2798064" y="5166360"/>
            <a:ext cx="2057400" cy="240066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>
              <a:lnSpc>
                <a:spcPct val="120000"/>
              </a:lnSpc>
            </a:pPr>
            <a:r>
              <a:rPr sz="1100" b="1" dirty="0" err="1">
                <a:solidFill>
                  <a:srgbClr val="C7D4ED"/>
                </a:solidFill>
                <a:latin typeface="KoPubWorld돋움체 Bold"/>
                <a:ea typeface="KoPubWorld돋움체 Bold"/>
                <a:cs typeface="KoPubWorld돋움체 Bold"/>
              </a:rPr>
              <a:t>퇴직연금</a:t>
            </a:r>
            <a:r>
              <a:rPr sz="1100" b="1" dirty="0">
                <a:solidFill>
                  <a:srgbClr val="C7D4ED"/>
                </a:solidFill>
                <a:latin typeface="KoPubWorld돋움체 Bold"/>
                <a:ea typeface="KoPubWorld돋움체 Bold"/>
                <a:cs typeface="KoPubWorld돋움체 Bold"/>
              </a:rPr>
              <a:t> 40</a:t>
            </a:r>
            <a:r>
              <a:rPr sz="1100" b="1" dirty="0" smtClean="0">
                <a:solidFill>
                  <a:srgbClr val="C7D4ED"/>
                </a:solidFill>
                <a:latin typeface="KoPubWorld돋움체 Bold"/>
                <a:ea typeface="KoPubWorld돋움체 Bold"/>
                <a:cs typeface="KoPubWorld돋움체 Bold"/>
              </a:rPr>
              <a:t>대</a:t>
            </a:r>
            <a:r>
              <a:rPr lang="en-US" altLang="ko-KR" sz="1100" b="1" dirty="0">
                <a:solidFill>
                  <a:srgbClr val="C7D4ED"/>
                </a:solidFill>
                <a:latin typeface="KoPubWorld돋움체 Bold"/>
                <a:ea typeface="KoPubWorld돋움체 Bold"/>
                <a:cs typeface="KoPubWorld돋움체 Bold"/>
              </a:rPr>
              <a:t> MP </a:t>
            </a:r>
            <a:r>
              <a:rPr sz="1100" b="1" dirty="0" smtClean="0">
                <a:solidFill>
                  <a:srgbClr val="C7D4ED"/>
                </a:solidFill>
                <a:latin typeface="KoPubWorld돋움체 Bold"/>
                <a:ea typeface="KoPubWorld돋움체 Bold"/>
                <a:cs typeface="KoPubWorld돋움체 Bold"/>
              </a:rPr>
              <a:t>(</a:t>
            </a:r>
            <a:r>
              <a:rPr sz="1100" b="1" dirty="0">
                <a:solidFill>
                  <a:srgbClr val="C7D4ED"/>
                </a:solidFill>
                <a:latin typeface="KoPubWorld돋움체 Bold"/>
                <a:ea typeface="KoPubWorld돋움체 Bold"/>
                <a:cs typeface="KoPubWorld돋움체 Bold"/>
              </a:rPr>
              <a:t>4월)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98064" y="5458968"/>
            <a:ext cx="2057400" cy="41148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1" dirty="0">
                <a:solidFill>
                  <a:srgbClr val="C9A85B"/>
                </a:solidFill>
                <a:latin typeface="KoPubWorld돋움체 Bold"/>
                <a:ea typeface="KoPubWorld돋움체 Bold"/>
                <a:cs typeface="KoPubWorld돋움체 Bold"/>
              </a:rPr>
              <a:t>+</a:t>
            </a:r>
            <a:r>
              <a:rPr sz="2000" b="1" dirty="0" smtClean="0">
                <a:solidFill>
                  <a:srgbClr val="C9A85B"/>
                </a:solidFill>
                <a:latin typeface="KoPubWorld돋움체 Bold"/>
                <a:ea typeface="KoPubWorld돋움체 Bold"/>
                <a:cs typeface="KoPubWorld돋움체 Bold"/>
              </a:rPr>
              <a:t>4.8%</a:t>
            </a:r>
            <a:endParaRPr sz="2000" b="1" dirty="0">
              <a:solidFill>
                <a:srgbClr val="C9A85B"/>
              </a:solidFill>
              <a:latin typeface="KoPubWorld돋움체 Bold"/>
              <a:ea typeface="KoPubWorld돋움체 Bold"/>
              <a:cs typeface="KoPubWorld돋움체 Bold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2798064" y="5852160"/>
            <a:ext cx="2057400" cy="203133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 dirty="0">
                <a:solidFill>
                  <a:srgbClr val="E7EAF1"/>
                </a:solidFill>
                <a:latin typeface="KoPubWorld돋움체 Medium"/>
                <a:ea typeface="KoPubWorld돋움체 Medium"/>
                <a:cs typeface="KoPubWorld돋움체 Medium"/>
              </a:rPr>
              <a:t>6개월 +</a:t>
            </a:r>
            <a:r>
              <a:rPr sz="900" b="0" dirty="0" smtClean="0">
                <a:solidFill>
                  <a:srgbClr val="E7EAF1"/>
                </a:solidFill>
                <a:latin typeface="KoPubWorld돋움체 Medium"/>
                <a:ea typeface="KoPubWorld돋움체 Medium"/>
                <a:cs typeface="KoPubWorld돋움체 Medium"/>
              </a:rPr>
              <a:t>17.5%</a:t>
            </a:r>
            <a:endParaRPr sz="900" b="0" dirty="0">
              <a:solidFill>
                <a:srgbClr val="E7EAF1"/>
              </a:solidFill>
              <a:latin typeface="KoPubWorld돋움체 Medium"/>
              <a:ea typeface="KoPubWorld돋움체 Medium"/>
              <a:cs typeface="KoPubWorld돋움체 Medium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4992624" y="5120640"/>
            <a:ext cx="2221992" cy="960120"/>
          </a:xfrm>
          <a:prstGeom prst="rect">
            <a:avLst/>
          </a:prstGeom>
          <a:solidFill>
            <a:srgbClr val="0A0D3F"/>
          </a:solidFill>
          <a:ln w="7620">
            <a:solidFill>
              <a:srgbClr val="C9A8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111496" y="5166360"/>
            <a:ext cx="2057400" cy="240066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dirty="0" err="1">
                <a:solidFill>
                  <a:srgbClr val="C7D4ED"/>
                </a:solidFill>
                <a:latin typeface="KoPubWorld돋움체 Bold"/>
                <a:ea typeface="KoPubWorld돋움체 Bold"/>
                <a:cs typeface="KoPubWorld돋움체 Bold"/>
              </a:rPr>
              <a:t>퇴직연금</a:t>
            </a:r>
            <a:r>
              <a:rPr sz="1100" b="1" dirty="0">
                <a:solidFill>
                  <a:srgbClr val="C7D4ED"/>
                </a:solidFill>
                <a:latin typeface="KoPubWorld돋움체 Bold"/>
                <a:ea typeface="KoPubWorld돋움체 Bold"/>
                <a:cs typeface="KoPubWorld돋움체 Bold"/>
              </a:rPr>
              <a:t> 50대 </a:t>
            </a:r>
            <a:r>
              <a:rPr lang="en-US" sz="1100" b="1" dirty="0" smtClean="0">
                <a:solidFill>
                  <a:srgbClr val="C7D4ED"/>
                </a:solidFill>
                <a:latin typeface="KoPubWorld돋움체 Bold"/>
                <a:ea typeface="KoPubWorld돋움체 Bold"/>
                <a:cs typeface="KoPubWorld돋움체 Bold"/>
              </a:rPr>
              <a:t>MP </a:t>
            </a:r>
            <a:r>
              <a:rPr sz="1100" b="1" dirty="0" smtClean="0">
                <a:solidFill>
                  <a:srgbClr val="C7D4ED"/>
                </a:solidFill>
                <a:latin typeface="KoPubWorld돋움체 Bold"/>
                <a:ea typeface="KoPubWorld돋움체 Bold"/>
                <a:cs typeface="KoPubWorld돋움체 Bold"/>
              </a:rPr>
              <a:t>(4</a:t>
            </a:r>
            <a:r>
              <a:rPr sz="1100" b="1" dirty="0">
                <a:solidFill>
                  <a:srgbClr val="C7D4ED"/>
                </a:solidFill>
                <a:latin typeface="KoPubWorld돋움체 Bold"/>
                <a:ea typeface="KoPubWorld돋움체 Bold"/>
                <a:cs typeface="KoPubWorld돋움체 Bold"/>
              </a:rPr>
              <a:t>월)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111496" y="5458968"/>
            <a:ext cx="2057400" cy="41148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1" dirty="0">
                <a:solidFill>
                  <a:srgbClr val="C9A85B"/>
                </a:solidFill>
                <a:latin typeface="KoPubWorld돋움체 Bold"/>
                <a:ea typeface="KoPubWorld돋움체 Bold"/>
                <a:cs typeface="KoPubWorld돋움체 Bold"/>
              </a:rPr>
              <a:t>+</a:t>
            </a:r>
            <a:r>
              <a:rPr sz="2000" b="1" dirty="0" smtClean="0">
                <a:solidFill>
                  <a:srgbClr val="C9A85B"/>
                </a:solidFill>
                <a:latin typeface="KoPubWorld돋움체 Bold"/>
                <a:ea typeface="KoPubWorld돋움체 Bold"/>
                <a:cs typeface="KoPubWorld돋움체 Bold"/>
              </a:rPr>
              <a:t>3.2%</a:t>
            </a:r>
            <a:endParaRPr sz="2000" b="1" dirty="0">
              <a:solidFill>
                <a:srgbClr val="C9A85B"/>
              </a:solidFill>
              <a:latin typeface="KoPubWorld돋움체 Bold"/>
              <a:ea typeface="KoPubWorld돋움체 Bold"/>
              <a:cs typeface="KoPubWorld돋움체 Bold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5111496" y="5852160"/>
            <a:ext cx="2057400" cy="203133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 dirty="0">
                <a:solidFill>
                  <a:srgbClr val="E7EAF1"/>
                </a:solidFill>
                <a:latin typeface="KoPubWorld돋움체 Medium"/>
                <a:ea typeface="KoPubWorld돋움체 Medium"/>
                <a:cs typeface="KoPubWorld돋움체 Medium"/>
              </a:rPr>
              <a:t>6개월 +</a:t>
            </a:r>
            <a:r>
              <a:rPr sz="900" b="0" dirty="0" smtClean="0">
                <a:solidFill>
                  <a:srgbClr val="E7EAF1"/>
                </a:solidFill>
                <a:latin typeface="KoPubWorld돋움체 Medium"/>
                <a:ea typeface="KoPubWorld돋움체 Medium"/>
                <a:cs typeface="KoPubWorld돋움체 Medium"/>
              </a:rPr>
              <a:t>12.</a:t>
            </a:r>
            <a:r>
              <a:rPr lang="en-US" sz="900" b="0" dirty="0" smtClean="0">
                <a:solidFill>
                  <a:srgbClr val="E7EAF1"/>
                </a:solidFill>
                <a:latin typeface="KoPubWorld돋움체 Medium"/>
                <a:ea typeface="KoPubWorld돋움체 Medium"/>
                <a:cs typeface="KoPubWorld돋움체 Medium"/>
              </a:rPr>
              <a:t>8</a:t>
            </a:r>
            <a:r>
              <a:rPr sz="900" b="0" dirty="0" smtClean="0">
                <a:solidFill>
                  <a:srgbClr val="E7EAF1"/>
                </a:solidFill>
                <a:latin typeface="KoPubWorld돋움체 Medium"/>
                <a:ea typeface="KoPubWorld돋움체 Medium"/>
                <a:cs typeface="KoPubWorld돋움체 Medium"/>
              </a:rPr>
              <a:t>%</a:t>
            </a:r>
            <a:endParaRPr sz="900" b="0" dirty="0">
              <a:solidFill>
                <a:srgbClr val="E7EAF1"/>
              </a:solidFill>
              <a:latin typeface="KoPubWorld돋움체 Medium"/>
              <a:ea typeface="KoPubWorld돋움체 Medium"/>
              <a:cs typeface="KoPubWorld돋움체 Medium"/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7306056" y="5120640"/>
            <a:ext cx="2221992" cy="960120"/>
          </a:xfrm>
          <a:prstGeom prst="rect">
            <a:avLst/>
          </a:prstGeom>
          <a:solidFill>
            <a:srgbClr val="0A0D3F"/>
          </a:solidFill>
          <a:ln w="7620">
            <a:solidFill>
              <a:srgbClr val="C9A8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7424928" y="5166360"/>
            <a:ext cx="2057400" cy="240066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dirty="0" err="1">
                <a:solidFill>
                  <a:srgbClr val="C7D4ED"/>
                </a:solidFill>
                <a:latin typeface="KoPubWorld돋움체 Bold"/>
                <a:ea typeface="KoPubWorld돋움체 Bold"/>
                <a:cs typeface="KoPubWorld돋움체 Bold"/>
              </a:rPr>
              <a:t>적극적</a:t>
            </a:r>
            <a:r>
              <a:rPr sz="1100" b="1" dirty="0">
                <a:solidFill>
                  <a:srgbClr val="C7D4ED"/>
                </a:solidFill>
                <a:latin typeface="KoPubWorld돋움체 Bold"/>
                <a:ea typeface="KoPubWorld돋움체 Bold"/>
                <a:cs typeface="KoPubWorld돋움체 Bold"/>
              </a:rPr>
              <a:t> </a:t>
            </a:r>
            <a:r>
              <a:rPr sz="1100" b="1" dirty="0" err="1" smtClean="0">
                <a:solidFill>
                  <a:srgbClr val="C7D4ED"/>
                </a:solidFill>
                <a:latin typeface="KoPubWorld돋움체 Bold"/>
                <a:ea typeface="KoPubWorld돋움체 Bold"/>
                <a:cs typeface="KoPubWorld돋움체 Bold"/>
              </a:rPr>
              <a:t>여유자금</a:t>
            </a:r>
            <a:r>
              <a:rPr lang="en-US" sz="1100" b="1" dirty="0" smtClean="0">
                <a:solidFill>
                  <a:srgbClr val="C7D4ED"/>
                </a:solidFill>
                <a:latin typeface="KoPubWorld돋움체 Bold"/>
                <a:ea typeface="KoPubWorld돋움체 Bold"/>
                <a:cs typeface="KoPubWorld돋움체 Bold"/>
              </a:rPr>
              <a:t> MP</a:t>
            </a:r>
            <a:r>
              <a:rPr sz="1100" b="1" dirty="0" smtClean="0">
                <a:solidFill>
                  <a:srgbClr val="C7D4ED"/>
                </a:solidFill>
                <a:latin typeface="KoPubWorld돋움체 Bold"/>
                <a:ea typeface="KoPubWorld돋움체 Bold"/>
                <a:cs typeface="KoPubWorld돋움체 Bold"/>
              </a:rPr>
              <a:t> </a:t>
            </a:r>
            <a:r>
              <a:rPr sz="1100" b="1" dirty="0">
                <a:solidFill>
                  <a:srgbClr val="C7D4ED"/>
                </a:solidFill>
                <a:latin typeface="KoPubWorld돋움체 Bold"/>
                <a:ea typeface="KoPubWorld돋움체 Bold"/>
                <a:cs typeface="KoPubWorld돋움체 Bold"/>
              </a:rPr>
              <a:t>(4월)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424928" y="5458968"/>
            <a:ext cx="2057400" cy="41148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1" dirty="0">
                <a:solidFill>
                  <a:srgbClr val="C9A85B"/>
                </a:solidFill>
                <a:latin typeface="KoPubWorld돋움체 Bold"/>
                <a:ea typeface="KoPubWorld돋움체 Bold"/>
                <a:cs typeface="KoPubWorld돋움체 Bold"/>
              </a:rPr>
              <a:t>+</a:t>
            </a:r>
            <a:r>
              <a:rPr sz="2000" b="1" dirty="0" smtClean="0">
                <a:solidFill>
                  <a:srgbClr val="C9A85B"/>
                </a:solidFill>
                <a:latin typeface="KoPubWorld돋움체 Bold"/>
                <a:ea typeface="KoPubWorld돋움체 Bold"/>
                <a:cs typeface="KoPubWorld돋움체 Bold"/>
              </a:rPr>
              <a:t>8.</a:t>
            </a:r>
            <a:r>
              <a:rPr lang="en-US" sz="2000" b="1" dirty="0" smtClean="0">
                <a:solidFill>
                  <a:srgbClr val="C9A85B"/>
                </a:solidFill>
                <a:latin typeface="KoPubWorld돋움체 Bold"/>
                <a:ea typeface="KoPubWorld돋움체 Bold"/>
                <a:cs typeface="KoPubWorld돋움체 Bold"/>
              </a:rPr>
              <a:t>1</a:t>
            </a:r>
            <a:r>
              <a:rPr sz="2000" b="1" dirty="0" smtClean="0">
                <a:solidFill>
                  <a:srgbClr val="C9A85B"/>
                </a:solidFill>
                <a:latin typeface="KoPubWorld돋움체 Bold"/>
                <a:ea typeface="KoPubWorld돋움체 Bold"/>
                <a:cs typeface="KoPubWorld돋움체 Bold"/>
              </a:rPr>
              <a:t>%</a:t>
            </a:r>
            <a:endParaRPr sz="2000" b="1" dirty="0">
              <a:solidFill>
                <a:srgbClr val="C9A85B"/>
              </a:solidFill>
              <a:latin typeface="KoPubWorld돋움체 Bold"/>
              <a:ea typeface="KoPubWorld돋움체 Bold"/>
              <a:cs typeface="KoPubWorld돋움체 Bold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7424928" y="5852160"/>
            <a:ext cx="2057400" cy="203133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 dirty="0">
                <a:solidFill>
                  <a:srgbClr val="E7EAF1"/>
                </a:solidFill>
                <a:latin typeface="KoPubWorld돋움체 Medium"/>
                <a:ea typeface="KoPubWorld돋움체 Medium"/>
                <a:cs typeface="KoPubWorld돋움체 Medium"/>
              </a:rPr>
              <a:t>6개월 +</a:t>
            </a:r>
            <a:r>
              <a:rPr sz="900" b="0" dirty="0" smtClean="0">
                <a:solidFill>
                  <a:srgbClr val="E7EAF1"/>
                </a:solidFill>
                <a:latin typeface="KoPubWorld돋움체 Medium"/>
                <a:ea typeface="KoPubWorld돋움체 Medium"/>
                <a:cs typeface="KoPubWorld돋움체 Medium"/>
              </a:rPr>
              <a:t>6.</a:t>
            </a:r>
            <a:r>
              <a:rPr lang="en-US" sz="900" b="0" dirty="0" smtClean="0">
                <a:solidFill>
                  <a:srgbClr val="E7EAF1"/>
                </a:solidFill>
                <a:latin typeface="KoPubWorld돋움체 Medium"/>
                <a:ea typeface="KoPubWorld돋움체 Medium"/>
                <a:cs typeface="KoPubWorld돋움체 Medium"/>
              </a:rPr>
              <a:t>4</a:t>
            </a:r>
            <a:r>
              <a:rPr sz="900" b="0" dirty="0" smtClean="0">
                <a:solidFill>
                  <a:srgbClr val="E7EAF1"/>
                </a:solidFill>
                <a:latin typeface="KoPubWorld돋움체 Medium"/>
                <a:ea typeface="KoPubWorld돋움체 Medium"/>
                <a:cs typeface="KoPubWorld돋움체 Medium"/>
              </a:rPr>
              <a:t>%</a:t>
            </a:r>
            <a:endParaRPr sz="900" b="0" dirty="0">
              <a:solidFill>
                <a:srgbClr val="E7EAF1"/>
              </a:solidFill>
              <a:latin typeface="KoPubWorld돋움체 Medium"/>
              <a:ea typeface="KoPubWorld돋움체 Medium"/>
              <a:cs typeface="KoPubWorld돋움체 Medium"/>
            </a:endParaRPr>
          </a:p>
        </p:txBody>
      </p:sp>
      <p:sp>
        <p:nvSpPr>
          <p:cNvPr id="24" name="Rectangle 23"/>
          <p:cNvSpPr/>
          <p:nvPr/>
        </p:nvSpPr>
        <p:spPr>
          <a:xfrm>
            <a:off x="9619488" y="5120640"/>
            <a:ext cx="2221992" cy="960120"/>
          </a:xfrm>
          <a:prstGeom prst="rect">
            <a:avLst/>
          </a:prstGeom>
          <a:solidFill>
            <a:srgbClr val="0A0D3F"/>
          </a:solidFill>
          <a:ln w="7620">
            <a:solidFill>
              <a:srgbClr val="C9A8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9738360" y="5166360"/>
            <a:ext cx="2057400" cy="240066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dirty="0" err="1">
                <a:solidFill>
                  <a:srgbClr val="C7D4ED"/>
                </a:solidFill>
                <a:latin typeface="KoPubWorld돋움체 Bold"/>
                <a:ea typeface="KoPubWorld돋움체 Bold"/>
                <a:cs typeface="KoPubWorld돋움체 Bold"/>
              </a:rPr>
              <a:t>보수적</a:t>
            </a:r>
            <a:r>
              <a:rPr sz="1100" b="1" dirty="0">
                <a:solidFill>
                  <a:srgbClr val="C7D4ED"/>
                </a:solidFill>
                <a:latin typeface="KoPubWorld돋움체 Bold"/>
                <a:ea typeface="KoPubWorld돋움체 Bold"/>
                <a:cs typeface="KoPubWorld돋움체 Bold"/>
              </a:rPr>
              <a:t> </a:t>
            </a:r>
            <a:r>
              <a:rPr sz="1100" b="1" dirty="0" err="1">
                <a:solidFill>
                  <a:srgbClr val="C7D4ED"/>
                </a:solidFill>
                <a:latin typeface="KoPubWorld돋움체 Bold"/>
                <a:ea typeface="KoPubWorld돋움체 Bold"/>
                <a:cs typeface="KoPubWorld돋움체 Bold"/>
              </a:rPr>
              <a:t>여유자금</a:t>
            </a:r>
            <a:r>
              <a:rPr sz="1100" b="1" dirty="0">
                <a:solidFill>
                  <a:srgbClr val="C7D4ED"/>
                </a:solidFill>
                <a:latin typeface="KoPubWorld돋움체 Bold"/>
                <a:ea typeface="KoPubWorld돋움체 Bold"/>
                <a:cs typeface="KoPubWorld돋움체 Bold"/>
              </a:rPr>
              <a:t> </a:t>
            </a:r>
            <a:r>
              <a:rPr lang="en-US" sz="1100" b="1" dirty="0" smtClean="0">
                <a:solidFill>
                  <a:srgbClr val="C7D4ED"/>
                </a:solidFill>
                <a:latin typeface="KoPubWorld돋움체 Bold"/>
                <a:ea typeface="KoPubWorld돋움체 Bold"/>
                <a:cs typeface="KoPubWorld돋움체 Bold"/>
              </a:rPr>
              <a:t>MP </a:t>
            </a:r>
            <a:r>
              <a:rPr sz="1100" b="1" dirty="0" smtClean="0">
                <a:solidFill>
                  <a:srgbClr val="C7D4ED"/>
                </a:solidFill>
                <a:latin typeface="KoPubWorld돋움체 Bold"/>
                <a:ea typeface="KoPubWorld돋움체 Bold"/>
                <a:cs typeface="KoPubWorld돋움체 Bold"/>
              </a:rPr>
              <a:t>(4</a:t>
            </a:r>
            <a:r>
              <a:rPr sz="1100" b="1" dirty="0">
                <a:solidFill>
                  <a:srgbClr val="C7D4ED"/>
                </a:solidFill>
                <a:latin typeface="KoPubWorld돋움체 Bold"/>
                <a:ea typeface="KoPubWorld돋움체 Bold"/>
                <a:cs typeface="KoPubWorld돋움체 Bold"/>
              </a:rPr>
              <a:t>월)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738360" y="5458968"/>
            <a:ext cx="2057400" cy="41148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1" dirty="0">
                <a:solidFill>
                  <a:srgbClr val="C9A85B"/>
                </a:solidFill>
                <a:latin typeface="KoPubWorld돋움체 Bold"/>
                <a:ea typeface="KoPubWorld돋움체 Bold"/>
                <a:cs typeface="KoPubWorld돋움체 Bold"/>
              </a:rPr>
              <a:t>+</a:t>
            </a:r>
            <a:r>
              <a:rPr sz="2000" b="1" dirty="0" smtClean="0">
                <a:solidFill>
                  <a:srgbClr val="C9A85B"/>
                </a:solidFill>
                <a:latin typeface="KoPubWorld돋움체 Bold"/>
                <a:ea typeface="KoPubWorld돋움체 Bold"/>
                <a:cs typeface="KoPubWorld돋움체 Bold"/>
              </a:rPr>
              <a:t>6.</a:t>
            </a:r>
            <a:r>
              <a:rPr lang="en-US" sz="2000" b="1" dirty="0" smtClean="0">
                <a:solidFill>
                  <a:srgbClr val="C9A85B"/>
                </a:solidFill>
                <a:latin typeface="KoPubWorld돋움체 Bold"/>
                <a:ea typeface="KoPubWorld돋움체 Bold"/>
                <a:cs typeface="KoPubWorld돋움체 Bold"/>
              </a:rPr>
              <a:t>3</a:t>
            </a:r>
            <a:r>
              <a:rPr sz="2000" b="1" dirty="0" smtClean="0">
                <a:solidFill>
                  <a:srgbClr val="C9A85B"/>
                </a:solidFill>
                <a:latin typeface="KoPubWorld돋움체 Bold"/>
                <a:ea typeface="KoPubWorld돋움체 Bold"/>
                <a:cs typeface="KoPubWorld돋움체 Bold"/>
              </a:rPr>
              <a:t>%</a:t>
            </a:r>
            <a:endParaRPr sz="2000" b="1" dirty="0">
              <a:solidFill>
                <a:srgbClr val="C9A85B"/>
              </a:solidFill>
              <a:latin typeface="KoPubWorld돋움체 Bold"/>
              <a:ea typeface="KoPubWorld돋움체 Bold"/>
              <a:cs typeface="KoPubWorld돋움체 Bold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9738360" y="5852160"/>
            <a:ext cx="2057400" cy="203133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 dirty="0">
                <a:solidFill>
                  <a:srgbClr val="E7EAF1"/>
                </a:solidFill>
                <a:latin typeface="KoPubWorld돋움체 Medium"/>
                <a:ea typeface="KoPubWorld돋움체 Medium"/>
                <a:cs typeface="KoPubWorld돋움체 Medium"/>
              </a:rPr>
              <a:t>6개월 +</a:t>
            </a:r>
            <a:r>
              <a:rPr sz="900" b="0" dirty="0" smtClean="0">
                <a:solidFill>
                  <a:srgbClr val="E7EAF1"/>
                </a:solidFill>
                <a:latin typeface="KoPubWorld돋움체 Medium"/>
                <a:ea typeface="KoPubWorld돋움체 Medium"/>
                <a:cs typeface="KoPubWorld돋움체 Medium"/>
              </a:rPr>
              <a:t>13.9%</a:t>
            </a:r>
            <a:endParaRPr sz="900" b="0" dirty="0">
              <a:solidFill>
                <a:srgbClr val="E7EAF1"/>
              </a:solidFill>
              <a:latin typeface="KoPubWorld돋움체 Medium"/>
              <a:ea typeface="KoPubWorld돋움체 Medium"/>
              <a:cs typeface="KoPubWorld돋움체 Medium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7315200" y="365760"/>
            <a:ext cx="4572000" cy="36933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0" dirty="0" err="1">
                <a:solidFill>
                  <a:srgbClr val="C7D4ED"/>
                </a:solidFill>
                <a:latin typeface="KoPubWorld돋움체 Medium"/>
                <a:ea typeface="KoPubWorld돋움체 Medium"/>
                <a:cs typeface="KoPubWorld돋움체 Medium"/>
              </a:rPr>
              <a:t>준법감시인</a:t>
            </a:r>
            <a:r>
              <a:rPr sz="900" b="0" dirty="0">
                <a:solidFill>
                  <a:srgbClr val="C7D4ED"/>
                </a:solidFill>
                <a:latin typeface="KoPubWorld돋움체 Medium"/>
                <a:ea typeface="KoPubWorld돋움체 Medium"/>
                <a:cs typeface="KoPubWorld돋움체 Medium"/>
              </a:rPr>
              <a:t> </a:t>
            </a:r>
            <a:r>
              <a:rPr sz="900" b="0" dirty="0" err="1">
                <a:solidFill>
                  <a:srgbClr val="C7D4ED"/>
                </a:solidFill>
                <a:latin typeface="KoPubWorld돋움체 Medium"/>
                <a:ea typeface="KoPubWorld돋움체 Medium"/>
                <a:cs typeface="KoPubWorld돋움체 Medium"/>
              </a:rPr>
              <a:t>심사필번호</a:t>
            </a:r>
            <a:r>
              <a:rPr sz="900" b="0" dirty="0">
                <a:solidFill>
                  <a:srgbClr val="C7D4ED"/>
                </a:solidFill>
                <a:latin typeface="KoPubWorld돋움체 Medium"/>
                <a:ea typeface="KoPubWorld돋움체 Medium"/>
                <a:cs typeface="KoPubWorld돋움체 Medium"/>
              </a:rPr>
              <a:t> 제</a:t>
            </a:r>
            <a:r>
              <a:rPr sz="900" b="0" dirty="0" smtClean="0">
                <a:solidFill>
                  <a:srgbClr val="C7D4ED"/>
                </a:solidFill>
                <a:latin typeface="KoPubWorld돋움체 Medium"/>
                <a:ea typeface="KoPubWorld돋움체 Medium"/>
                <a:cs typeface="KoPubWorld돋움체 Medium"/>
              </a:rPr>
              <a:t>26-</a:t>
            </a:r>
            <a:r>
              <a:rPr lang="en-US" sz="900" b="0" dirty="0" smtClean="0">
                <a:solidFill>
                  <a:srgbClr val="C7D4ED"/>
                </a:solidFill>
                <a:latin typeface="KoPubWorld돋움체 Medium"/>
                <a:ea typeface="KoPubWorld돋움체 Medium"/>
                <a:cs typeface="KoPubWorld돋움체 Medium"/>
              </a:rPr>
              <a:t>292</a:t>
            </a:r>
            <a:r>
              <a:rPr sz="900" b="0" dirty="0" smtClean="0">
                <a:solidFill>
                  <a:srgbClr val="C7D4ED"/>
                </a:solidFill>
                <a:latin typeface="KoPubWorld돋움체 Medium"/>
                <a:ea typeface="KoPubWorld돋움체 Medium"/>
                <a:cs typeface="KoPubWorld돋움체 Medium"/>
              </a:rPr>
              <a:t>호</a:t>
            </a:r>
            <a:endParaRPr sz="900" b="0" dirty="0">
              <a:solidFill>
                <a:srgbClr val="C7D4ED"/>
              </a:solidFill>
              <a:latin typeface="KoPubWorld돋움체 Medium"/>
              <a:ea typeface="KoPubWorld돋움체 Medium"/>
              <a:cs typeface="KoPubWorld돋움체 Medium"/>
            </a:endParaRPr>
          </a:p>
          <a:p>
            <a:pPr algn="r">
              <a:lnSpc>
                <a:spcPct val="120000"/>
              </a:lnSpc>
            </a:pPr>
            <a:r>
              <a:rPr sz="900" b="0" dirty="0">
                <a:solidFill>
                  <a:srgbClr val="C7D4ED"/>
                </a:solidFill>
                <a:latin typeface="KoPubWorld돋움체 Medium"/>
                <a:ea typeface="KoPubWorld돋움체 Medium"/>
                <a:cs typeface="KoPubWorld돋움체 Medium"/>
              </a:rPr>
              <a:t>(</a:t>
            </a:r>
            <a:r>
              <a:rPr sz="900" b="0" dirty="0" err="1">
                <a:solidFill>
                  <a:srgbClr val="C7D4ED"/>
                </a:solidFill>
                <a:latin typeface="KoPubWorld돋움체 Medium"/>
                <a:ea typeface="KoPubWorld돋움체 Medium"/>
                <a:cs typeface="KoPubWorld돋움체 Medium"/>
              </a:rPr>
              <a:t>유효기간</a:t>
            </a:r>
            <a:r>
              <a:rPr sz="900" b="0" dirty="0">
                <a:solidFill>
                  <a:srgbClr val="C7D4ED"/>
                </a:solidFill>
                <a:latin typeface="KoPubWorld돋움체 Medium"/>
                <a:ea typeface="KoPubWorld돋움체 Medium"/>
                <a:cs typeface="KoPubWorld돋움체 Medium"/>
              </a:rPr>
              <a:t> </a:t>
            </a:r>
            <a:r>
              <a:rPr sz="900" b="0" dirty="0" smtClean="0">
                <a:solidFill>
                  <a:srgbClr val="C7D4ED"/>
                </a:solidFill>
                <a:latin typeface="KoPubWorld돋움체 Medium"/>
                <a:ea typeface="KoPubWorld돋움체 Medium"/>
                <a:cs typeface="KoPubWorld돋움체 Medium"/>
              </a:rPr>
              <a:t>2026.05.</a:t>
            </a:r>
            <a:r>
              <a:rPr lang="en-US" sz="900" b="0" smtClean="0">
                <a:solidFill>
                  <a:srgbClr val="C7D4ED"/>
                </a:solidFill>
                <a:latin typeface="KoPubWorld돋움체 Medium"/>
                <a:ea typeface="KoPubWorld돋움체 Medium"/>
                <a:cs typeface="KoPubWorld돋움체 Medium"/>
              </a:rPr>
              <a:t>11</a:t>
            </a:r>
            <a:r>
              <a:rPr sz="900" b="0" smtClean="0">
                <a:solidFill>
                  <a:srgbClr val="C7D4ED"/>
                </a:solidFill>
                <a:latin typeface="KoPubWorld돋움체 Medium"/>
                <a:ea typeface="KoPubWorld돋움체 Medium"/>
                <a:cs typeface="KoPubWorld돋움체 Medium"/>
              </a:rPr>
              <a:t>~2027.05.</a:t>
            </a:r>
            <a:r>
              <a:rPr lang="en-US" sz="900" b="0" smtClean="0">
                <a:solidFill>
                  <a:srgbClr val="C7D4ED"/>
                </a:solidFill>
                <a:latin typeface="KoPubWorld돋움체 Medium"/>
                <a:ea typeface="KoPubWorld돋움체 Medium"/>
                <a:cs typeface="KoPubWorld돋움체 Medium"/>
              </a:rPr>
              <a:t>10</a:t>
            </a:r>
            <a:r>
              <a:rPr sz="900" b="0" smtClean="0">
                <a:solidFill>
                  <a:srgbClr val="C7D4ED"/>
                </a:solidFill>
                <a:latin typeface="KoPubWorld돋움체 Medium"/>
                <a:ea typeface="KoPubWorld돋움체 Medium"/>
                <a:cs typeface="KoPubWorld돋움체 Medium"/>
              </a:rPr>
              <a:t>)</a:t>
            </a:r>
            <a:endParaRPr sz="900" b="0" dirty="0">
              <a:solidFill>
                <a:srgbClr val="C7D4ED"/>
              </a:solidFill>
              <a:latin typeface="KoPubWorld돋움체 Medium"/>
              <a:ea typeface="KoPubWorld돋움체 Medium"/>
              <a:cs typeface="KoPubWorld돋움체 Medium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305" y="6263640"/>
            <a:ext cx="12191695" cy="36576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400" b="1" dirty="0">
                <a:solidFill>
                  <a:srgbClr val="C9A85B"/>
                </a:solidFill>
                <a:latin typeface="KoPubWorld돋움체 Bold"/>
                <a:ea typeface="KoPubWorld돋움체 Bold"/>
                <a:cs typeface="KoPubWorld돋움체 Bold"/>
              </a:rPr>
              <a:t>K C G I  자 산 운 용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620217" y="6089194"/>
            <a:ext cx="3221263" cy="3631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ko-KR" altLang="en-US" sz="800" dirty="0" smtClean="0">
                <a:solidFill>
                  <a:schemeClr val="bg1"/>
                </a:solidFill>
                <a:latin typeface="+mj-ea"/>
                <a:ea typeface="+mj-ea"/>
              </a:rPr>
              <a:t>기준일</a:t>
            </a:r>
            <a:r>
              <a:rPr lang="en-US" altLang="ko-KR" sz="800" dirty="0" smtClean="0">
                <a:solidFill>
                  <a:schemeClr val="bg1"/>
                </a:solidFill>
                <a:latin typeface="+mj-ea"/>
                <a:ea typeface="+mj-ea"/>
              </a:rPr>
              <a:t>:2026.04.30</a:t>
            </a:r>
          </a:p>
          <a:p>
            <a:pPr algn="r">
              <a:lnSpc>
                <a:spcPct val="120000"/>
              </a:lnSpc>
            </a:pPr>
            <a:r>
              <a:rPr lang="ko-KR" altLang="en-US" sz="800" dirty="0">
                <a:solidFill>
                  <a:schemeClr val="bg1"/>
                </a:solidFill>
                <a:latin typeface="KoPubWorld돋움체 Medium"/>
                <a:ea typeface="KoPubWorld돋움체 Medium"/>
                <a:cs typeface="KoPubWorld돋움체 Medium"/>
              </a:rPr>
              <a:t>과거 수익률이 미래 운용 성과를 보장하지 않습니다</a:t>
            </a:r>
            <a:r>
              <a:rPr lang="en-US" altLang="ko-KR" sz="800" dirty="0">
                <a:solidFill>
                  <a:schemeClr val="bg1"/>
                </a:solidFill>
                <a:latin typeface="KoPubWorld돋움체 Medium"/>
                <a:ea typeface="KoPubWorld돋움체 Medium"/>
                <a:cs typeface="KoPubWorld돋움체 Medium"/>
              </a:rPr>
              <a:t>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" name="그림 38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38655" y="984422"/>
            <a:ext cx="5204979" cy="2929208"/>
          </a:xfrm>
          <a:prstGeom prst="rect">
            <a:avLst/>
          </a:prstGeom>
        </p:spPr>
      </p:pic>
      <p:pic>
        <p:nvPicPr>
          <p:cNvPr id="2" name="Picture 1" descr="top-menu-gradien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77724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77724"/>
            <a:ext cx="12191695" cy="868680"/>
          </a:xfrm>
          <a:prstGeom prst="rect">
            <a:avLst/>
          </a:prstGeom>
          <a:solidFill>
            <a:srgbClr val="FFFFFF"/>
          </a:solidFill>
          <a:ln w="6350">
            <a:solidFill>
              <a:srgbClr val="E5E5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kcgi-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5760" y="182880"/>
            <a:ext cx="1508760" cy="5943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920240" y="164592"/>
            <a:ext cx="7315200" cy="36576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1" dirty="0" err="1">
                <a:solidFill>
                  <a:srgbClr val="191877"/>
                </a:solidFill>
                <a:latin typeface="KoPubWorld돋움체 Bold"/>
                <a:ea typeface="KoPubWorld돋움체 Bold"/>
                <a:cs typeface="KoPubWorld돋움체 Bold"/>
              </a:rPr>
              <a:t>이슈</a:t>
            </a:r>
            <a:r>
              <a:rPr sz="1800" b="1" dirty="0">
                <a:solidFill>
                  <a:srgbClr val="191877"/>
                </a:solidFill>
                <a:latin typeface="KoPubWorld돋움체 Bold"/>
                <a:ea typeface="KoPubWorld돋움체 Bold"/>
                <a:cs typeface="KoPubWorld돋움체 Bold"/>
              </a:rPr>
              <a:t> </a:t>
            </a:r>
            <a:r>
              <a:rPr sz="1800" b="1" dirty="0" smtClean="0">
                <a:solidFill>
                  <a:srgbClr val="191877"/>
                </a:solidFill>
                <a:latin typeface="KoPubWorld돋움체 Bold"/>
                <a:ea typeface="KoPubWorld돋움체 Bold"/>
                <a:cs typeface="KoPubWorld돋움체 Bold"/>
              </a:rPr>
              <a:t>#</a:t>
            </a:r>
            <a:r>
              <a:rPr lang="en-US" sz="1800" b="1" dirty="0" smtClean="0">
                <a:solidFill>
                  <a:srgbClr val="191877"/>
                </a:solidFill>
                <a:latin typeface="KoPubWorld돋움체 Bold"/>
                <a:ea typeface="KoPubWorld돋움체 Bold"/>
                <a:cs typeface="KoPubWorld돋움체 Bold"/>
              </a:rPr>
              <a:t>1</a:t>
            </a:r>
            <a:endParaRPr sz="1800" b="1" dirty="0">
              <a:solidFill>
                <a:srgbClr val="191877"/>
              </a:solidFill>
              <a:latin typeface="KoPubWorld돋움체 Bold"/>
              <a:ea typeface="KoPubWorld돋움체 Bold"/>
              <a:cs typeface="KoPubWorld돋움체 Bold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920240" y="570160"/>
            <a:ext cx="7315200" cy="276999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lang="ko-KR" altLang="en-US" sz="1300" b="0" dirty="0" smtClean="0">
                <a:solidFill>
                  <a:srgbClr val="595959"/>
                </a:solidFill>
                <a:latin typeface="KoPubWorld돋움체 Medium"/>
                <a:ea typeface="KoPubWorld돋움체 Medium"/>
                <a:cs typeface="KoPubWorld돋움체 Medium"/>
              </a:rPr>
              <a:t>에너지 가격 부담은 여전하나 증시는 </a:t>
            </a:r>
            <a:r>
              <a:rPr lang="ko-KR" altLang="en-US" sz="1300" b="0" dirty="0" err="1" smtClean="0">
                <a:solidFill>
                  <a:srgbClr val="595959"/>
                </a:solidFill>
                <a:latin typeface="KoPubWorld돋움체 Medium"/>
                <a:ea typeface="KoPubWorld돋움체 Medium"/>
                <a:cs typeface="KoPubWorld돋움체 Medium"/>
              </a:rPr>
              <a:t>신고점</a:t>
            </a:r>
            <a:endParaRPr sz="1300" b="0" dirty="0">
              <a:solidFill>
                <a:srgbClr val="595959"/>
              </a:solidFill>
              <a:latin typeface="KoPubWorld돋움체 Medium"/>
              <a:ea typeface="KoPubWorld돋움체 Medium"/>
              <a:cs typeface="KoPubWorld돋움체 Medium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10058400" y="457200"/>
            <a:ext cx="2011680" cy="45720"/>
          </a:xfrm>
          <a:prstGeom prst="rect">
            <a:avLst/>
          </a:prstGeom>
          <a:solidFill>
            <a:srgbClr val="C9A8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058400" y="182880"/>
            <a:ext cx="2011680" cy="27432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r">
              <a:lnSpc>
                <a:spcPct val="120000"/>
              </a:lnSpc>
            </a:pPr>
            <a:r>
              <a:rPr sz="1100" b="0">
                <a:solidFill>
                  <a:srgbClr val="595959"/>
                </a:solidFill>
                <a:latin typeface="KoPubWorld돋움체 Medium"/>
                <a:ea typeface="KoPubWorld돋움체 Medium"/>
                <a:cs typeface="KoPubWorld돋움체 Medium"/>
              </a:rPr>
              <a:t>KCGI 자산운용 | 뉴스핌 월간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0" y="530352"/>
            <a:ext cx="2011680" cy="32004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r">
              <a:lnSpc>
                <a:spcPct val="120000"/>
              </a:lnSpc>
            </a:pPr>
            <a:r>
              <a:rPr sz="1200" b="1">
                <a:solidFill>
                  <a:srgbClr val="191877"/>
                </a:solidFill>
                <a:latin typeface="KoPubWorld돋움체 Bold"/>
                <a:ea typeface="KoPubWorld돋움체 Bold"/>
                <a:cs typeface="KoPubWorld돋움체 Bold"/>
              </a:rPr>
              <a:t>2026.05  ·  8/14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3703320"/>
            <a:ext cx="128016" cy="128016"/>
          </a:xfrm>
          <a:prstGeom prst="rect">
            <a:avLst/>
          </a:prstGeom>
          <a:solidFill>
            <a:srgbClr val="C9A8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94360" y="3520440"/>
            <a:ext cx="7132320" cy="438912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700" b="1">
                <a:solidFill>
                  <a:srgbClr val="191877"/>
                </a:solidFill>
                <a:latin typeface="KoPubWorld돋움체 Bold"/>
                <a:ea typeface="KoPubWorld돋움체 Bold"/>
                <a:cs typeface="KoPubWorld돋움체 Bold"/>
              </a:rPr>
              <a:t>핵심 포인트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" y="3977639"/>
            <a:ext cx="7132320" cy="758952"/>
          </a:xfrm>
          <a:prstGeom prst="rect">
            <a:avLst/>
          </a:prstGeom>
          <a:solidFill>
            <a:srgbClr val="E7EAF1"/>
          </a:solidFill>
          <a:ln w="6350">
            <a:solidFill>
              <a:srgbClr val="E5E5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365760" y="3977639"/>
            <a:ext cx="91440" cy="758952"/>
          </a:xfrm>
          <a:prstGeom prst="rect">
            <a:avLst/>
          </a:prstGeom>
          <a:solidFill>
            <a:srgbClr val="1918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66928" y="4039465"/>
            <a:ext cx="6858000" cy="25853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lang="en-US" sz="1200" b="1" dirty="0" smtClean="0">
                <a:solidFill>
                  <a:srgbClr val="191877"/>
                </a:solidFill>
                <a:latin typeface="KoPubWorld돋움체 Bold"/>
                <a:ea typeface="KoPubWorld돋움체 Bold"/>
                <a:cs typeface="KoPubWorld돋움체 Bold"/>
              </a:rPr>
              <a:t>WTI, 10</a:t>
            </a:r>
            <a:r>
              <a:rPr lang="ko-KR" altLang="en-US" sz="1200" b="1" dirty="0" err="1" smtClean="0">
                <a:solidFill>
                  <a:srgbClr val="191877"/>
                </a:solidFill>
                <a:latin typeface="KoPubWorld돋움체 Bold"/>
                <a:ea typeface="KoPubWorld돋움체 Bold"/>
                <a:cs typeface="KoPubWorld돋움체 Bold"/>
              </a:rPr>
              <a:t>년물</a:t>
            </a:r>
            <a:r>
              <a:rPr lang="ko-KR" altLang="en-US" sz="1200" b="1" dirty="0" smtClean="0">
                <a:solidFill>
                  <a:srgbClr val="191877"/>
                </a:solidFill>
                <a:latin typeface="KoPubWorld돋움체 Bold"/>
                <a:ea typeface="KoPubWorld돋움체 Bold"/>
                <a:cs typeface="KoPubWorld돋움체 Bold"/>
              </a:rPr>
              <a:t> 금리 급등 후 하락 추세</a:t>
            </a:r>
            <a:endParaRPr sz="1200" b="1" dirty="0">
              <a:solidFill>
                <a:srgbClr val="191877"/>
              </a:solidFill>
              <a:latin typeface="KoPubWorld돋움체 Bold"/>
              <a:ea typeface="KoPubWorld돋움체 Bold"/>
              <a:cs typeface="KoPubWorld돋움체 Bold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566928" y="4288535"/>
            <a:ext cx="6858000" cy="229294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lang="en-US" sz="1000" b="0" dirty="0" smtClean="0">
                <a:solidFill>
                  <a:srgbClr val="1A1A1A"/>
                </a:solidFill>
                <a:latin typeface="KoPubWorld돋움체 Medium"/>
                <a:ea typeface="KoPubWorld돋움체 Medium"/>
                <a:cs typeface="KoPubWorld돋움체 Medium"/>
              </a:rPr>
              <a:t>WTI</a:t>
            </a:r>
            <a:r>
              <a:rPr lang="ko-KR" altLang="en-US" sz="1000" dirty="0">
                <a:solidFill>
                  <a:srgbClr val="1A1A1A"/>
                </a:solidFill>
                <a:latin typeface="KoPubWorld돋움체 Medium"/>
                <a:ea typeface="KoPubWorld돋움체 Medium"/>
                <a:cs typeface="KoPubWorld돋움체 Medium"/>
              </a:rPr>
              <a:t> </a:t>
            </a:r>
            <a:r>
              <a:rPr lang="ko-KR" altLang="en-US" sz="1000" dirty="0" smtClean="0">
                <a:solidFill>
                  <a:srgbClr val="1A1A1A"/>
                </a:solidFill>
                <a:latin typeface="KoPubWorld돋움체 Medium"/>
                <a:ea typeface="KoPubWorld돋움체 Medium"/>
                <a:cs typeface="KoPubWorld돋움체 Medium"/>
              </a:rPr>
              <a:t>가격과 </a:t>
            </a:r>
            <a:r>
              <a:rPr lang="en-US" altLang="ko-KR" sz="1000" dirty="0" smtClean="0">
                <a:solidFill>
                  <a:srgbClr val="1A1A1A"/>
                </a:solidFill>
                <a:latin typeface="KoPubWorld돋움체 Medium"/>
                <a:ea typeface="KoPubWorld돋움체 Medium"/>
                <a:cs typeface="KoPubWorld돋움체 Medium"/>
              </a:rPr>
              <a:t>10</a:t>
            </a:r>
            <a:r>
              <a:rPr lang="ko-KR" altLang="en-US" sz="1000" dirty="0" err="1" smtClean="0">
                <a:solidFill>
                  <a:srgbClr val="1A1A1A"/>
                </a:solidFill>
                <a:latin typeface="KoPubWorld돋움체 Medium"/>
                <a:ea typeface="KoPubWorld돋움체 Medium"/>
                <a:cs typeface="KoPubWorld돋움체 Medium"/>
              </a:rPr>
              <a:t>년물</a:t>
            </a:r>
            <a:r>
              <a:rPr lang="ko-KR" altLang="en-US" sz="1000" dirty="0" smtClean="0">
                <a:solidFill>
                  <a:srgbClr val="1A1A1A"/>
                </a:solidFill>
                <a:latin typeface="KoPubWorld돋움체 Medium"/>
                <a:ea typeface="KoPubWorld돋움체 Medium"/>
                <a:cs typeface="KoPubWorld돋움체 Medium"/>
              </a:rPr>
              <a:t> 금리가 최고점을 찍고 잠시 내려온 모습이지만</a:t>
            </a:r>
            <a:r>
              <a:rPr lang="en-US" altLang="ko-KR" sz="1000" dirty="0" smtClean="0">
                <a:solidFill>
                  <a:srgbClr val="1A1A1A"/>
                </a:solidFill>
                <a:latin typeface="KoPubWorld돋움체 Medium"/>
                <a:ea typeface="KoPubWorld돋움체 Medium"/>
                <a:cs typeface="KoPubWorld돋움체 Medium"/>
              </a:rPr>
              <a:t>, </a:t>
            </a:r>
            <a:r>
              <a:rPr lang="ko-KR" altLang="en-US" sz="1000" dirty="0" smtClean="0">
                <a:solidFill>
                  <a:srgbClr val="1A1A1A"/>
                </a:solidFill>
                <a:latin typeface="KoPubWorld돋움체 Medium"/>
                <a:ea typeface="KoPubWorld돋움체 Medium"/>
                <a:cs typeface="KoPubWorld돋움체 Medium"/>
              </a:rPr>
              <a:t>전쟁 전 대비 여전히 높은 모습을 보임</a:t>
            </a:r>
            <a:endParaRPr sz="1000" b="0" dirty="0">
              <a:solidFill>
                <a:srgbClr val="1A1A1A"/>
              </a:solidFill>
              <a:latin typeface="KoPubWorld돋움체 Medium"/>
              <a:ea typeface="KoPubWorld돋움체 Medium"/>
              <a:cs typeface="KoPubWorld돋움체 Medium"/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365760" y="4800600"/>
            <a:ext cx="7132320" cy="758952"/>
          </a:xfrm>
          <a:prstGeom prst="rect">
            <a:avLst/>
          </a:prstGeom>
          <a:solidFill>
            <a:srgbClr val="E7EAF1"/>
          </a:solidFill>
          <a:ln w="6350">
            <a:solidFill>
              <a:srgbClr val="E5E5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365760" y="4800600"/>
            <a:ext cx="91440" cy="758952"/>
          </a:xfrm>
          <a:prstGeom prst="rect">
            <a:avLst/>
          </a:prstGeom>
          <a:solidFill>
            <a:srgbClr val="1918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66928" y="4837176"/>
            <a:ext cx="6858000" cy="25853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lang="en-US" sz="1200" b="1" dirty="0" smtClean="0">
                <a:solidFill>
                  <a:srgbClr val="191877"/>
                </a:solidFill>
                <a:latin typeface="KoPubWorld돋움체 Bold"/>
                <a:ea typeface="KoPubWorld돋움체 Bold"/>
                <a:cs typeface="KoPubWorld돋움체 Bold"/>
              </a:rPr>
              <a:t>CPI </a:t>
            </a:r>
            <a:r>
              <a:rPr lang="ko-KR" altLang="en-US" sz="1200" b="1" dirty="0" smtClean="0">
                <a:solidFill>
                  <a:srgbClr val="191877"/>
                </a:solidFill>
                <a:latin typeface="KoPubWorld돋움체 Bold"/>
                <a:ea typeface="KoPubWorld돋움체 Bold"/>
                <a:cs typeface="KoPubWorld돋움체 Bold"/>
              </a:rPr>
              <a:t>반영</a:t>
            </a:r>
            <a:endParaRPr sz="1200" b="1" dirty="0">
              <a:solidFill>
                <a:srgbClr val="191877"/>
              </a:solidFill>
              <a:latin typeface="KoPubWorld돋움체 Bold"/>
              <a:ea typeface="KoPubWorld돋움체 Bold"/>
              <a:cs typeface="KoPubWorld돋움체 Bold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566928" y="5111496"/>
            <a:ext cx="6858000" cy="229294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lang="en-US" sz="1000" b="0" dirty="0" smtClean="0">
                <a:solidFill>
                  <a:srgbClr val="1A1A1A"/>
                </a:solidFill>
                <a:latin typeface="KoPubWorld돋움체 Medium"/>
                <a:ea typeface="KoPubWorld돋움체 Medium"/>
                <a:cs typeface="KoPubWorld돋움체 Medium"/>
              </a:rPr>
              <a:t>WTI </a:t>
            </a:r>
            <a:r>
              <a:rPr lang="ko-KR" altLang="en-US" sz="1000" b="0" dirty="0" smtClean="0">
                <a:solidFill>
                  <a:srgbClr val="1A1A1A"/>
                </a:solidFill>
                <a:latin typeface="KoPubWorld돋움체 Medium"/>
                <a:ea typeface="KoPubWorld돋움체 Medium"/>
                <a:cs typeface="KoPubWorld돋움체 Medium"/>
              </a:rPr>
              <a:t>급등이 </a:t>
            </a:r>
            <a:r>
              <a:rPr lang="en-US" altLang="ko-KR" sz="1000" b="0" dirty="0" smtClean="0">
                <a:solidFill>
                  <a:srgbClr val="1A1A1A"/>
                </a:solidFill>
                <a:latin typeface="KoPubWorld돋움체 Medium"/>
                <a:ea typeface="KoPubWorld돋움체 Medium"/>
                <a:cs typeface="KoPubWorld돋움체 Medium"/>
              </a:rPr>
              <a:t>CPI</a:t>
            </a:r>
            <a:r>
              <a:rPr lang="ko-KR" altLang="en-US" sz="1000" b="0" dirty="0" smtClean="0">
                <a:solidFill>
                  <a:srgbClr val="1A1A1A"/>
                </a:solidFill>
                <a:latin typeface="KoPubWorld돋움체 Medium"/>
                <a:ea typeface="KoPubWorld돋움체 Medium"/>
                <a:cs typeface="KoPubWorld돋움체 Medium"/>
              </a:rPr>
              <a:t>에도 반영이 되며</a:t>
            </a:r>
            <a:r>
              <a:rPr lang="en-US" altLang="ko-KR" sz="1000" b="0" dirty="0" smtClean="0">
                <a:solidFill>
                  <a:srgbClr val="1A1A1A"/>
                </a:solidFill>
                <a:latin typeface="KoPubWorld돋움체 Medium"/>
                <a:ea typeface="KoPubWorld돋움체 Medium"/>
                <a:cs typeface="KoPubWorld돋움체 Medium"/>
              </a:rPr>
              <a:t>, 10</a:t>
            </a:r>
            <a:r>
              <a:rPr lang="ko-KR" altLang="en-US" sz="1000" b="0" dirty="0" err="1" smtClean="0">
                <a:solidFill>
                  <a:srgbClr val="1A1A1A"/>
                </a:solidFill>
                <a:latin typeface="KoPubWorld돋움체 Medium"/>
                <a:ea typeface="KoPubWorld돋움체 Medium"/>
                <a:cs typeface="KoPubWorld돋움체 Medium"/>
              </a:rPr>
              <a:t>년물</a:t>
            </a:r>
            <a:r>
              <a:rPr lang="ko-KR" altLang="en-US" sz="1000" b="0" dirty="0" smtClean="0">
                <a:solidFill>
                  <a:srgbClr val="1A1A1A"/>
                </a:solidFill>
                <a:latin typeface="KoPubWorld돋움체 Medium"/>
                <a:ea typeface="KoPubWorld돋움체 Medium"/>
                <a:cs typeface="KoPubWorld돋움체 Medium"/>
              </a:rPr>
              <a:t> 금리도 상승한 모습</a:t>
            </a:r>
            <a:endParaRPr sz="1000" b="0" dirty="0">
              <a:solidFill>
                <a:srgbClr val="1A1A1A"/>
              </a:solidFill>
              <a:latin typeface="KoPubWorld돋움체 Medium"/>
              <a:ea typeface="KoPubWorld돋움체 Medium"/>
              <a:cs typeface="KoPubWorld돋움체 Medium"/>
            </a:endParaRPr>
          </a:p>
        </p:txBody>
      </p:sp>
      <p:sp>
        <p:nvSpPr>
          <p:cNvPr id="22" name="Rectangle 21"/>
          <p:cNvSpPr/>
          <p:nvPr/>
        </p:nvSpPr>
        <p:spPr>
          <a:xfrm>
            <a:off x="365760" y="5623559"/>
            <a:ext cx="7132320" cy="758952"/>
          </a:xfrm>
          <a:prstGeom prst="rect">
            <a:avLst/>
          </a:prstGeom>
          <a:solidFill>
            <a:srgbClr val="E7EAF1"/>
          </a:solidFill>
          <a:ln w="6350">
            <a:solidFill>
              <a:srgbClr val="E5E5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365760" y="5623559"/>
            <a:ext cx="91440" cy="758952"/>
          </a:xfrm>
          <a:prstGeom prst="rect">
            <a:avLst/>
          </a:prstGeom>
          <a:solidFill>
            <a:srgbClr val="1918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566928" y="5660135"/>
            <a:ext cx="6858000" cy="25853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lang="ko-KR" altLang="en-US" sz="1200" b="1" dirty="0" smtClean="0">
                <a:solidFill>
                  <a:srgbClr val="191877"/>
                </a:solidFill>
                <a:latin typeface="KoPubWorld돋움체 Bold"/>
                <a:ea typeface="KoPubWorld돋움체 Bold"/>
                <a:cs typeface="KoPubWorld돋움체 Bold"/>
              </a:rPr>
              <a:t>증시는 </a:t>
            </a:r>
            <a:r>
              <a:rPr lang="ko-KR" altLang="en-US" sz="1200" b="1" dirty="0" err="1" smtClean="0">
                <a:solidFill>
                  <a:srgbClr val="191877"/>
                </a:solidFill>
                <a:latin typeface="KoPubWorld돋움체 Bold"/>
                <a:ea typeface="KoPubWorld돋움체 Bold"/>
                <a:cs typeface="KoPubWorld돋움체 Bold"/>
              </a:rPr>
              <a:t>신고점</a:t>
            </a:r>
            <a:endParaRPr sz="1200" b="1" dirty="0">
              <a:solidFill>
                <a:srgbClr val="191877"/>
              </a:solidFill>
              <a:latin typeface="KoPubWorld돋움체 Bold"/>
              <a:ea typeface="KoPubWorld돋움체 Bold"/>
              <a:cs typeface="KoPubWorld돋움체 Bold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566928" y="5934455"/>
            <a:ext cx="6858000" cy="229294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lang="ko-KR" altLang="en-US" sz="1000" b="0" dirty="0" smtClean="0">
                <a:solidFill>
                  <a:srgbClr val="1A1A1A"/>
                </a:solidFill>
                <a:latin typeface="KoPubWorld돋움체 Medium"/>
                <a:ea typeface="KoPubWorld돋움체 Medium"/>
                <a:cs typeface="KoPubWorld돋움체 Medium"/>
              </a:rPr>
              <a:t>트럼프의 종결 의지 시사 이후 여전히 고물가</a:t>
            </a:r>
            <a:r>
              <a:rPr lang="en-US" altLang="ko-KR" sz="1000" b="0" dirty="0" smtClean="0">
                <a:solidFill>
                  <a:srgbClr val="1A1A1A"/>
                </a:solidFill>
                <a:latin typeface="KoPubWorld돋움체 Medium"/>
                <a:ea typeface="KoPubWorld돋움체 Medium"/>
                <a:cs typeface="KoPubWorld돋움체 Medium"/>
              </a:rPr>
              <a:t>, </a:t>
            </a:r>
            <a:r>
              <a:rPr lang="ko-KR" altLang="en-US" sz="1000" b="0" dirty="0" smtClean="0">
                <a:solidFill>
                  <a:srgbClr val="1A1A1A"/>
                </a:solidFill>
                <a:latin typeface="KoPubWorld돋움체 Medium"/>
                <a:ea typeface="KoPubWorld돋움체 Medium"/>
                <a:cs typeface="KoPubWorld돋움체 Medium"/>
              </a:rPr>
              <a:t>고 </a:t>
            </a:r>
            <a:r>
              <a:rPr lang="ko-KR" altLang="en-US" sz="1000" dirty="0" smtClean="0">
                <a:solidFill>
                  <a:srgbClr val="1A1A1A"/>
                </a:solidFill>
                <a:latin typeface="KoPubWorld돋움체 Medium"/>
                <a:ea typeface="KoPubWorld돋움체 Medium"/>
                <a:cs typeface="KoPubWorld돋움체 Medium"/>
              </a:rPr>
              <a:t>원유 가격에도 증시는 반등</a:t>
            </a:r>
            <a:endParaRPr sz="1000" b="0" dirty="0">
              <a:solidFill>
                <a:srgbClr val="1A1A1A"/>
              </a:solidFill>
              <a:latin typeface="KoPubWorld돋움체 Medium"/>
              <a:ea typeface="KoPubWorld돋움체 Medium"/>
              <a:cs typeface="KoPubWorld돋움체 Medium"/>
            </a:endParaRPr>
          </a:p>
        </p:txBody>
      </p:sp>
      <p:sp>
        <p:nvSpPr>
          <p:cNvPr id="26" name="Rectangle 25"/>
          <p:cNvSpPr/>
          <p:nvPr/>
        </p:nvSpPr>
        <p:spPr>
          <a:xfrm>
            <a:off x="7680960" y="3703320"/>
            <a:ext cx="128016" cy="128016"/>
          </a:xfrm>
          <a:prstGeom prst="rect">
            <a:avLst/>
          </a:prstGeom>
          <a:solidFill>
            <a:srgbClr val="C9A8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7909560" y="3520440"/>
            <a:ext cx="4114800" cy="438912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700" b="1">
                <a:solidFill>
                  <a:srgbClr val="191877"/>
                </a:solidFill>
                <a:latin typeface="KoPubWorld돋움체 Bold"/>
                <a:ea typeface="KoPubWorld돋움체 Bold"/>
                <a:cs typeface="KoPubWorld돋움체 Bold"/>
              </a:rPr>
              <a:t>포트폴리오 함의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680960" y="3950208"/>
            <a:ext cx="4114800" cy="256993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>
              <a:lnSpc>
                <a:spcPct val="140000"/>
              </a:lnSpc>
            </a:pPr>
            <a:r>
              <a:rPr lang="en-US" altLang="ko-KR" sz="1100" dirty="0">
                <a:solidFill>
                  <a:srgbClr val="1A1A1A"/>
                </a:solidFill>
                <a:latin typeface="KoPubWorld돋움체 Medium"/>
                <a:ea typeface="KoPubWorld돋움체 Medium"/>
                <a:cs typeface="KoPubWorld돋움체 Medium"/>
              </a:rPr>
              <a:t>-</a:t>
            </a:r>
            <a:endParaRPr lang="en-US" altLang="ko-KR" sz="1100" dirty="0">
              <a:solidFill>
                <a:srgbClr val="1A1A1A"/>
              </a:solidFill>
              <a:latin typeface="KoPubWorld돋움체 Medium"/>
              <a:ea typeface="KoPubWorld돋움체 Medium"/>
              <a:cs typeface="KoPubWorld돋움체 Medium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365760" y="6382512"/>
            <a:ext cx="11430000" cy="203133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 dirty="0">
                <a:solidFill>
                  <a:srgbClr val="8C8C8C"/>
                </a:solidFill>
                <a:latin typeface="KoPubWorld돋움체 Medium"/>
                <a:ea typeface="KoPubWorld돋움체 Medium"/>
                <a:cs typeface="KoPubWorld돋움체 Medium"/>
              </a:rPr>
              <a:t>* </a:t>
            </a:r>
            <a:r>
              <a:rPr sz="900" b="0" dirty="0" err="1" smtClean="0">
                <a:solidFill>
                  <a:srgbClr val="8C8C8C"/>
                </a:solidFill>
                <a:latin typeface="KoPubWorld돋움체 Medium"/>
                <a:ea typeface="KoPubWorld돋움체 Medium"/>
                <a:cs typeface="KoPubWorld돋움체 Medium"/>
              </a:rPr>
              <a:t>데이터</a:t>
            </a:r>
            <a:r>
              <a:rPr sz="900" b="0" dirty="0" smtClean="0">
                <a:solidFill>
                  <a:srgbClr val="8C8C8C"/>
                </a:solidFill>
                <a:latin typeface="KoPubWorld돋움체 Medium"/>
                <a:ea typeface="KoPubWorld돋움체 Medium"/>
                <a:cs typeface="KoPubWorld돋움체 Medium"/>
              </a:rPr>
              <a:t> </a:t>
            </a:r>
            <a:r>
              <a:rPr sz="900" b="0" dirty="0">
                <a:solidFill>
                  <a:srgbClr val="8C8C8C"/>
                </a:solidFill>
                <a:latin typeface="KoPubWorld돋움체 Medium"/>
                <a:ea typeface="KoPubWorld돋움체 Medium"/>
                <a:cs typeface="KoPubWorld돋움체 Medium"/>
              </a:rPr>
              <a:t>출처: </a:t>
            </a:r>
            <a:r>
              <a:rPr lang="en-US" sz="900" b="0" dirty="0" smtClean="0">
                <a:solidFill>
                  <a:srgbClr val="8C8C8C"/>
                </a:solidFill>
                <a:latin typeface="KoPubWorld돋움체 Medium"/>
                <a:ea typeface="KoPubWorld돋움체 Medium"/>
                <a:cs typeface="KoPubWorld돋움체 Medium"/>
              </a:rPr>
              <a:t>Bloomberg</a:t>
            </a:r>
            <a:endParaRPr sz="900" b="0" dirty="0">
              <a:solidFill>
                <a:srgbClr val="8C8C8C"/>
              </a:solidFill>
              <a:latin typeface="KoPubWorld돋움체 Medium"/>
              <a:ea typeface="KoPubWorld돋움체 Medium"/>
              <a:cs typeface="KoPubWorld돋움체 Medium"/>
            </a:endParaRPr>
          </a:p>
        </p:txBody>
      </p:sp>
      <p:sp>
        <p:nvSpPr>
          <p:cNvPr id="30" name="Rectangle 29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8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365760" y="6517886"/>
            <a:ext cx="11430000" cy="369332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>
              <a:lnSpc>
                <a:spcPct val="120000"/>
              </a:lnSpc>
            </a:pPr>
            <a:r>
              <a:rPr sz="900" b="0" dirty="0">
                <a:solidFill>
                  <a:srgbClr val="8C8C8C"/>
                </a:solidFill>
                <a:latin typeface="KoPubWorld돋움체 Medium"/>
                <a:ea typeface="KoPubWorld돋움체 Medium"/>
                <a:cs typeface="KoPubWorld돋움체 Medium"/>
              </a:rPr>
              <a:t>※ </a:t>
            </a:r>
            <a:r>
              <a:rPr sz="900" b="0" dirty="0" err="1">
                <a:solidFill>
                  <a:srgbClr val="8C8C8C"/>
                </a:solidFill>
                <a:latin typeface="KoPubWorld돋움체 Medium"/>
                <a:ea typeface="KoPubWorld돋움체 Medium"/>
                <a:cs typeface="KoPubWorld돋움체 Medium"/>
              </a:rPr>
              <a:t>정보</a:t>
            </a:r>
            <a:r>
              <a:rPr sz="900" b="0" dirty="0">
                <a:solidFill>
                  <a:srgbClr val="8C8C8C"/>
                </a:solidFill>
                <a:latin typeface="KoPubWorld돋움체 Medium"/>
                <a:ea typeface="KoPubWorld돋움체 Medium"/>
                <a:cs typeface="KoPubWorld돋움체 Medium"/>
              </a:rPr>
              <a:t> </a:t>
            </a:r>
            <a:r>
              <a:rPr sz="900" b="0" dirty="0" err="1">
                <a:solidFill>
                  <a:srgbClr val="8C8C8C"/>
                </a:solidFill>
                <a:latin typeface="KoPubWorld돋움체 Medium"/>
                <a:ea typeface="KoPubWorld돋움체 Medium"/>
                <a:cs typeface="KoPubWorld돋움체 Medium"/>
              </a:rPr>
              <a:t>제공</a:t>
            </a:r>
            <a:r>
              <a:rPr sz="900" b="0" dirty="0">
                <a:solidFill>
                  <a:srgbClr val="8C8C8C"/>
                </a:solidFill>
                <a:latin typeface="KoPubWorld돋움체 Medium"/>
                <a:ea typeface="KoPubWorld돋움체 Medium"/>
                <a:cs typeface="KoPubWorld돋움체 Medium"/>
              </a:rPr>
              <a:t> </a:t>
            </a:r>
            <a:r>
              <a:rPr sz="900" b="0" dirty="0" err="1">
                <a:solidFill>
                  <a:srgbClr val="8C8C8C"/>
                </a:solidFill>
                <a:latin typeface="KoPubWorld돋움체 Medium"/>
                <a:ea typeface="KoPubWorld돋움체 Medium"/>
                <a:cs typeface="KoPubWorld돋움체 Medium"/>
              </a:rPr>
              <a:t>목적</a:t>
            </a:r>
            <a:r>
              <a:rPr sz="900" b="0" dirty="0">
                <a:solidFill>
                  <a:srgbClr val="8C8C8C"/>
                </a:solidFill>
                <a:latin typeface="KoPubWorld돋움체 Medium"/>
                <a:ea typeface="KoPubWorld돋움체 Medium"/>
                <a:cs typeface="KoPubWorld돋움체 Medium"/>
              </a:rPr>
              <a:t>, </a:t>
            </a:r>
            <a:r>
              <a:rPr sz="900" b="0" dirty="0" err="1">
                <a:solidFill>
                  <a:srgbClr val="8C8C8C"/>
                </a:solidFill>
                <a:latin typeface="KoPubWorld돋움체 Medium"/>
                <a:ea typeface="KoPubWorld돋움체 Medium"/>
                <a:cs typeface="KoPubWorld돋움체 Medium"/>
              </a:rPr>
              <a:t>투자권유</a:t>
            </a:r>
            <a:r>
              <a:rPr sz="900" b="0" dirty="0">
                <a:solidFill>
                  <a:srgbClr val="8C8C8C"/>
                </a:solidFill>
                <a:latin typeface="KoPubWorld돋움체 Medium"/>
                <a:ea typeface="KoPubWorld돋움체 Medium"/>
                <a:cs typeface="KoPubWorld돋움체 Medium"/>
              </a:rPr>
              <a:t> </a:t>
            </a:r>
            <a:r>
              <a:rPr sz="900" b="0" dirty="0" err="1">
                <a:solidFill>
                  <a:srgbClr val="8C8C8C"/>
                </a:solidFill>
                <a:latin typeface="KoPubWorld돋움체 Medium"/>
                <a:ea typeface="KoPubWorld돋움체 Medium"/>
                <a:cs typeface="KoPubWorld돋움체 Medium"/>
              </a:rPr>
              <a:t>자료가</a:t>
            </a:r>
            <a:r>
              <a:rPr sz="900" b="0" dirty="0">
                <a:solidFill>
                  <a:srgbClr val="8C8C8C"/>
                </a:solidFill>
                <a:latin typeface="KoPubWorld돋움체 Medium"/>
                <a:ea typeface="KoPubWorld돋움체 Medium"/>
                <a:cs typeface="KoPubWorld돋움체 Medium"/>
              </a:rPr>
              <a:t> </a:t>
            </a:r>
            <a:r>
              <a:rPr sz="900" b="0" dirty="0" err="1">
                <a:solidFill>
                  <a:srgbClr val="8C8C8C"/>
                </a:solidFill>
                <a:latin typeface="KoPubWorld돋움체 Medium"/>
                <a:ea typeface="KoPubWorld돋움체 Medium"/>
                <a:cs typeface="KoPubWorld돋움체 Medium"/>
              </a:rPr>
              <a:t>아닙니다</a:t>
            </a:r>
            <a:r>
              <a:rPr sz="900" b="0" dirty="0">
                <a:solidFill>
                  <a:srgbClr val="8C8C8C"/>
                </a:solidFill>
                <a:latin typeface="KoPubWorld돋움체 Medium"/>
                <a:ea typeface="KoPubWorld돋움체 Medium"/>
                <a:cs typeface="KoPubWorld돋움체 Medium"/>
              </a:rPr>
              <a:t>. </a:t>
            </a:r>
            <a:r>
              <a:rPr sz="900" b="0" dirty="0" err="1">
                <a:solidFill>
                  <a:srgbClr val="8C8C8C"/>
                </a:solidFill>
                <a:latin typeface="KoPubWorld돋움체 Medium"/>
                <a:ea typeface="KoPubWorld돋움체 Medium"/>
                <a:cs typeface="KoPubWorld돋움체 Medium"/>
              </a:rPr>
              <a:t>보수차감</a:t>
            </a:r>
            <a:r>
              <a:rPr sz="900" b="0" dirty="0">
                <a:solidFill>
                  <a:srgbClr val="8C8C8C"/>
                </a:solidFill>
                <a:latin typeface="KoPubWorld돋움체 Medium"/>
                <a:ea typeface="KoPubWorld돋움체 Medium"/>
                <a:cs typeface="KoPubWorld돋움체 Medium"/>
              </a:rPr>
              <a:t> 전 </a:t>
            </a:r>
            <a:r>
              <a:rPr sz="900" b="0" dirty="0" err="1">
                <a:solidFill>
                  <a:srgbClr val="8C8C8C"/>
                </a:solidFill>
                <a:latin typeface="KoPubWorld돋움체 Medium"/>
                <a:ea typeface="KoPubWorld돋움체 Medium"/>
                <a:cs typeface="KoPubWorld돋움체 Medium"/>
              </a:rPr>
              <a:t>예상수익률</a:t>
            </a:r>
            <a:r>
              <a:rPr sz="900" b="0" dirty="0">
                <a:solidFill>
                  <a:srgbClr val="8C8C8C"/>
                </a:solidFill>
                <a:latin typeface="KoPubWorld돋움체 Medium"/>
                <a:ea typeface="KoPubWorld돋움체 Medium"/>
                <a:cs typeface="KoPubWorld돋움체 Medium"/>
              </a:rPr>
              <a:t>(gross of fees) </a:t>
            </a:r>
            <a:r>
              <a:rPr sz="900" b="0" dirty="0" err="1">
                <a:solidFill>
                  <a:srgbClr val="8C8C8C"/>
                </a:solidFill>
                <a:latin typeface="KoPubWorld돋움체 Medium"/>
                <a:ea typeface="KoPubWorld돋움체 Medium"/>
                <a:cs typeface="KoPubWorld돋움체 Medium"/>
              </a:rPr>
              <a:t>가정</a:t>
            </a:r>
            <a:r>
              <a:rPr sz="900" b="0" dirty="0">
                <a:solidFill>
                  <a:srgbClr val="8C8C8C"/>
                </a:solidFill>
                <a:latin typeface="KoPubWorld돋움체 Medium"/>
                <a:ea typeface="KoPubWorld돋움체 Medium"/>
                <a:cs typeface="KoPubWorld돋움체 Medium"/>
              </a:rPr>
              <a:t>. </a:t>
            </a:r>
            <a:r>
              <a:rPr lang="en-US" altLang="ko-KR" sz="900" dirty="0">
                <a:solidFill>
                  <a:srgbClr val="8C8C8C"/>
                </a:solidFill>
                <a:latin typeface="KoPubWorld돋움체 Medium"/>
                <a:ea typeface="KoPubWorld돋움체 Medium"/>
                <a:cs typeface="KoPubWorld돋움체 Medium"/>
              </a:rPr>
              <a:t>※</a:t>
            </a:r>
            <a:r>
              <a:rPr lang="ko-KR" altLang="en-US" sz="900" dirty="0">
                <a:solidFill>
                  <a:srgbClr val="8C8C8C"/>
                </a:solidFill>
                <a:latin typeface="KoPubWorld돋움체 Medium"/>
                <a:ea typeface="KoPubWorld돋움체 Medium"/>
                <a:cs typeface="KoPubWorld돋움체 Medium"/>
              </a:rPr>
              <a:t> 특정 섹터나 종목의 언급이 매수</a:t>
            </a:r>
            <a:r>
              <a:rPr lang="en-US" altLang="ko-KR" sz="900" dirty="0">
                <a:solidFill>
                  <a:srgbClr val="8C8C8C"/>
                </a:solidFill>
                <a:latin typeface="KoPubWorld돋움체 Medium"/>
                <a:ea typeface="KoPubWorld돋움체 Medium"/>
                <a:cs typeface="KoPubWorld돋움체 Medium"/>
              </a:rPr>
              <a:t>, </a:t>
            </a:r>
            <a:r>
              <a:rPr lang="ko-KR" altLang="en-US" sz="900" dirty="0">
                <a:solidFill>
                  <a:srgbClr val="8C8C8C"/>
                </a:solidFill>
                <a:latin typeface="KoPubWorld돋움체 Medium"/>
                <a:ea typeface="KoPubWorld돋움체 Medium"/>
                <a:cs typeface="KoPubWorld돋움체 Medium"/>
              </a:rPr>
              <a:t>매도</a:t>
            </a:r>
            <a:r>
              <a:rPr lang="en-US" altLang="ko-KR" sz="900" dirty="0">
                <a:solidFill>
                  <a:srgbClr val="8C8C8C"/>
                </a:solidFill>
                <a:latin typeface="KoPubWorld돋움체 Medium"/>
                <a:ea typeface="KoPubWorld돋움체 Medium"/>
                <a:cs typeface="KoPubWorld돋움체 Medium"/>
              </a:rPr>
              <a:t>, </a:t>
            </a:r>
            <a:r>
              <a:rPr lang="ko-KR" altLang="en-US" sz="900" dirty="0">
                <a:solidFill>
                  <a:srgbClr val="8C8C8C"/>
                </a:solidFill>
                <a:latin typeface="KoPubWorld돋움체 Medium"/>
                <a:ea typeface="KoPubWorld돋움체 Medium"/>
                <a:cs typeface="KoPubWorld돋움체 Medium"/>
              </a:rPr>
              <a:t>보유 혹은 직접투자의 추천으로 해석되어서는 안됩니다</a:t>
            </a:r>
            <a:r>
              <a:rPr lang="en-US" altLang="ko-KR" sz="900" dirty="0">
                <a:solidFill>
                  <a:srgbClr val="8C8C8C"/>
                </a:solidFill>
                <a:latin typeface="KoPubWorld돋움체 Medium"/>
                <a:ea typeface="KoPubWorld돋움체 Medium"/>
                <a:cs typeface="KoPubWorld돋움체 Medium"/>
              </a:rPr>
              <a:t>. </a:t>
            </a:r>
            <a:endParaRPr lang="en-US" sz="900" b="0" dirty="0" smtClean="0">
              <a:solidFill>
                <a:srgbClr val="8C8C8C"/>
              </a:solidFill>
              <a:latin typeface="KoPubWorld돋움체 Medium"/>
              <a:ea typeface="KoPubWorld돋움체 Medium"/>
              <a:cs typeface="KoPubWorld돋움체 Medium"/>
            </a:endParaRPr>
          </a:p>
          <a:p>
            <a:pPr algn="l">
              <a:lnSpc>
                <a:spcPct val="120000"/>
              </a:lnSpc>
            </a:pPr>
            <a:r>
              <a:rPr lang="en-US" altLang="ko-KR" sz="900" dirty="0" smtClean="0">
                <a:solidFill>
                  <a:srgbClr val="8C8C8C"/>
                </a:solidFill>
                <a:latin typeface="KoPubWorld돋움체 Medium"/>
                <a:ea typeface="KoPubWorld돋움체 Medium"/>
                <a:cs typeface="KoPubWorld돋움체 Medium"/>
              </a:rPr>
              <a:t>※ </a:t>
            </a:r>
            <a:r>
              <a:rPr lang="ko-KR" altLang="en-US" sz="900" dirty="0">
                <a:solidFill>
                  <a:srgbClr val="8C8C8C"/>
                </a:solidFill>
                <a:latin typeface="KoPubWorld돋움체 Medium"/>
                <a:ea typeface="KoPubWorld돋움체 Medium"/>
                <a:cs typeface="KoPubWorld돋움체 Medium"/>
              </a:rPr>
              <a:t>상기 내용은 시장 상황 및 운용 전략에 따라 집합투자업자의 판단으로 변경될 수 있으며</a:t>
            </a:r>
            <a:r>
              <a:rPr lang="en-US" altLang="ko-KR" sz="900" dirty="0">
                <a:solidFill>
                  <a:srgbClr val="8C8C8C"/>
                </a:solidFill>
                <a:latin typeface="KoPubWorld돋움체 Medium"/>
                <a:ea typeface="KoPubWorld돋움체 Medium"/>
                <a:cs typeface="KoPubWorld돋움체 Medium"/>
              </a:rPr>
              <a:t>, </a:t>
            </a:r>
            <a:r>
              <a:rPr lang="ko-KR" altLang="en-US" sz="900" dirty="0">
                <a:solidFill>
                  <a:srgbClr val="8C8C8C"/>
                </a:solidFill>
                <a:latin typeface="KoPubWorld돋움체 Medium"/>
                <a:ea typeface="KoPubWorld돋움체 Medium"/>
                <a:cs typeface="KoPubWorld돋움체 Medium"/>
              </a:rPr>
              <a:t>투자 참고 자료로 과거 실적이나 전망이 미래 수익을 보장하지 않고 그 정확성 및 완전성을 보장하지 않습니다</a:t>
            </a:r>
            <a:r>
              <a:rPr lang="en-US" altLang="ko-KR" sz="900" dirty="0" smtClean="0">
                <a:solidFill>
                  <a:srgbClr val="8C8C8C"/>
                </a:solidFill>
                <a:latin typeface="KoPubWorld돋움체 Medium"/>
                <a:ea typeface="KoPubWorld돋움체 Medium"/>
                <a:cs typeface="KoPubWorld돋움체 Medium"/>
              </a:rPr>
              <a:t>.</a:t>
            </a:r>
            <a:endParaRPr lang="ko-KR" altLang="en-US" sz="900" dirty="0">
              <a:solidFill>
                <a:srgbClr val="8C8C8C"/>
              </a:solidFill>
              <a:latin typeface="KoPubWorld돋움체 Medium"/>
              <a:ea typeface="KoPubWorld돋움체 Medium"/>
              <a:cs typeface="KoPubWorld돋움체 Medium"/>
            </a:endParaRPr>
          </a:p>
        </p:txBody>
      </p:sp>
      <p:pic>
        <p:nvPicPr>
          <p:cNvPr id="36" name="그림 35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3776" y="1337743"/>
            <a:ext cx="5095338" cy="2208962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722376" y="1004622"/>
            <a:ext cx="6858000" cy="295466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lang="ko-KR" altLang="en-US" sz="1400" b="1" dirty="0" smtClean="0">
                <a:solidFill>
                  <a:srgbClr val="191877"/>
                </a:solidFill>
                <a:latin typeface="KoPubWorld돋움체 Bold"/>
                <a:ea typeface="KoPubWorld돋움체 Bold"/>
                <a:cs typeface="KoPubWorld돋움체 Bold"/>
              </a:rPr>
              <a:t>유가 급등 이후 안정화</a:t>
            </a:r>
            <a:r>
              <a:rPr lang="en-US" altLang="ko-KR" sz="1400" b="1" dirty="0" smtClean="0">
                <a:solidFill>
                  <a:srgbClr val="191877"/>
                </a:solidFill>
                <a:latin typeface="KoPubWorld돋움체 Bold"/>
                <a:ea typeface="KoPubWorld돋움체 Bold"/>
                <a:cs typeface="KoPubWorld돋움체 Bold"/>
              </a:rPr>
              <a:t>, </a:t>
            </a:r>
            <a:r>
              <a:rPr lang="ko-KR" altLang="en-US" sz="1400" b="1" dirty="0" smtClean="0">
                <a:solidFill>
                  <a:srgbClr val="191877"/>
                </a:solidFill>
                <a:latin typeface="KoPubWorld돋움체 Bold"/>
                <a:ea typeface="KoPubWorld돋움체 Bold"/>
                <a:cs typeface="KoPubWorld돋움체 Bold"/>
              </a:rPr>
              <a:t>금리는 </a:t>
            </a:r>
            <a:r>
              <a:rPr lang="ko-KR" altLang="en-US" sz="1400" b="1" dirty="0" err="1" smtClean="0">
                <a:solidFill>
                  <a:srgbClr val="191877"/>
                </a:solidFill>
                <a:latin typeface="KoPubWorld돋움체 Bold"/>
                <a:ea typeface="KoPubWorld돋움체 Bold"/>
                <a:cs typeface="KoPubWorld돋움체 Bold"/>
              </a:rPr>
              <a:t>재상승</a:t>
            </a:r>
            <a:r>
              <a:rPr lang="en-US" altLang="ko-KR" sz="1400" b="1" dirty="0" smtClean="0">
                <a:solidFill>
                  <a:srgbClr val="191877"/>
                </a:solidFill>
                <a:latin typeface="KoPubWorld돋움체 Bold"/>
                <a:ea typeface="KoPubWorld돋움체 Bold"/>
                <a:cs typeface="KoPubWorld돋움체 Bold"/>
              </a:rPr>
              <a:t>: CPI </a:t>
            </a:r>
            <a:r>
              <a:rPr lang="ko-KR" altLang="en-US" sz="1400" b="1" dirty="0" smtClean="0">
                <a:solidFill>
                  <a:srgbClr val="191877"/>
                </a:solidFill>
                <a:latin typeface="KoPubWorld돋움체 Bold"/>
                <a:ea typeface="KoPubWorld돋움체 Bold"/>
                <a:cs typeface="KoPubWorld돋움체 Bold"/>
              </a:rPr>
              <a:t>둔화 흐름은 유지</a:t>
            </a:r>
            <a:endParaRPr sz="1400" b="1" dirty="0">
              <a:solidFill>
                <a:srgbClr val="191877"/>
              </a:solidFill>
              <a:latin typeface="KoPubWorld돋움체 Bold"/>
              <a:ea typeface="KoPubWorld돋움체 Bold"/>
              <a:cs typeface="KoPubWorld돋움체 Bold"/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6507332" y="1004622"/>
            <a:ext cx="5288428" cy="295466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lang="ko-KR" altLang="en-US" sz="1400" b="1" dirty="0" smtClean="0">
                <a:solidFill>
                  <a:srgbClr val="191877"/>
                </a:solidFill>
                <a:latin typeface="KoPubWorld돋움체 Bold"/>
                <a:ea typeface="KoPubWorld돋움체 Bold"/>
                <a:cs typeface="KoPubWorld돋움체 Bold"/>
              </a:rPr>
              <a:t>전쟁 리스크 이후 회복 경로</a:t>
            </a:r>
            <a:endParaRPr sz="1400" b="1" dirty="0">
              <a:solidFill>
                <a:srgbClr val="191877"/>
              </a:solidFill>
              <a:latin typeface="KoPubWorld돋움체 Bold"/>
              <a:ea typeface="KoPubWorld돋움체 Bold"/>
              <a:cs typeface="KoPubWorld돋움체 Bold"/>
            </a:endParaRPr>
          </a:p>
        </p:txBody>
      </p:sp>
    </p:spTree>
    <p:extLst>
      <p:ext uri="{BB962C8B-B14F-4D97-AF65-F5344CB8AC3E}">
        <p14:creationId xmlns:p14="http://schemas.microsoft.com/office/powerpoint/2010/main" val="147129493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top-menu-gradi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77724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77724"/>
            <a:ext cx="12191695" cy="868680"/>
          </a:xfrm>
          <a:prstGeom prst="rect">
            <a:avLst/>
          </a:prstGeom>
          <a:solidFill>
            <a:srgbClr val="FFFFFF"/>
          </a:solidFill>
          <a:ln w="6350">
            <a:solidFill>
              <a:srgbClr val="E5E5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kcgi-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82880"/>
            <a:ext cx="1508760" cy="5943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920240" y="164592"/>
            <a:ext cx="7315200" cy="36576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1" dirty="0" err="1">
                <a:solidFill>
                  <a:srgbClr val="191877"/>
                </a:solidFill>
                <a:latin typeface="KoPubWorld돋움체 Bold"/>
                <a:ea typeface="KoPubWorld돋움체 Bold"/>
                <a:cs typeface="KoPubWorld돋움체 Bold"/>
              </a:rPr>
              <a:t>이슈</a:t>
            </a:r>
            <a:r>
              <a:rPr sz="1800" b="1" dirty="0">
                <a:solidFill>
                  <a:srgbClr val="191877"/>
                </a:solidFill>
                <a:latin typeface="KoPubWorld돋움체 Bold"/>
                <a:ea typeface="KoPubWorld돋움체 Bold"/>
                <a:cs typeface="KoPubWorld돋움체 Bold"/>
              </a:rPr>
              <a:t> </a:t>
            </a:r>
            <a:r>
              <a:rPr sz="1800" b="1" dirty="0" smtClean="0">
                <a:solidFill>
                  <a:srgbClr val="191877"/>
                </a:solidFill>
                <a:latin typeface="KoPubWorld돋움체 Bold"/>
                <a:ea typeface="KoPubWorld돋움체 Bold"/>
                <a:cs typeface="KoPubWorld돋움체 Bold"/>
              </a:rPr>
              <a:t>#</a:t>
            </a:r>
            <a:r>
              <a:rPr lang="en-US" sz="1800" b="1" dirty="0" smtClean="0">
                <a:solidFill>
                  <a:srgbClr val="191877"/>
                </a:solidFill>
                <a:latin typeface="KoPubWorld돋움체 Bold"/>
                <a:ea typeface="KoPubWorld돋움체 Bold"/>
                <a:cs typeface="KoPubWorld돋움체 Bold"/>
              </a:rPr>
              <a:t>2</a:t>
            </a:r>
            <a:endParaRPr sz="1800" b="1" dirty="0">
              <a:solidFill>
                <a:srgbClr val="191877"/>
              </a:solidFill>
              <a:latin typeface="KoPubWorld돋움체 Bold"/>
              <a:ea typeface="KoPubWorld돋움체 Bold"/>
              <a:cs typeface="KoPubWorld돋움체 Bold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920240" y="570160"/>
            <a:ext cx="7315200" cy="276999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>
              <a:lnSpc>
                <a:spcPct val="120000"/>
              </a:lnSpc>
            </a:pPr>
            <a:r>
              <a:rPr lang="en-US" sz="1300" dirty="0">
                <a:solidFill>
                  <a:srgbClr val="595959"/>
                </a:solidFill>
                <a:latin typeface="KoPubWorld돋움체 Medium"/>
                <a:ea typeface="KoPubWorld돋움체 Medium"/>
                <a:cs typeface="KoPubWorld돋움체 Medium"/>
              </a:rPr>
              <a:t>5</a:t>
            </a:r>
            <a:r>
              <a:rPr lang="ko-KR" altLang="en-US" sz="1300" dirty="0">
                <a:solidFill>
                  <a:srgbClr val="595959"/>
                </a:solidFill>
                <a:latin typeface="KoPubWorld돋움체 Medium"/>
                <a:ea typeface="KoPubWorld돋움체 Medium"/>
                <a:cs typeface="KoPubWorld돋움체 Medium"/>
              </a:rPr>
              <a:t>월 </a:t>
            </a:r>
            <a:r>
              <a:rPr lang="en-US" altLang="ko-KR" sz="1300" dirty="0" err="1">
                <a:solidFill>
                  <a:srgbClr val="595959"/>
                </a:solidFill>
                <a:latin typeface="KoPubWorld돋움체 Medium"/>
                <a:ea typeface="KoPubWorld돋움체 Medium"/>
                <a:cs typeface="KoPubWorld돋움체 Medium"/>
              </a:rPr>
              <a:t>Kospi</a:t>
            </a:r>
            <a:r>
              <a:rPr lang="en-US" altLang="ko-KR" sz="1300" dirty="0">
                <a:solidFill>
                  <a:srgbClr val="595959"/>
                </a:solidFill>
                <a:latin typeface="KoPubWorld돋움체 Medium"/>
                <a:ea typeface="KoPubWorld돋움체 Medium"/>
                <a:cs typeface="KoPubWorld돋움체 Medium"/>
              </a:rPr>
              <a:t> </a:t>
            </a:r>
            <a:r>
              <a:rPr lang="ko-KR" altLang="en-US" sz="1300" dirty="0">
                <a:solidFill>
                  <a:srgbClr val="595959"/>
                </a:solidFill>
                <a:latin typeface="KoPubWorld돋움체 Medium"/>
                <a:ea typeface="KoPubWorld돋움체 Medium"/>
                <a:cs typeface="KoPubWorld돋움체 Medium"/>
              </a:rPr>
              <a:t>랠리 </a:t>
            </a:r>
            <a:r>
              <a:rPr lang="en-US" altLang="ko-KR" sz="1300" dirty="0">
                <a:solidFill>
                  <a:srgbClr val="595959"/>
                </a:solidFill>
                <a:latin typeface="KoPubWorld돋움체 Medium"/>
                <a:ea typeface="KoPubWorld돋움체 Medium"/>
                <a:cs typeface="KoPubWorld돋움체 Medium"/>
              </a:rPr>
              <a:t>– </a:t>
            </a:r>
            <a:r>
              <a:rPr lang="ko-KR" altLang="en-US" sz="1300" dirty="0">
                <a:solidFill>
                  <a:srgbClr val="595959"/>
                </a:solidFill>
                <a:latin typeface="KoPubWorld돋움체 Medium"/>
                <a:ea typeface="KoPubWorld돋움체 Medium"/>
                <a:cs typeface="KoPubWorld돋움체 Medium"/>
              </a:rPr>
              <a:t>삼성전자</a:t>
            </a:r>
            <a:r>
              <a:rPr lang="en-US" altLang="ko-KR" sz="1300" dirty="0" smtClean="0">
                <a:solidFill>
                  <a:srgbClr val="595959"/>
                </a:solidFill>
                <a:latin typeface="KoPubWorld돋움체 Medium"/>
                <a:ea typeface="KoPubWorld돋움체 Medium"/>
                <a:cs typeface="KoPubWorld돋움체 Medium"/>
              </a:rPr>
              <a:t>·</a:t>
            </a:r>
            <a:r>
              <a:rPr lang="ko-KR" altLang="en-US" sz="1300" dirty="0" smtClean="0">
                <a:solidFill>
                  <a:srgbClr val="595959"/>
                </a:solidFill>
                <a:latin typeface="KoPubWorld돋움체 Medium"/>
                <a:ea typeface="KoPubWorld돋움체 Medium"/>
                <a:cs typeface="KoPubWorld돋움체 Medium"/>
              </a:rPr>
              <a:t>하이닉스의 합산 시가총액이 </a:t>
            </a:r>
            <a:r>
              <a:rPr lang="en-US" altLang="ko-KR" sz="1300" dirty="0" smtClean="0">
                <a:solidFill>
                  <a:srgbClr val="595959"/>
                </a:solidFill>
                <a:latin typeface="KoPubWorld돋움체 Medium"/>
                <a:ea typeface="KoPubWorld돋움체 Medium"/>
                <a:cs typeface="KoPubWorld돋움체 Medium"/>
              </a:rPr>
              <a:t>KOSPI </a:t>
            </a:r>
            <a:r>
              <a:rPr lang="ko-KR" altLang="en-US" sz="1300" dirty="0" smtClean="0">
                <a:solidFill>
                  <a:srgbClr val="595959"/>
                </a:solidFill>
                <a:latin typeface="KoPubWorld돋움체 Medium"/>
                <a:ea typeface="KoPubWorld돋움체 Medium"/>
                <a:cs typeface="KoPubWorld돋움체 Medium"/>
              </a:rPr>
              <a:t>시가총액 </a:t>
            </a:r>
            <a:r>
              <a:rPr lang="en-US" altLang="ko-KR" sz="1300" dirty="0" smtClean="0">
                <a:solidFill>
                  <a:srgbClr val="595959"/>
                </a:solidFill>
                <a:latin typeface="KoPubWorld돋움체 Medium"/>
                <a:ea typeface="KoPubWorld돋움체 Medium"/>
                <a:cs typeface="KoPubWorld돋움체 Medium"/>
              </a:rPr>
              <a:t>50% </a:t>
            </a:r>
            <a:r>
              <a:rPr lang="ko-KR" altLang="en-US" sz="1300" dirty="0" smtClean="0">
                <a:solidFill>
                  <a:srgbClr val="595959"/>
                </a:solidFill>
                <a:latin typeface="KoPubWorld돋움체 Medium"/>
                <a:ea typeface="KoPubWorld돋움체 Medium"/>
                <a:cs typeface="KoPubWorld돋움체 Medium"/>
              </a:rPr>
              <a:t>초과</a:t>
            </a:r>
            <a:endParaRPr sz="1300" dirty="0">
              <a:solidFill>
                <a:srgbClr val="595959"/>
              </a:solidFill>
              <a:latin typeface="KoPubWorld돋움체 Medium"/>
              <a:ea typeface="KoPubWorld돋움체 Medium"/>
              <a:cs typeface="KoPubWorld돋움체 Medium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10058400" y="457200"/>
            <a:ext cx="2011680" cy="45720"/>
          </a:xfrm>
          <a:prstGeom prst="rect">
            <a:avLst/>
          </a:prstGeom>
          <a:solidFill>
            <a:srgbClr val="C9A8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058400" y="182880"/>
            <a:ext cx="2011680" cy="27432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r">
              <a:lnSpc>
                <a:spcPct val="120000"/>
              </a:lnSpc>
            </a:pPr>
            <a:r>
              <a:rPr sz="1100" b="0">
                <a:solidFill>
                  <a:srgbClr val="595959"/>
                </a:solidFill>
                <a:latin typeface="KoPubWorld돋움체 Medium"/>
                <a:ea typeface="KoPubWorld돋움체 Medium"/>
                <a:cs typeface="KoPubWorld돋움체 Medium"/>
              </a:rPr>
              <a:t>KCGI 자산운용 | 뉴스핌 월간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0" y="530352"/>
            <a:ext cx="2011680" cy="32004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r">
              <a:lnSpc>
                <a:spcPct val="120000"/>
              </a:lnSpc>
            </a:pPr>
            <a:r>
              <a:rPr sz="1200" b="1">
                <a:solidFill>
                  <a:srgbClr val="191877"/>
                </a:solidFill>
                <a:latin typeface="KoPubWorld돋움체 Bold"/>
                <a:ea typeface="KoPubWorld돋움체 Bold"/>
                <a:cs typeface="KoPubWorld돋움체 Bold"/>
              </a:rPr>
              <a:t>2026.05  ·  8/14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3703320"/>
            <a:ext cx="128016" cy="128016"/>
          </a:xfrm>
          <a:prstGeom prst="rect">
            <a:avLst/>
          </a:prstGeom>
          <a:solidFill>
            <a:srgbClr val="C9A8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94360" y="3520440"/>
            <a:ext cx="7132320" cy="438912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700" b="1">
                <a:solidFill>
                  <a:srgbClr val="191877"/>
                </a:solidFill>
                <a:latin typeface="KoPubWorld돋움체 Bold"/>
                <a:ea typeface="KoPubWorld돋움체 Bold"/>
                <a:cs typeface="KoPubWorld돋움체 Bold"/>
              </a:rPr>
              <a:t>핵심 포인트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" y="3977639"/>
            <a:ext cx="7132320" cy="758952"/>
          </a:xfrm>
          <a:prstGeom prst="rect">
            <a:avLst/>
          </a:prstGeom>
          <a:solidFill>
            <a:srgbClr val="E7EAF1"/>
          </a:solidFill>
          <a:ln w="6350">
            <a:solidFill>
              <a:srgbClr val="E5E5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365760" y="3977639"/>
            <a:ext cx="91440" cy="758952"/>
          </a:xfrm>
          <a:prstGeom prst="rect">
            <a:avLst/>
          </a:prstGeom>
          <a:solidFill>
            <a:srgbClr val="1918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66928" y="4014215"/>
            <a:ext cx="6858000" cy="25853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lang="en-US" altLang="ko-KR" sz="1200" b="1" dirty="0" smtClean="0">
                <a:solidFill>
                  <a:srgbClr val="191877"/>
                </a:solidFill>
                <a:latin typeface="KoPubWorld돋움체 Bold"/>
                <a:ea typeface="KoPubWorld돋움체 Bold"/>
                <a:cs typeface="KoPubWorld돋움체 Bold"/>
              </a:rPr>
              <a:t>P/E</a:t>
            </a:r>
            <a:r>
              <a:rPr lang="ko-KR" altLang="en-US" sz="1200" b="1" dirty="0">
                <a:solidFill>
                  <a:srgbClr val="191877"/>
                </a:solidFill>
                <a:latin typeface="KoPubWorld돋움체 Bold"/>
                <a:ea typeface="KoPubWorld돋움체 Bold"/>
                <a:cs typeface="KoPubWorld돋움체 Bold"/>
              </a:rPr>
              <a:t> </a:t>
            </a:r>
            <a:r>
              <a:rPr lang="ko-KR" altLang="en-US" sz="1200" b="1" dirty="0" smtClean="0">
                <a:solidFill>
                  <a:srgbClr val="191877"/>
                </a:solidFill>
                <a:latin typeface="KoPubWorld돋움체 Bold"/>
                <a:ea typeface="KoPubWorld돋움체 Bold"/>
                <a:cs typeface="KoPubWorld돋움체 Bold"/>
              </a:rPr>
              <a:t>기준 상단 지점이나 </a:t>
            </a:r>
            <a:r>
              <a:rPr lang="en-US" altLang="ko-KR" sz="1200" b="1" dirty="0" smtClean="0">
                <a:solidFill>
                  <a:srgbClr val="191877"/>
                </a:solidFill>
                <a:latin typeface="KoPubWorld돋움체 Bold"/>
                <a:ea typeface="KoPubWorld돋움체 Bold"/>
                <a:cs typeface="KoPubWorld돋움체 Bold"/>
              </a:rPr>
              <a:t>Forward P/E </a:t>
            </a:r>
            <a:r>
              <a:rPr lang="ko-KR" altLang="en-US" sz="1200" b="1" dirty="0" smtClean="0">
                <a:solidFill>
                  <a:srgbClr val="191877"/>
                </a:solidFill>
                <a:latin typeface="KoPubWorld돋움체 Bold"/>
                <a:ea typeface="KoPubWorld돋움체 Bold"/>
                <a:cs typeface="KoPubWorld돋움체 Bold"/>
              </a:rPr>
              <a:t>기준은 여전히 추가 </a:t>
            </a:r>
            <a:r>
              <a:rPr lang="ko-KR" altLang="en-US" sz="1200" b="1" dirty="0" err="1" smtClean="0">
                <a:solidFill>
                  <a:srgbClr val="191877"/>
                </a:solidFill>
                <a:latin typeface="KoPubWorld돋움체 Bold"/>
                <a:ea typeface="KoPubWorld돋움체 Bold"/>
                <a:cs typeface="KoPubWorld돋움체 Bold"/>
              </a:rPr>
              <a:t>리레이팅</a:t>
            </a:r>
            <a:r>
              <a:rPr lang="ko-KR" altLang="en-US" sz="1200" b="1" dirty="0" smtClean="0">
                <a:solidFill>
                  <a:srgbClr val="191877"/>
                </a:solidFill>
                <a:latin typeface="KoPubWorld돋움체 Bold"/>
                <a:ea typeface="KoPubWorld돋움체 Bold"/>
                <a:cs typeface="KoPubWorld돋움체 Bold"/>
              </a:rPr>
              <a:t> 여지 </a:t>
            </a:r>
            <a:endParaRPr sz="1200" b="1" dirty="0">
              <a:solidFill>
                <a:srgbClr val="191877"/>
              </a:solidFill>
              <a:latin typeface="KoPubWorld돋움체 Bold"/>
              <a:ea typeface="KoPubWorld돋움체 Bold"/>
              <a:cs typeface="KoPubWorld돋움체 Bold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566928" y="4288535"/>
            <a:ext cx="6858000" cy="421654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lang="ko-KR" altLang="en-US" sz="1000" b="0" dirty="0" smtClean="0">
                <a:solidFill>
                  <a:srgbClr val="1A1A1A"/>
                </a:solidFill>
                <a:latin typeface="KoPubWorld돋움체 Medium"/>
                <a:ea typeface="KoPubWorld돋움체 Medium"/>
                <a:cs typeface="KoPubWorld돋움체 Medium"/>
              </a:rPr>
              <a:t>최근 상승으로 </a:t>
            </a:r>
            <a:r>
              <a:rPr lang="en-US" altLang="ko-KR" sz="1000" dirty="0" smtClean="0">
                <a:solidFill>
                  <a:srgbClr val="1A1A1A"/>
                </a:solidFill>
                <a:latin typeface="KoPubWorld돋움체 Medium"/>
                <a:ea typeface="KoPubWorld돋움체 Medium"/>
                <a:cs typeface="KoPubWorld돋움체 Medium"/>
              </a:rPr>
              <a:t>P/E </a:t>
            </a:r>
            <a:r>
              <a:rPr lang="ko-KR" altLang="en-US" sz="1000" dirty="0" smtClean="0">
                <a:solidFill>
                  <a:srgbClr val="1A1A1A"/>
                </a:solidFill>
                <a:latin typeface="KoPubWorld돋움체 Medium"/>
                <a:ea typeface="KoPubWorld돋움체 Medium"/>
                <a:cs typeface="KoPubWorld돋움체 Medium"/>
              </a:rPr>
              <a:t>기준 상단 구간이나</a:t>
            </a:r>
            <a:r>
              <a:rPr lang="en-US" altLang="ko-KR" sz="1000" dirty="0" smtClean="0">
                <a:solidFill>
                  <a:srgbClr val="1A1A1A"/>
                </a:solidFill>
                <a:latin typeface="KoPubWorld돋움체 Medium"/>
                <a:ea typeface="KoPubWorld돋움체 Medium"/>
                <a:cs typeface="KoPubWorld돋움체 Medium"/>
              </a:rPr>
              <a:t>, Forward P/E </a:t>
            </a:r>
            <a:r>
              <a:rPr lang="ko-KR" altLang="en-US" sz="1000" dirty="0" smtClean="0">
                <a:solidFill>
                  <a:srgbClr val="1A1A1A"/>
                </a:solidFill>
                <a:latin typeface="KoPubWorld돋움체 Medium"/>
                <a:ea typeface="KoPubWorld돋움체 Medium"/>
                <a:cs typeface="KoPubWorld돋움체 Medium"/>
              </a:rPr>
              <a:t>기준은 과거 고점 대비 낮은 수준</a:t>
            </a:r>
            <a:endParaRPr lang="en-US" altLang="ko-KR" sz="1000" dirty="0" smtClean="0">
              <a:solidFill>
                <a:srgbClr val="1A1A1A"/>
              </a:solidFill>
              <a:latin typeface="KoPubWorld돋움체 Medium"/>
              <a:ea typeface="KoPubWorld돋움체 Medium"/>
              <a:cs typeface="KoPubWorld돋움체 Medium"/>
            </a:endParaRPr>
          </a:p>
          <a:p>
            <a:pPr algn="l">
              <a:lnSpc>
                <a:spcPct val="125000"/>
              </a:lnSpc>
            </a:pPr>
            <a:r>
              <a:rPr lang="ko-KR" altLang="en-US" sz="1000" b="0" dirty="0" smtClean="0">
                <a:solidFill>
                  <a:srgbClr val="1A1A1A"/>
                </a:solidFill>
                <a:latin typeface="KoPubWorld돋움체 Medium"/>
                <a:ea typeface="KoPubWorld돋움체 Medium"/>
                <a:cs typeface="KoPubWorld돋움체 Medium"/>
              </a:rPr>
              <a:t>추가적인 </a:t>
            </a:r>
            <a:r>
              <a:rPr lang="ko-KR" altLang="en-US" sz="1000" b="0" dirty="0" err="1" smtClean="0">
                <a:solidFill>
                  <a:srgbClr val="1A1A1A"/>
                </a:solidFill>
                <a:latin typeface="KoPubWorld돋움체 Medium"/>
                <a:ea typeface="KoPubWorld돋움체 Medium"/>
                <a:cs typeface="KoPubWorld돋움체 Medium"/>
              </a:rPr>
              <a:t>멀티플</a:t>
            </a:r>
            <a:r>
              <a:rPr lang="ko-KR" altLang="en-US" sz="1000" b="0" dirty="0" smtClean="0">
                <a:solidFill>
                  <a:srgbClr val="1A1A1A"/>
                </a:solidFill>
                <a:latin typeface="KoPubWorld돋움체 Medium"/>
                <a:ea typeface="KoPubWorld돋움체 Medium"/>
                <a:cs typeface="KoPubWorld돋움체 Medium"/>
              </a:rPr>
              <a:t> </a:t>
            </a:r>
            <a:r>
              <a:rPr lang="ko-KR" altLang="en-US" sz="1000" b="0" dirty="0" err="1" smtClean="0">
                <a:solidFill>
                  <a:srgbClr val="1A1A1A"/>
                </a:solidFill>
                <a:latin typeface="KoPubWorld돋움체 Medium"/>
                <a:ea typeface="KoPubWorld돋움체 Medium"/>
                <a:cs typeface="KoPubWorld돋움체 Medium"/>
              </a:rPr>
              <a:t>리레이팅</a:t>
            </a:r>
            <a:r>
              <a:rPr lang="ko-KR" altLang="en-US" sz="1000" b="0" dirty="0" smtClean="0">
                <a:solidFill>
                  <a:srgbClr val="1A1A1A"/>
                </a:solidFill>
                <a:latin typeface="KoPubWorld돋움체 Medium"/>
                <a:ea typeface="KoPubWorld돋움체 Medium"/>
                <a:cs typeface="KoPubWorld돋움체 Medium"/>
              </a:rPr>
              <a:t> 여지는 잔존</a:t>
            </a:r>
            <a:endParaRPr sz="1000" b="0" dirty="0">
              <a:solidFill>
                <a:srgbClr val="1A1A1A"/>
              </a:solidFill>
              <a:latin typeface="KoPubWorld돋움체 Medium"/>
              <a:ea typeface="KoPubWorld돋움체 Medium"/>
              <a:cs typeface="KoPubWorld돋움체 Medium"/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365760" y="4800600"/>
            <a:ext cx="7132320" cy="758952"/>
          </a:xfrm>
          <a:prstGeom prst="rect">
            <a:avLst/>
          </a:prstGeom>
          <a:solidFill>
            <a:srgbClr val="E7EAF1"/>
          </a:solidFill>
          <a:ln w="6350">
            <a:solidFill>
              <a:srgbClr val="E5E5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365760" y="4800600"/>
            <a:ext cx="91440" cy="758952"/>
          </a:xfrm>
          <a:prstGeom prst="rect">
            <a:avLst/>
          </a:prstGeom>
          <a:solidFill>
            <a:srgbClr val="1918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66928" y="4837176"/>
            <a:ext cx="6858000" cy="25853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200" b="1" dirty="0">
                <a:solidFill>
                  <a:srgbClr val="191877"/>
                </a:solidFill>
                <a:latin typeface="KoPubWorld돋움체 Bold"/>
                <a:ea typeface="KoPubWorld돋움체 Bold"/>
                <a:cs typeface="KoPubWorld돋움체 Bold"/>
              </a:rPr>
              <a:t>삼성전자</a:t>
            </a:r>
            <a:r>
              <a:rPr lang="en-US" altLang="ko-KR" sz="1200" b="1" dirty="0">
                <a:solidFill>
                  <a:srgbClr val="191877"/>
                </a:solidFill>
                <a:latin typeface="KoPubWorld돋움체 Bold"/>
                <a:ea typeface="KoPubWorld돋움체 Bold"/>
                <a:cs typeface="KoPubWorld돋움체 Bold"/>
              </a:rPr>
              <a:t>·SK</a:t>
            </a:r>
            <a:r>
              <a:rPr lang="ko-KR" altLang="en-US" sz="1200" b="1" dirty="0">
                <a:solidFill>
                  <a:srgbClr val="191877"/>
                </a:solidFill>
                <a:latin typeface="KoPubWorld돋움체 Bold"/>
                <a:ea typeface="KoPubWorld돋움체 Bold"/>
                <a:cs typeface="KoPubWorld돋움체 Bold"/>
              </a:rPr>
              <a:t>하이닉스 </a:t>
            </a:r>
            <a:r>
              <a:rPr lang="ko-KR" altLang="en-US" sz="1200" b="1" dirty="0" err="1">
                <a:solidFill>
                  <a:srgbClr val="191877"/>
                </a:solidFill>
                <a:latin typeface="KoPubWorld돋움체 Bold"/>
                <a:ea typeface="KoPubWorld돋움체 Bold"/>
                <a:cs typeface="KoPubWorld돋움체 Bold"/>
              </a:rPr>
              <a:t>시총</a:t>
            </a:r>
            <a:r>
              <a:rPr lang="ko-KR" altLang="en-US" sz="1200" b="1" dirty="0">
                <a:solidFill>
                  <a:srgbClr val="191877"/>
                </a:solidFill>
                <a:latin typeface="KoPubWorld돋움체 Bold"/>
                <a:ea typeface="KoPubWorld돋움체 Bold"/>
                <a:cs typeface="KoPubWorld돋움체 Bold"/>
              </a:rPr>
              <a:t> 비중이 </a:t>
            </a:r>
            <a:r>
              <a:rPr lang="en-US" altLang="ko-KR" sz="1200" b="1" dirty="0">
                <a:solidFill>
                  <a:srgbClr val="191877"/>
                </a:solidFill>
                <a:latin typeface="KoPubWorld돋움체 Bold"/>
                <a:ea typeface="KoPubWorld돋움체 Bold"/>
                <a:cs typeface="KoPubWorld돋움체 Bold"/>
              </a:rPr>
              <a:t>50%</a:t>
            </a:r>
            <a:r>
              <a:rPr lang="ko-KR" altLang="en-US" sz="1200" b="1" dirty="0">
                <a:solidFill>
                  <a:srgbClr val="191877"/>
                </a:solidFill>
                <a:latin typeface="KoPubWorld돋움체 Bold"/>
                <a:ea typeface="KoPubWorld돋움체 Bold"/>
                <a:cs typeface="KoPubWorld돋움체 Bold"/>
              </a:rPr>
              <a:t>를 돌파</a:t>
            </a:r>
            <a:endParaRPr sz="1200" b="1" dirty="0">
              <a:solidFill>
                <a:srgbClr val="191877"/>
              </a:solidFill>
              <a:latin typeface="KoPubWorld돋움체 Bold"/>
              <a:ea typeface="KoPubWorld돋움체 Bold"/>
              <a:cs typeface="KoPubWorld돋움체 Bold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566928" y="5111496"/>
            <a:ext cx="6858000" cy="421654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lang="en-US" sz="1000" b="0" dirty="0" smtClean="0">
                <a:solidFill>
                  <a:srgbClr val="1A1A1A"/>
                </a:solidFill>
                <a:latin typeface="KoPubWorld돋움체 Medium"/>
                <a:ea typeface="KoPubWorld돋움체 Medium"/>
                <a:cs typeface="KoPubWorld돋움체 Medium"/>
              </a:rPr>
              <a:t>5</a:t>
            </a:r>
            <a:r>
              <a:rPr lang="ko-KR" altLang="en-US" sz="1000" b="0" dirty="0" smtClean="0">
                <a:solidFill>
                  <a:srgbClr val="1A1A1A"/>
                </a:solidFill>
                <a:latin typeface="KoPubWorld돋움체 Medium"/>
                <a:ea typeface="KoPubWorld돋움체 Medium"/>
                <a:cs typeface="KoPubWorld돋움체 Medium"/>
              </a:rPr>
              <a:t>월 랠리 과정에서 삼성전자와 </a:t>
            </a:r>
            <a:r>
              <a:rPr lang="en-US" altLang="ko-KR" sz="1000" b="0" dirty="0" smtClean="0">
                <a:solidFill>
                  <a:srgbClr val="1A1A1A"/>
                </a:solidFill>
                <a:latin typeface="KoPubWorld돋움체 Medium"/>
                <a:ea typeface="KoPubWorld돋움체 Medium"/>
                <a:cs typeface="KoPubWorld돋움체 Medium"/>
              </a:rPr>
              <a:t>SK</a:t>
            </a:r>
            <a:r>
              <a:rPr lang="ko-KR" altLang="en-US" sz="1000" b="0" dirty="0" smtClean="0">
                <a:solidFill>
                  <a:srgbClr val="1A1A1A"/>
                </a:solidFill>
                <a:latin typeface="KoPubWorld돋움체 Medium"/>
                <a:ea typeface="KoPubWorld돋움체 Medium"/>
                <a:cs typeface="KoPubWorld돋움체 Medium"/>
              </a:rPr>
              <a:t>하이닉스의 </a:t>
            </a:r>
            <a:r>
              <a:rPr lang="en-US" altLang="ko-KR" sz="1000" b="0" dirty="0" smtClean="0">
                <a:solidFill>
                  <a:srgbClr val="1A1A1A"/>
                </a:solidFill>
                <a:latin typeface="KoPubWorld돋움체 Medium"/>
                <a:ea typeface="KoPubWorld돋움체 Medium"/>
                <a:cs typeface="KoPubWorld돋움체 Medium"/>
              </a:rPr>
              <a:t>KOSPI </a:t>
            </a:r>
            <a:r>
              <a:rPr lang="ko-KR" altLang="en-US" sz="1000" b="0" dirty="0" smtClean="0">
                <a:solidFill>
                  <a:srgbClr val="1A1A1A"/>
                </a:solidFill>
                <a:latin typeface="KoPubWorld돋움체 Medium"/>
                <a:ea typeface="KoPubWorld돋움체 Medium"/>
                <a:cs typeface="KoPubWorld돋움체 Medium"/>
              </a:rPr>
              <a:t>내 시가총액 비중이 </a:t>
            </a:r>
            <a:r>
              <a:rPr lang="en-US" altLang="ko-KR" sz="1000" b="0" dirty="0" smtClean="0">
                <a:solidFill>
                  <a:srgbClr val="1A1A1A"/>
                </a:solidFill>
                <a:latin typeface="KoPubWorld돋움체 Medium"/>
                <a:ea typeface="KoPubWorld돋움체 Medium"/>
                <a:cs typeface="KoPubWorld돋움체 Medium"/>
              </a:rPr>
              <a:t>50%</a:t>
            </a:r>
            <a:r>
              <a:rPr lang="ko-KR" altLang="en-US" sz="1000" b="0" dirty="0" smtClean="0">
                <a:solidFill>
                  <a:srgbClr val="1A1A1A"/>
                </a:solidFill>
                <a:latin typeface="KoPubWorld돋움체 Medium"/>
                <a:ea typeface="KoPubWorld돋움체 Medium"/>
                <a:cs typeface="KoPubWorld돋움체 Medium"/>
              </a:rPr>
              <a:t>를 넘어섬</a:t>
            </a:r>
            <a:endParaRPr lang="en-US" altLang="ko-KR" sz="1000" b="0" dirty="0" smtClean="0">
              <a:solidFill>
                <a:srgbClr val="1A1A1A"/>
              </a:solidFill>
              <a:latin typeface="KoPubWorld돋움체 Medium"/>
              <a:ea typeface="KoPubWorld돋움체 Medium"/>
              <a:cs typeface="KoPubWorld돋움체 Medium"/>
            </a:endParaRPr>
          </a:p>
          <a:p>
            <a:pPr algn="l">
              <a:lnSpc>
                <a:spcPct val="125000"/>
              </a:lnSpc>
            </a:pPr>
            <a:r>
              <a:rPr lang="ko-KR" altLang="en-US" sz="1000" dirty="0" smtClean="0">
                <a:solidFill>
                  <a:srgbClr val="1A1A1A"/>
                </a:solidFill>
                <a:latin typeface="KoPubWorld돋움체 Medium"/>
                <a:ea typeface="KoPubWorld돋움체 Medium"/>
                <a:cs typeface="KoPubWorld돋움체 Medium"/>
              </a:rPr>
              <a:t>두 대형 반도체 종목에 지수가 크게 좌우되는 구조 강화</a:t>
            </a:r>
            <a:endParaRPr sz="1000" b="0" dirty="0">
              <a:solidFill>
                <a:srgbClr val="1A1A1A"/>
              </a:solidFill>
              <a:latin typeface="KoPubWorld돋움체 Medium"/>
              <a:ea typeface="KoPubWorld돋움체 Medium"/>
              <a:cs typeface="KoPubWorld돋움체 Medium"/>
            </a:endParaRPr>
          </a:p>
        </p:txBody>
      </p:sp>
      <p:sp>
        <p:nvSpPr>
          <p:cNvPr id="22" name="Rectangle 21"/>
          <p:cNvSpPr/>
          <p:nvPr/>
        </p:nvSpPr>
        <p:spPr>
          <a:xfrm>
            <a:off x="365760" y="5623559"/>
            <a:ext cx="7132320" cy="758952"/>
          </a:xfrm>
          <a:prstGeom prst="rect">
            <a:avLst/>
          </a:prstGeom>
          <a:solidFill>
            <a:srgbClr val="E7EAF1"/>
          </a:solidFill>
          <a:ln w="6350">
            <a:solidFill>
              <a:srgbClr val="E5E5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365760" y="5623559"/>
            <a:ext cx="91440" cy="758952"/>
          </a:xfrm>
          <a:prstGeom prst="rect">
            <a:avLst/>
          </a:prstGeom>
          <a:solidFill>
            <a:srgbClr val="1918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566928" y="5660135"/>
            <a:ext cx="6858000" cy="25853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lang="ko-KR" altLang="en-US" sz="1200" b="1" dirty="0" smtClean="0">
                <a:solidFill>
                  <a:srgbClr val="191877"/>
                </a:solidFill>
                <a:latin typeface="KoPubWorld돋움체 Bold"/>
                <a:ea typeface="KoPubWorld돋움체 Bold"/>
                <a:cs typeface="KoPubWorld돋움체 Bold"/>
              </a:rPr>
              <a:t>대형주 </a:t>
            </a:r>
            <a:r>
              <a:rPr lang="ko-KR" altLang="en-US" sz="1200" b="1" dirty="0" smtClean="0">
                <a:solidFill>
                  <a:srgbClr val="191877"/>
                </a:solidFill>
                <a:latin typeface="KoPubWorld돋움체 Bold"/>
                <a:ea typeface="KoPubWorld돋움체 Bold"/>
                <a:cs typeface="KoPubWorld돋움체 Bold"/>
              </a:rPr>
              <a:t>쏠림 현상 심화</a:t>
            </a:r>
            <a:endParaRPr sz="1200" b="1" dirty="0">
              <a:solidFill>
                <a:srgbClr val="191877"/>
              </a:solidFill>
              <a:latin typeface="KoPubWorld돋움체 Bold"/>
              <a:ea typeface="KoPubWorld돋움체 Bold"/>
              <a:cs typeface="KoPubWorld돋움체 Bold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566928" y="5934455"/>
            <a:ext cx="6858000" cy="421654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lang="ko-KR" altLang="en-US" sz="1000" b="0" dirty="0" smtClean="0">
                <a:solidFill>
                  <a:srgbClr val="1A1A1A"/>
                </a:solidFill>
                <a:latin typeface="KoPubWorld돋움체 Medium"/>
                <a:ea typeface="KoPubWorld돋움체 Medium"/>
                <a:cs typeface="KoPubWorld돋움체 Medium"/>
              </a:rPr>
              <a:t>삼성전자와 </a:t>
            </a:r>
            <a:r>
              <a:rPr lang="en-US" altLang="ko-KR" sz="1000" b="0" dirty="0" smtClean="0">
                <a:solidFill>
                  <a:srgbClr val="1A1A1A"/>
                </a:solidFill>
                <a:latin typeface="KoPubWorld돋움체 Medium"/>
                <a:ea typeface="KoPubWorld돋움체 Medium"/>
                <a:cs typeface="KoPubWorld돋움체 Medium"/>
              </a:rPr>
              <a:t>SK </a:t>
            </a:r>
            <a:r>
              <a:rPr lang="ko-KR" altLang="en-US" sz="1000" b="0" dirty="0" smtClean="0">
                <a:solidFill>
                  <a:srgbClr val="1A1A1A"/>
                </a:solidFill>
                <a:latin typeface="KoPubWorld돋움체 Medium"/>
                <a:ea typeface="KoPubWorld돋움체 Medium"/>
                <a:cs typeface="KoPubWorld돋움체 Medium"/>
              </a:rPr>
              <a:t>하이닉스 개별 종목 </a:t>
            </a:r>
            <a:r>
              <a:rPr lang="ko-KR" altLang="en-US" sz="1000" b="0" dirty="0" err="1" smtClean="0">
                <a:solidFill>
                  <a:srgbClr val="1A1A1A"/>
                </a:solidFill>
                <a:latin typeface="KoPubWorld돋움체 Medium"/>
                <a:ea typeface="KoPubWorld돋움체 Medium"/>
                <a:cs typeface="KoPubWorld돋움체 Medium"/>
              </a:rPr>
              <a:t>레버리지</a:t>
            </a:r>
            <a:r>
              <a:rPr lang="ko-KR" altLang="en-US" sz="1000" b="0" dirty="0" smtClean="0">
                <a:solidFill>
                  <a:srgbClr val="1A1A1A"/>
                </a:solidFill>
                <a:latin typeface="KoPubWorld돋움체 Medium"/>
                <a:ea typeface="KoPubWorld돋움체 Medium"/>
                <a:cs typeface="KoPubWorld돋움체 Medium"/>
              </a:rPr>
              <a:t> 상장 이후 증시는 상승 했으나</a:t>
            </a:r>
            <a:r>
              <a:rPr lang="en-US" altLang="ko-KR" sz="1000" b="0" dirty="0" smtClean="0">
                <a:solidFill>
                  <a:srgbClr val="1A1A1A"/>
                </a:solidFill>
                <a:latin typeface="KoPubWorld돋움체 Medium"/>
                <a:ea typeface="KoPubWorld돋움체 Medium"/>
                <a:cs typeface="KoPubWorld돋움체 Medium"/>
              </a:rPr>
              <a:t>, 5</a:t>
            </a:r>
            <a:r>
              <a:rPr lang="ko-KR" altLang="en-US" sz="1000" b="0" dirty="0" smtClean="0">
                <a:solidFill>
                  <a:srgbClr val="1A1A1A"/>
                </a:solidFill>
                <a:latin typeface="KoPubWorld돋움체 Medium"/>
                <a:ea typeface="KoPubWorld돋움체 Medium"/>
                <a:cs typeface="KoPubWorld돋움체 Medium"/>
              </a:rPr>
              <a:t>월 마지막 </a:t>
            </a:r>
            <a:r>
              <a:rPr lang="en-US" altLang="ko-KR" sz="1000" b="0" dirty="0" smtClean="0">
                <a:solidFill>
                  <a:srgbClr val="1A1A1A"/>
                </a:solidFill>
                <a:latin typeface="KoPubWorld돋움체 Medium"/>
                <a:ea typeface="KoPubWorld돋움체 Medium"/>
                <a:cs typeface="KoPubWorld돋움체 Medium"/>
              </a:rPr>
              <a:t>3</a:t>
            </a:r>
            <a:r>
              <a:rPr lang="ko-KR" altLang="en-US" sz="1000" b="0" dirty="0" smtClean="0">
                <a:solidFill>
                  <a:srgbClr val="1A1A1A"/>
                </a:solidFill>
                <a:latin typeface="KoPubWorld돋움체 Medium"/>
                <a:ea typeface="KoPubWorld돋움체 Medium"/>
                <a:cs typeface="KoPubWorld돋움체 Medium"/>
              </a:rPr>
              <a:t>영업일 기준 상승 종목 </a:t>
            </a:r>
            <a:r>
              <a:rPr lang="en-US" altLang="ko-KR" sz="1000" b="0" dirty="0" smtClean="0">
                <a:solidFill>
                  <a:srgbClr val="1A1A1A"/>
                </a:solidFill>
                <a:latin typeface="KoPubWorld돋움체 Medium"/>
                <a:ea typeface="KoPubWorld돋움체 Medium"/>
                <a:cs typeface="KoPubWorld돋움체 Medium"/>
              </a:rPr>
              <a:t>75 ~ 214</a:t>
            </a:r>
            <a:r>
              <a:rPr lang="ko-KR" altLang="en-US" sz="1000" b="0" dirty="0" smtClean="0">
                <a:solidFill>
                  <a:srgbClr val="1A1A1A"/>
                </a:solidFill>
                <a:latin typeface="KoPubWorld돋움체 Medium"/>
                <a:ea typeface="KoPubWorld돋움체 Medium"/>
                <a:cs typeface="KoPubWorld돋움체 Medium"/>
              </a:rPr>
              <a:t>개</a:t>
            </a:r>
            <a:r>
              <a:rPr lang="en-US" altLang="ko-KR" sz="1000" b="0" dirty="0" smtClean="0">
                <a:solidFill>
                  <a:srgbClr val="1A1A1A"/>
                </a:solidFill>
                <a:latin typeface="KoPubWorld돋움체 Medium"/>
                <a:ea typeface="KoPubWorld돋움체 Medium"/>
                <a:cs typeface="KoPubWorld돋움체 Medium"/>
              </a:rPr>
              <a:t>,</a:t>
            </a:r>
          </a:p>
          <a:p>
            <a:pPr algn="l">
              <a:lnSpc>
                <a:spcPct val="125000"/>
              </a:lnSpc>
            </a:pPr>
            <a:r>
              <a:rPr lang="ko-KR" altLang="en-US" sz="1000" dirty="0" smtClean="0">
                <a:solidFill>
                  <a:srgbClr val="1A1A1A"/>
                </a:solidFill>
                <a:latin typeface="KoPubWorld돋움체 Medium"/>
                <a:ea typeface="KoPubWorld돋움체 Medium"/>
                <a:cs typeface="KoPubWorld돋움체 Medium"/>
              </a:rPr>
              <a:t>하락 종목 </a:t>
            </a:r>
            <a:r>
              <a:rPr lang="en-US" altLang="ko-KR" sz="1000" dirty="0" smtClean="0">
                <a:solidFill>
                  <a:srgbClr val="1A1A1A"/>
                </a:solidFill>
                <a:latin typeface="KoPubWorld돋움체 Medium"/>
                <a:ea typeface="KoPubWorld돋움체 Medium"/>
                <a:cs typeface="KoPubWorld돋움체 Medium"/>
              </a:rPr>
              <a:t>678 ~ 826</a:t>
            </a:r>
            <a:r>
              <a:rPr lang="ko-KR" altLang="en-US" sz="1000" dirty="0" smtClean="0">
                <a:solidFill>
                  <a:srgbClr val="1A1A1A"/>
                </a:solidFill>
                <a:latin typeface="KoPubWorld돋움체 Medium"/>
                <a:ea typeface="KoPubWorld돋움체 Medium"/>
                <a:cs typeface="KoPubWorld돋움체 Medium"/>
              </a:rPr>
              <a:t>개로 하락 종목 수가 압도적인 상황</a:t>
            </a:r>
            <a:endParaRPr sz="1000" b="0" dirty="0">
              <a:solidFill>
                <a:srgbClr val="1A1A1A"/>
              </a:solidFill>
              <a:latin typeface="KoPubWorld돋움체 Medium"/>
              <a:ea typeface="KoPubWorld돋움체 Medium"/>
              <a:cs typeface="KoPubWorld돋움체 Medium"/>
            </a:endParaRPr>
          </a:p>
        </p:txBody>
      </p:sp>
      <p:sp>
        <p:nvSpPr>
          <p:cNvPr id="26" name="Rectangle 25"/>
          <p:cNvSpPr/>
          <p:nvPr/>
        </p:nvSpPr>
        <p:spPr>
          <a:xfrm>
            <a:off x="7680960" y="3703320"/>
            <a:ext cx="128016" cy="128016"/>
          </a:xfrm>
          <a:prstGeom prst="rect">
            <a:avLst/>
          </a:prstGeom>
          <a:solidFill>
            <a:srgbClr val="C9A8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7909560" y="3520440"/>
            <a:ext cx="4114800" cy="438912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700" b="1">
                <a:solidFill>
                  <a:srgbClr val="191877"/>
                </a:solidFill>
                <a:latin typeface="KoPubWorld돋움체 Bold"/>
                <a:ea typeface="KoPubWorld돋움체 Bold"/>
                <a:cs typeface="KoPubWorld돋움체 Bold"/>
              </a:rPr>
              <a:t>포트폴리오 함의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680960" y="3950208"/>
            <a:ext cx="4114800" cy="256993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>
              <a:lnSpc>
                <a:spcPct val="140000"/>
              </a:lnSpc>
            </a:pPr>
            <a:r>
              <a:rPr lang="en-US" altLang="ko-KR" sz="1100" dirty="0">
                <a:solidFill>
                  <a:srgbClr val="1A1A1A"/>
                </a:solidFill>
                <a:latin typeface="KoPubWorld돋움체 Medium"/>
                <a:ea typeface="KoPubWorld돋움체 Medium"/>
                <a:cs typeface="KoPubWorld돋움체 Medium"/>
              </a:rPr>
              <a:t>-</a:t>
            </a:r>
            <a:endParaRPr lang="en-US" altLang="ko-KR" sz="1100" dirty="0">
              <a:solidFill>
                <a:srgbClr val="1A1A1A"/>
              </a:solidFill>
              <a:latin typeface="KoPubWorld돋움체 Medium"/>
              <a:ea typeface="KoPubWorld돋움체 Medium"/>
              <a:cs typeface="KoPubWorld돋움체 Medium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365760" y="6382512"/>
            <a:ext cx="11430000" cy="203133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 dirty="0">
                <a:solidFill>
                  <a:srgbClr val="8C8C8C"/>
                </a:solidFill>
                <a:latin typeface="KoPubWorld돋움체 Medium"/>
                <a:ea typeface="KoPubWorld돋움체 Medium"/>
                <a:cs typeface="KoPubWorld돋움체 Medium"/>
              </a:rPr>
              <a:t>* </a:t>
            </a:r>
            <a:r>
              <a:rPr sz="900" b="0" dirty="0" err="1" smtClean="0">
                <a:solidFill>
                  <a:srgbClr val="8C8C8C"/>
                </a:solidFill>
                <a:latin typeface="KoPubWorld돋움체 Medium"/>
                <a:ea typeface="KoPubWorld돋움체 Medium"/>
                <a:cs typeface="KoPubWorld돋움체 Medium"/>
              </a:rPr>
              <a:t>데이터</a:t>
            </a:r>
            <a:r>
              <a:rPr sz="900" b="0" dirty="0" smtClean="0">
                <a:solidFill>
                  <a:srgbClr val="8C8C8C"/>
                </a:solidFill>
                <a:latin typeface="KoPubWorld돋움체 Medium"/>
                <a:ea typeface="KoPubWorld돋움체 Medium"/>
                <a:cs typeface="KoPubWorld돋움체 Medium"/>
              </a:rPr>
              <a:t> </a:t>
            </a:r>
            <a:r>
              <a:rPr sz="900" b="0" dirty="0">
                <a:solidFill>
                  <a:srgbClr val="8C8C8C"/>
                </a:solidFill>
                <a:latin typeface="KoPubWorld돋움체 Medium"/>
                <a:ea typeface="KoPubWorld돋움체 Medium"/>
                <a:cs typeface="KoPubWorld돋움체 Medium"/>
              </a:rPr>
              <a:t>출처: </a:t>
            </a:r>
            <a:r>
              <a:rPr lang="en-US" sz="900" b="0" dirty="0" smtClean="0">
                <a:solidFill>
                  <a:srgbClr val="8C8C8C"/>
                </a:solidFill>
                <a:latin typeface="KoPubWorld돋움체 Medium"/>
                <a:ea typeface="KoPubWorld돋움체 Medium"/>
                <a:cs typeface="KoPubWorld돋움체 Medium"/>
              </a:rPr>
              <a:t>Bloomberg</a:t>
            </a:r>
            <a:endParaRPr sz="900" b="0" dirty="0">
              <a:solidFill>
                <a:srgbClr val="8C8C8C"/>
              </a:solidFill>
              <a:latin typeface="KoPubWorld돋움체 Medium"/>
              <a:ea typeface="KoPubWorld돋움체 Medium"/>
              <a:cs typeface="KoPubWorld돋움체 Medium"/>
            </a:endParaRPr>
          </a:p>
        </p:txBody>
      </p:sp>
      <p:sp>
        <p:nvSpPr>
          <p:cNvPr id="30" name="Rectangle 29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8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365760" y="6517886"/>
            <a:ext cx="11430000" cy="369332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>
              <a:lnSpc>
                <a:spcPct val="120000"/>
              </a:lnSpc>
            </a:pPr>
            <a:r>
              <a:rPr sz="900" b="0" dirty="0">
                <a:solidFill>
                  <a:srgbClr val="8C8C8C"/>
                </a:solidFill>
                <a:latin typeface="KoPubWorld돋움체 Medium"/>
                <a:ea typeface="KoPubWorld돋움체 Medium"/>
                <a:cs typeface="KoPubWorld돋움체 Medium"/>
              </a:rPr>
              <a:t>※ </a:t>
            </a:r>
            <a:r>
              <a:rPr sz="900" b="0" dirty="0" err="1">
                <a:solidFill>
                  <a:srgbClr val="8C8C8C"/>
                </a:solidFill>
                <a:latin typeface="KoPubWorld돋움체 Medium"/>
                <a:ea typeface="KoPubWorld돋움체 Medium"/>
                <a:cs typeface="KoPubWorld돋움체 Medium"/>
              </a:rPr>
              <a:t>정보</a:t>
            </a:r>
            <a:r>
              <a:rPr sz="900" b="0" dirty="0">
                <a:solidFill>
                  <a:srgbClr val="8C8C8C"/>
                </a:solidFill>
                <a:latin typeface="KoPubWorld돋움체 Medium"/>
                <a:ea typeface="KoPubWorld돋움체 Medium"/>
                <a:cs typeface="KoPubWorld돋움체 Medium"/>
              </a:rPr>
              <a:t> </a:t>
            </a:r>
            <a:r>
              <a:rPr sz="900" b="0" dirty="0" err="1">
                <a:solidFill>
                  <a:srgbClr val="8C8C8C"/>
                </a:solidFill>
                <a:latin typeface="KoPubWorld돋움체 Medium"/>
                <a:ea typeface="KoPubWorld돋움체 Medium"/>
                <a:cs typeface="KoPubWorld돋움체 Medium"/>
              </a:rPr>
              <a:t>제공</a:t>
            </a:r>
            <a:r>
              <a:rPr sz="900" b="0" dirty="0">
                <a:solidFill>
                  <a:srgbClr val="8C8C8C"/>
                </a:solidFill>
                <a:latin typeface="KoPubWorld돋움체 Medium"/>
                <a:ea typeface="KoPubWorld돋움체 Medium"/>
                <a:cs typeface="KoPubWorld돋움체 Medium"/>
              </a:rPr>
              <a:t> </a:t>
            </a:r>
            <a:r>
              <a:rPr sz="900" b="0" dirty="0" err="1">
                <a:solidFill>
                  <a:srgbClr val="8C8C8C"/>
                </a:solidFill>
                <a:latin typeface="KoPubWorld돋움체 Medium"/>
                <a:ea typeface="KoPubWorld돋움체 Medium"/>
                <a:cs typeface="KoPubWorld돋움체 Medium"/>
              </a:rPr>
              <a:t>목적</a:t>
            </a:r>
            <a:r>
              <a:rPr sz="900" b="0" dirty="0">
                <a:solidFill>
                  <a:srgbClr val="8C8C8C"/>
                </a:solidFill>
                <a:latin typeface="KoPubWorld돋움체 Medium"/>
                <a:ea typeface="KoPubWorld돋움체 Medium"/>
                <a:cs typeface="KoPubWorld돋움체 Medium"/>
              </a:rPr>
              <a:t>, </a:t>
            </a:r>
            <a:r>
              <a:rPr sz="900" b="0" dirty="0" err="1">
                <a:solidFill>
                  <a:srgbClr val="8C8C8C"/>
                </a:solidFill>
                <a:latin typeface="KoPubWorld돋움체 Medium"/>
                <a:ea typeface="KoPubWorld돋움체 Medium"/>
                <a:cs typeface="KoPubWorld돋움체 Medium"/>
              </a:rPr>
              <a:t>투자권유</a:t>
            </a:r>
            <a:r>
              <a:rPr sz="900" b="0" dirty="0">
                <a:solidFill>
                  <a:srgbClr val="8C8C8C"/>
                </a:solidFill>
                <a:latin typeface="KoPubWorld돋움체 Medium"/>
                <a:ea typeface="KoPubWorld돋움체 Medium"/>
                <a:cs typeface="KoPubWorld돋움체 Medium"/>
              </a:rPr>
              <a:t> </a:t>
            </a:r>
            <a:r>
              <a:rPr sz="900" b="0" dirty="0" err="1">
                <a:solidFill>
                  <a:srgbClr val="8C8C8C"/>
                </a:solidFill>
                <a:latin typeface="KoPubWorld돋움체 Medium"/>
                <a:ea typeface="KoPubWorld돋움체 Medium"/>
                <a:cs typeface="KoPubWorld돋움체 Medium"/>
              </a:rPr>
              <a:t>자료가</a:t>
            </a:r>
            <a:r>
              <a:rPr sz="900" b="0" dirty="0">
                <a:solidFill>
                  <a:srgbClr val="8C8C8C"/>
                </a:solidFill>
                <a:latin typeface="KoPubWorld돋움체 Medium"/>
                <a:ea typeface="KoPubWorld돋움체 Medium"/>
                <a:cs typeface="KoPubWorld돋움체 Medium"/>
              </a:rPr>
              <a:t> </a:t>
            </a:r>
            <a:r>
              <a:rPr sz="900" b="0" dirty="0" err="1">
                <a:solidFill>
                  <a:srgbClr val="8C8C8C"/>
                </a:solidFill>
                <a:latin typeface="KoPubWorld돋움체 Medium"/>
                <a:ea typeface="KoPubWorld돋움체 Medium"/>
                <a:cs typeface="KoPubWorld돋움체 Medium"/>
              </a:rPr>
              <a:t>아닙니다</a:t>
            </a:r>
            <a:r>
              <a:rPr sz="900" b="0" dirty="0">
                <a:solidFill>
                  <a:srgbClr val="8C8C8C"/>
                </a:solidFill>
                <a:latin typeface="KoPubWorld돋움체 Medium"/>
                <a:ea typeface="KoPubWorld돋움체 Medium"/>
                <a:cs typeface="KoPubWorld돋움체 Medium"/>
              </a:rPr>
              <a:t>. </a:t>
            </a:r>
            <a:r>
              <a:rPr sz="900" b="0" dirty="0" err="1">
                <a:solidFill>
                  <a:srgbClr val="8C8C8C"/>
                </a:solidFill>
                <a:latin typeface="KoPubWorld돋움체 Medium"/>
                <a:ea typeface="KoPubWorld돋움체 Medium"/>
                <a:cs typeface="KoPubWorld돋움체 Medium"/>
              </a:rPr>
              <a:t>보수차감</a:t>
            </a:r>
            <a:r>
              <a:rPr sz="900" b="0" dirty="0">
                <a:solidFill>
                  <a:srgbClr val="8C8C8C"/>
                </a:solidFill>
                <a:latin typeface="KoPubWorld돋움체 Medium"/>
                <a:ea typeface="KoPubWorld돋움체 Medium"/>
                <a:cs typeface="KoPubWorld돋움체 Medium"/>
              </a:rPr>
              <a:t> 전 </a:t>
            </a:r>
            <a:r>
              <a:rPr sz="900" b="0" dirty="0" err="1">
                <a:solidFill>
                  <a:srgbClr val="8C8C8C"/>
                </a:solidFill>
                <a:latin typeface="KoPubWorld돋움체 Medium"/>
                <a:ea typeface="KoPubWorld돋움체 Medium"/>
                <a:cs typeface="KoPubWorld돋움체 Medium"/>
              </a:rPr>
              <a:t>예상수익률</a:t>
            </a:r>
            <a:r>
              <a:rPr sz="900" b="0" dirty="0">
                <a:solidFill>
                  <a:srgbClr val="8C8C8C"/>
                </a:solidFill>
                <a:latin typeface="KoPubWorld돋움체 Medium"/>
                <a:ea typeface="KoPubWorld돋움체 Medium"/>
                <a:cs typeface="KoPubWorld돋움체 Medium"/>
              </a:rPr>
              <a:t>(gross of fees) </a:t>
            </a:r>
            <a:r>
              <a:rPr sz="900" b="0" dirty="0" err="1">
                <a:solidFill>
                  <a:srgbClr val="8C8C8C"/>
                </a:solidFill>
                <a:latin typeface="KoPubWorld돋움체 Medium"/>
                <a:ea typeface="KoPubWorld돋움체 Medium"/>
                <a:cs typeface="KoPubWorld돋움체 Medium"/>
              </a:rPr>
              <a:t>가정</a:t>
            </a:r>
            <a:r>
              <a:rPr sz="900" b="0" dirty="0">
                <a:solidFill>
                  <a:srgbClr val="8C8C8C"/>
                </a:solidFill>
                <a:latin typeface="KoPubWorld돋움체 Medium"/>
                <a:ea typeface="KoPubWorld돋움체 Medium"/>
                <a:cs typeface="KoPubWorld돋움체 Medium"/>
              </a:rPr>
              <a:t>. </a:t>
            </a:r>
            <a:r>
              <a:rPr lang="en-US" altLang="ko-KR" sz="900" dirty="0">
                <a:solidFill>
                  <a:srgbClr val="8C8C8C"/>
                </a:solidFill>
                <a:latin typeface="KoPubWorld돋움체 Medium"/>
                <a:ea typeface="KoPubWorld돋움체 Medium"/>
                <a:cs typeface="KoPubWorld돋움체 Medium"/>
              </a:rPr>
              <a:t>※</a:t>
            </a:r>
            <a:r>
              <a:rPr lang="ko-KR" altLang="en-US" sz="900" dirty="0">
                <a:solidFill>
                  <a:srgbClr val="8C8C8C"/>
                </a:solidFill>
                <a:latin typeface="KoPubWorld돋움체 Medium"/>
                <a:ea typeface="KoPubWorld돋움체 Medium"/>
                <a:cs typeface="KoPubWorld돋움체 Medium"/>
              </a:rPr>
              <a:t> 특정 섹터나 종목의 언급이 매수</a:t>
            </a:r>
            <a:r>
              <a:rPr lang="en-US" altLang="ko-KR" sz="900" dirty="0">
                <a:solidFill>
                  <a:srgbClr val="8C8C8C"/>
                </a:solidFill>
                <a:latin typeface="KoPubWorld돋움체 Medium"/>
                <a:ea typeface="KoPubWorld돋움체 Medium"/>
                <a:cs typeface="KoPubWorld돋움체 Medium"/>
              </a:rPr>
              <a:t>, </a:t>
            </a:r>
            <a:r>
              <a:rPr lang="ko-KR" altLang="en-US" sz="900" dirty="0">
                <a:solidFill>
                  <a:srgbClr val="8C8C8C"/>
                </a:solidFill>
                <a:latin typeface="KoPubWorld돋움체 Medium"/>
                <a:ea typeface="KoPubWorld돋움체 Medium"/>
                <a:cs typeface="KoPubWorld돋움체 Medium"/>
              </a:rPr>
              <a:t>매도</a:t>
            </a:r>
            <a:r>
              <a:rPr lang="en-US" altLang="ko-KR" sz="900" dirty="0">
                <a:solidFill>
                  <a:srgbClr val="8C8C8C"/>
                </a:solidFill>
                <a:latin typeface="KoPubWorld돋움체 Medium"/>
                <a:ea typeface="KoPubWorld돋움체 Medium"/>
                <a:cs typeface="KoPubWorld돋움체 Medium"/>
              </a:rPr>
              <a:t>, </a:t>
            </a:r>
            <a:r>
              <a:rPr lang="ko-KR" altLang="en-US" sz="900" dirty="0">
                <a:solidFill>
                  <a:srgbClr val="8C8C8C"/>
                </a:solidFill>
                <a:latin typeface="KoPubWorld돋움체 Medium"/>
                <a:ea typeface="KoPubWorld돋움체 Medium"/>
                <a:cs typeface="KoPubWorld돋움체 Medium"/>
              </a:rPr>
              <a:t>보유 혹은 직접투자의 추천으로 해석되어서는 안됩니다</a:t>
            </a:r>
            <a:r>
              <a:rPr lang="en-US" altLang="ko-KR" sz="900" dirty="0">
                <a:solidFill>
                  <a:srgbClr val="8C8C8C"/>
                </a:solidFill>
                <a:latin typeface="KoPubWorld돋움체 Medium"/>
                <a:ea typeface="KoPubWorld돋움체 Medium"/>
                <a:cs typeface="KoPubWorld돋움체 Medium"/>
              </a:rPr>
              <a:t>. </a:t>
            </a:r>
            <a:endParaRPr lang="en-US" sz="900" b="0" dirty="0" smtClean="0">
              <a:solidFill>
                <a:srgbClr val="8C8C8C"/>
              </a:solidFill>
              <a:latin typeface="KoPubWorld돋움체 Medium"/>
              <a:ea typeface="KoPubWorld돋움체 Medium"/>
              <a:cs typeface="KoPubWorld돋움체 Medium"/>
            </a:endParaRPr>
          </a:p>
          <a:p>
            <a:pPr algn="l">
              <a:lnSpc>
                <a:spcPct val="120000"/>
              </a:lnSpc>
            </a:pPr>
            <a:r>
              <a:rPr lang="en-US" altLang="ko-KR" sz="900" dirty="0" smtClean="0">
                <a:solidFill>
                  <a:srgbClr val="8C8C8C"/>
                </a:solidFill>
                <a:latin typeface="KoPubWorld돋움체 Medium"/>
                <a:ea typeface="KoPubWorld돋움체 Medium"/>
                <a:cs typeface="KoPubWorld돋움체 Medium"/>
              </a:rPr>
              <a:t>※ </a:t>
            </a:r>
            <a:r>
              <a:rPr lang="ko-KR" altLang="en-US" sz="900" dirty="0">
                <a:solidFill>
                  <a:srgbClr val="8C8C8C"/>
                </a:solidFill>
                <a:latin typeface="KoPubWorld돋움체 Medium"/>
                <a:ea typeface="KoPubWorld돋움체 Medium"/>
                <a:cs typeface="KoPubWorld돋움체 Medium"/>
              </a:rPr>
              <a:t>상기 내용은 시장 상황 및 운용 전략에 따라 집합투자업자의 판단으로 변경될 수 있으며</a:t>
            </a:r>
            <a:r>
              <a:rPr lang="en-US" altLang="ko-KR" sz="900" dirty="0">
                <a:solidFill>
                  <a:srgbClr val="8C8C8C"/>
                </a:solidFill>
                <a:latin typeface="KoPubWorld돋움체 Medium"/>
                <a:ea typeface="KoPubWorld돋움체 Medium"/>
                <a:cs typeface="KoPubWorld돋움체 Medium"/>
              </a:rPr>
              <a:t>, </a:t>
            </a:r>
            <a:r>
              <a:rPr lang="ko-KR" altLang="en-US" sz="900" dirty="0">
                <a:solidFill>
                  <a:srgbClr val="8C8C8C"/>
                </a:solidFill>
                <a:latin typeface="KoPubWorld돋움체 Medium"/>
                <a:ea typeface="KoPubWorld돋움체 Medium"/>
                <a:cs typeface="KoPubWorld돋움체 Medium"/>
              </a:rPr>
              <a:t>투자 참고 자료로 과거 실적이나 전망이 미래 수익을 보장하지 않고 그 정확성 및 완전성을 보장하지 않습니다</a:t>
            </a:r>
            <a:r>
              <a:rPr lang="en-US" altLang="ko-KR" sz="900" dirty="0" smtClean="0">
                <a:solidFill>
                  <a:srgbClr val="8C8C8C"/>
                </a:solidFill>
                <a:latin typeface="KoPubWorld돋움체 Medium"/>
                <a:ea typeface="KoPubWorld돋움체 Medium"/>
                <a:cs typeface="KoPubWorld돋움체 Medium"/>
              </a:rPr>
              <a:t>.</a:t>
            </a:r>
            <a:endParaRPr lang="ko-KR" altLang="en-US" sz="900" dirty="0">
              <a:solidFill>
                <a:srgbClr val="8C8C8C"/>
              </a:solidFill>
              <a:latin typeface="KoPubWorld돋움체 Medium"/>
              <a:ea typeface="KoPubWorld돋움체 Medium"/>
              <a:cs typeface="KoPubWorld돋움체 Medium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822960" y="1004622"/>
            <a:ext cx="6858000" cy="295466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lang="en-US" sz="1400" b="1" dirty="0" smtClean="0">
                <a:solidFill>
                  <a:srgbClr val="191877"/>
                </a:solidFill>
                <a:latin typeface="KoPubWorld돋움체 Bold"/>
                <a:ea typeface="KoPubWorld돋움체 Bold"/>
                <a:cs typeface="KoPubWorld돋움체 Bold"/>
              </a:rPr>
              <a:t>KOSPI </a:t>
            </a:r>
            <a:r>
              <a:rPr lang="ko-KR" altLang="en-US" sz="1400" b="1" dirty="0" smtClean="0">
                <a:solidFill>
                  <a:srgbClr val="191877"/>
                </a:solidFill>
                <a:latin typeface="KoPubWorld돋움체 Bold"/>
                <a:ea typeface="KoPubWorld돋움체 Bold"/>
                <a:cs typeface="KoPubWorld돋움체 Bold"/>
              </a:rPr>
              <a:t>상승과 </a:t>
            </a:r>
            <a:r>
              <a:rPr lang="en-US" altLang="ko-KR" sz="1400" b="1" dirty="0" smtClean="0">
                <a:solidFill>
                  <a:srgbClr val="191877"/>
                </a:solidFill>
                <a:latin typeface="KoPubWorld돋움체 Bold"/>
                <a:ea typeface="KoPubWorld돋움체 Bold"/>
                <a:cs typeface="KoPubWorld돋움체 Bold"/>
              </a:rPr>
              <a:t>Forward P/E </a:t>
            </a:r>
            <a:r>
              <a:rPr lang="ko-KR" altLang="en-US" sz="1400" b="1" dirty="0" err="1" smtClean="0">
                <a:solidFill>
                  <a:srgbClr val="191877"/>
                </a:solidFill>
                <a:latin typeface="KoPubWorld돋움체 Bold"/>
                <a:ea typeface="KoPubWorld돋움체 Bold"/>
                <a:cs typeface="KoPubWorld돋움체 Bold"/>
              </a:rPr>
              <a:t>리레이팅</a:t>
            </a:r>
            <a:endParaRPr sz="1400" b="1" dirty="0">
              <a:solidFill>
                <a:srgbClr val="191877"/>
              </a:solidFill>
              <a:latin typeface="KoPubWorld돋움체 Bold"/>
              <a:ea typeface="KoPubWorld돋움체 Bold"/>
              <a:cs typeface="KoPubWorld돋움체 Bold"/>
            </a:endParaRPr>
          </a:p>
        </p:txBody>
      </p:sp>
      <p:pic>
        <p:nvPicPr>
          <p:cNvPr id="11" name="그림 10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3777" y="1344614"/>
            <a:ext cx="4939358" cy="2138250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6309360" y="1004622"/>
            <a:ext cx="5169467" cy="295466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400" b="1" dirty="0" smtClean="0">
                <a:solidFill>
                  <a:srgbClr val="191877"/>
                </a:solidFill>
                <a:latin typeface="KoPubWorld돋움체 Bold"/>
                <a:ea typeface="KoPubWorld돋움체 Bold"/>
                <a:cs typeface="KoPubWorld돋움체 Bold"/>
              </a:rPr>
              <a:t>KOSPI </a:t>
            </a:r>
            <a:r>
              <a:rPr lang="ko-KR" altLang="en-US" sz="1400" b="1" dirty="0" smtClean="0">
                <a:solidFill>
                  <a:srgbClr val="191877"/>
                </a:solidFill>
                <a:latin typeface="KoPubWorld돋움체 Bold"/>
                <a:ea typeface="KoPubWorld돋움체 Bold"/>
                <a:cs typeface="KoPubWorld돋움체 Bold"/>
              </a:rPr>
              <a:t>상승 속 삼성전자</a:t>
            </a:r>
            <a:r>
              <a:rPr lang="en-US" altLang="ko-KR" sz="1400" b="1" dirty="0">
                <a:solidFill>
                  <a:srgbClr val="191877"/>
                </a:solidFill>
                <a:latin typeface="KoPubWorld돋움체 Bold"/>
                <a:ea typeface="KoPubWorld돋움체 Bold"/>
                <a:cs typeface="KoPubWorld돋움체 Bold"/>
              </a:rPr>
              <a:t>·SK</a:t>
            </a:r>
            <a:r>
              <a:rPr lang="ko-KR" altLang="en-US" sz="1400" b="1" dirty="0">
                <a:solidFill>
                  <a:srgbClr val="191877"/>
                </a:solidFill>
                <a:latin typeface="KoPubWorld돋움체 Bold"/>
                <a:ea typeface="KoPubWorld돋움체 Bold"/>
                <a:cs typeface="KoPubWorld돋움체 Bold"/>
              </a:rPr>
              <a:t>하이닉스 </a:t>
            </a:r>
            <a:r>
              <a:rPr lang="ko-KR" altLang="en-US" sz="1400" b="1" dirty="0" smtClean="0">
                <a:solidFill>
                  <a:srgbClr val="191877"/>
                </a:solidFill>
                <a:latin typeface="KoPubWorld돋움체 Bold"/>
                <a:ea typeface="KoPubWorld돋움체 Bold"/>
                <a:cs typeface="KoPubWorld돋움체 Bold"/>
              </a:rPr>
              <a:t>집중도</a:t>
            </a:r>
            <a:endParaRPr sz="1400" b="1" dirty="0">
              <a:solidFill>
                <a:srgbClr val="191877"/>
              </a:solidFill>
              <a:latin typeface="KoPubWorld돋움체 Bold"/>
              <a:ea typeface="KoPubWorld돋움체 Bold"/>
              <a:cs typeface="KoPubWorld돋움체 Bold"/>
            </a:endParaRPr>
          </a:p>
        </p:txBody>
      </p:sp>
      <p:pic>
        <p:nvPicPr>
          <p:cNvPr id="31" name="그림 30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5747" y="1280160"/>
            <a:ext cx="5125528" cy="22188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854401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그림 10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92195" y="1331595"/>
            <a:ext cx="5763839" cy="2495169"/>
          </a:xfrm>
          <a:prstGeom prst="rect">
            <a:avLst/>
          </a:prstGeom>
        </p:spPr>
      </p:pic>
      <p:pic>
        <p:nvPicPr>
          <p:cNvPr id="2" name="Picture 1" descr="top-menu-gradien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77724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77724"/>
            <a:ext cx="12191695" cy="868680"/>
          </a:xfrm>
          <a:prstGeom prst="rect">
            <a:avLst/>
          </a:prstGeom>
          <a:solidFill>
            <a:srgbClr val="FFFFFF"/>
          </a:solidFill>
          <a:ln w="6350">
            <a:solidFill>
              <a:srgbClr val="E5E5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kcgi-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5760" y="182880"/>
            <a:ext cx="1508760" cy="5943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920240" y="164592"/>
            <a:ext cx="7315200" cy="36576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1" dirty="0" err="1">
                <a:solidFill>
                  <a:srgbClr val="191877"/>
                </a:solidFill>
                <a:latin typeface="KoPubWorld돋움체 Bold"/>
                <a:ea typeface="KoPubWorld돋움체 Bold"/>
                <a:cs typeface="KoPubWorld돋움체 Bold"/>
              </a:rPr>
              <a:t>이슈</a:t>
            </a:r>
            <a:r>
              <a:rPr sz="1800" b="1" dirty="0">
                <a:solidFill>
                  <a:srgbClr val="191877"/>
                </a:solidFill>
                <a:latin typeface="KoPubWorld돋움체 Bold"/>
                <a:ea typeface="KoPubWorld돋움체 Bold"/>
                <a:cs typeface="KoPubWorld돋움체 Bold"/>
              </a:rPr>
              <a:t> </a:t>
            </a:r>
            <a:r>
              <a:rPr sz="1800" b="1" dirty="0" smtClean="0">
                <a:solidFill>
                  <a:srgbClr val="191877"/>
                </a:solidFill>
                <a:latin typeface="KoPubWorld돋움체 Bold"/>
                <a:ea typeface="KoPubWorld돋움체 Bold"/>
                <a:cs typeface="KoPubWorld돋움체 Bold"/>
              </a:rPr>
              <a:t>#</a:t>
            </a:r>
            <a:r>
              <a:rPr lang="en-US" b="1" dirty="0">
                <a:solidFill>
                  <a:srgbClr val="191877"/>
                </a:solidFill>
                <a:latin typeface="KoPubWorld돋움체 Bold"/>
                <a:ea typeface="KoPubWorld돋움체 Bold"/>
                <a:cs typeface="KoPubWorld돋움체 Bold"/>
              </a:rPr>
              <a:t>3</a:t>
            </a:r>
            <a:endParaRPr sz="1800" b="1" dirty="0">
              <a:solidFill>
                <a:srgbClr val="191877"/>
              </a:solidFill>
              <a:latin typeface="KoPubWorld돋움체 Bold"/>
              <a:ea typeface="KoPubWorld돋움체 Bold"/>
              <a:cs typeface="KoPubWorld돋움체 Bold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920240" y="570160"/>
            <a:ext cx="7315200" cy="276999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lang="ko-KR" altLang="en-US" sz="1300" b="0" dirty="0" smtClean="0">
                <a:solidFill>
                  <a:srgbClr val="595959"/>
                </a:solidFill>
                <a:latin typeface="KoPubWorld돋움체 Medium"/>
                <a:ea typeface="KoPubWorld돋움체 Medium"/>
                <a:cs typeface="KoPubWorld돋움체 Medium"/>
              </a:rPr>
              <a:t>중국 </a:t>
            </a:r>
            <a:r>
              <a:rPr lang="ko-KR" altLang="en-US" sz="1300" b="0" dirty="0" err="1" smtClean="0">
                <a:solidFill>
                  <a:srgbClr val="595959"/>
                </a:solidFill>
                <a:latin typeface="KoPubWorld돋움체 Medium"/>
                <a:ea typeface="KoPubWorld돋움체 Medium"/>
                <a:cs typeface="KoPubWorld돋움체 Medium"/>
              </a:rPr>
              <a:t>기술주</a:t>
            </a:r>
            <a:r>
              <a:rPr lang="ko-KR" altLang="en-US" sz="1300" b="0" dirty="0" smtClean="0">
                <a:solidFill>
                  <a:srgbClr val="595959"/>
                </a:solidFill>
                <a:latin typeface="KoPubWorld돋움체 Medium"/>
                <a:ea typeface="KoPubWorld돋움체 Medium"/>
                <a:cs typeface="KoPubWorld돋움체 Medium"/>
              </a:rPr>
              <a:t> 반등</a:t>
            </a:r>
            <a:r>
              <a:rPr lang="en-US" altLang="ko-KR" sz="1300" b="0" dirty="0" smtClean="0">
                <a:solidFill>
                  <a:srgbClr val="595959"/>
                </a:solidFill>
                <a:latin typeface="KoPubWorld돋움체 Medium"/>
                <a:ea typeface="KoPubWorld돋움체 Medium"/>
                <a:cs typeface="KoPubWorld돋움체 Medium"/>
              </a:rPr>
              <a:t>, </a:t>
            </a:r>
            <a:r>
              <a:rPr lang="ko-KR" altLang="en-US" sz="1300" b="0" dirty="0" smtClean="0">
                <a:solidFill>
                  <a:srgbClr val="595959"/>
                </a:solidFill>
                <a:latin typeface="KoPubWorld돋움체 Medium"/>
                <a:ea typeface="KoPubWorld돋움체 Medium"/>
                <a:cs typeface="KoPubWorld돋움체 Medium"/>
              </a:rPr>
              <a:t>글로벌 </a:t>
            </a:r>
            <a:r>
              <a:rPr lang="en-US" altLang="ko-KR" sz="1300" b="0" dirty="0" smtClean="0">
                <a:solidFill>
                  <a:srgbClr val="595959"/>
                </a:solidFill>
                <a:latin typeface="KoPubWorld돋움체 Medium"/>
                <a:ea typeface="KoPubWorld돋움체 Medium"/>
                <a:cs typeface="KoPubWorld돋움체 Medium"/>
              </a:rPr>
              <a:t>DRAM </a:t>
            </a:r>
            <a:r>
              <a:rPr lang="ko-KR" altLang="en-US" sz="1300" dirty="0" smtClean="0">
                <a:solidFill>
                  <a:srgbClr val="595959"/>
                </a:solidFill>
                <a:latin typeface="KoPubWorld돋움체 Medium"/>
                <a:ea typeface="KoPubWorld돋움체 Medium"/>
                <a:cs typeface="KoPubWorld돋움체 Medium"/>
              </a:rPr>
              <a:t>랠리 대비 </a:t>
            </a:r>
            <a:r>
              <a:rPr lang="ko-KR" altLang="en-US" sz="1300" dirty="0" err="1" smtClean="0">
                <a:solidFill>
                  <a:srgbClr val="595959"/>
                </a:solidFill>
                <a:latin typeface="KoPubWorld돋움체 Medium"/>
                <a:ea typeface="KoPubWorld돋움체 Medium"/>
                <a:cs typeface="KoPubWorld돋움체 Medium"/>
              </a:rPr>
              <a:t>온도차</a:t>
            </a:r>
            <a:r>
              <a:rPr lang="ko-KR" altLang="en-US" sz="1300" dirty="0" smtClean="0">
                <a:solidFill>
                  <a:srgbClr val="595959"/>
                </a:solidFill>
                <a:latin typeface="KoPubWorld돋움체 Medium"/>
                <a:ea typeface="KoPubWorld돋움체 Medium"/>
                <a:cs typeface="KoPubWorld돋움체 Medium"/>
              </a:rPr>
              <a:t> 존재</a:t>
            </a:r>
            <a:endParaRPr sz="1300" b="0" dirty="0">
              <a:solidFill>
                <a:srgbClr val="595959"/>
              </a:solidFill>
              <a:latin typeface="KoPubWorld돋움체 Medium"/>
              <a:ea typeface="KoPubWorld돋움체 Medium"/>
              <a:cs typeface="KoPubWorld돋움체 Medium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10058400" y="457200"/>
            <a:ext cx="2011680" cy="45720"/>
          </a:xfrm>
          <a:prstGeom prst="rect">
            <a:avLst/>
          </a:prstGeom>
          <a:solidFill>
            <a:srgbClr val="C9A8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058400" y="182880"/>
            <a:ext cx="2011680" cy="27432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r">
              <a:lnSpc>
                <a:spcPct val="120000"/>
              </a:lnSpc>
            </a:pPr>
            <a:r>
              <a:rPr sz="1100" b="0">
                <a:solidFill>
                  <a:srgbClr val="595959"/>
                </a:solidFill>
                <a:latin typeface="KoPubWorld돋움체 Medium"/>
                <a:ea typeface="KoPubWorld돋움체 Medium"/>
                <a:cs typeface="KoPubWorld돋움체 Medium"/>
              </a:rPr>
              <a:t>KCGI 자산운용 | 뉴스핌 월간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0" y="530352"/>
            <a:ext cx="2011680" cy="32004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r">
              <a:lnSpc>
                <a:spcPct val="120000"/>
              </a:lnSpc>
            </a:pPr>
            <a:r>
              <a:rPr sz="1200" b="1">
                <a:solidFill>
                  <a:srgbClr val="191877"/>
                </a:solidFill>
                <a:latin typeface="KoPubWorld돋움체 Bold"/>
                <a:ea typeface="KoPubWorld돋움체 Bold"/>
                <a:cs typeface="KoPubWorld돋움체 Bold"/>
              </a:rPr>
              <a:t>2026.05  ·  8/14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3703320"/>
            <a:ext cx="128016" cy="128016"/>
          </a:xfrm>
          <a:prstGeom prst="rect">
            <a:avLst/>
          </a:prstGeom>
          <a:solidFill>
            <a:srgbClr val="C9A8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94360" y="3520440"/>
            <a:ext cx="7132320" cy="438912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700" b="1">
                <a:solidFill>
                  <a:srgbClr val="191877"/>
                </a:solidFill>
                <a:latin typeface="KoPubWorld돋움체 Bold"/>
                <a:ea typeface="KoPubWorld돋움체 Bold"/>
                <a:cs typeface="KoPubWorld돋움체 Bold"/>
              </a:rPr>
              <a:t>핵심 포인트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" y="3977639"/>
            <a:ext cx="7132320" cy="758952"/>
          </a:xfrm>
          <a:prstGeom prst="rect">
            <a:avLst/>
          </a:prstGeom>
          <a:solidFill>
            <a:srgbClr val="E7EAF1"/>
          </a:solidFill>
          <a:ln w="6350">
            <a:solidFill>
              <a:srgbClr val="E5E5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365760" y="3977639"/>
            <a:ext cx="91440" cy="758952"/>
          </a:xfrm>
          <a:prstGeom prst="rect">
            <a:avLst/>
          </a:prstGeom>
          <a:solidFill>
            <a:srgbClr val="1918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66928" y="4014215"/>
            <a:ext cx="6858000" cy="25853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lang="en-US" sz="1200" b="1" dirty="0" smtClean="0">
                <a:solidFill>
                  <a:srgbClr val="191877"/>
                </a:solidFill>
                <a:latin typeface="KoPubWorld돋움체 Bold"/>
                <a:ea typeface="KoPubWorld돋움체 Bold"/>
                <a:cs typeface="KoPubWorld돋움체 Bold"/>
              </a:rPr>
              <a:t>STAR 50</a:t>
            </a:r>
            <a:r>
              <a:rPr lang="ko-KR" altLang="en-US" sz="1200" b="1" dirty="0" smtClean="0">
                <a:solidFill>
                  <a:srgbClr val="191877"/>
                </a:solidFill>
                <a:latin typeface="KoPubWorld돋움체 Bold"/>
                <a:ea typeface="KoPubWorld돋움체 Bold"/>
                <a:cs typeface="KoPubWorld돋움체 Bold"/>
              </a:rPr>
              <a:t>의 강세</a:t>
            </a:r>
            <a:endParaRPr sz="1200" b="1" dirty="0">
              <a:solidFill>
                <a:srgbClr val="191877"/>
              </a:solidFill>
              <a:latin typeface="KoPubWorld돋움체 Bold"/>
              <a:ea typeface="KoPubWorld돋움체 Bold"/>
              <a:cs typeface="KoPubWorld돋움체 Bold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566928" y="4288535"/>
            <a:ext cx="6858000" cy="229294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>
              <a:lnSpc>
                <a:spcPct val="125000"/>
              </a:lnSpc>
            </a:pPr>
            <a:r>
              <a:rPr lang="ko-KR" altLang="en-US" sz="1000" dirty="0">
                <a:solidFill>
                  <a:srgbClr val="1A1A1A"/>
                </a:solidFill>
                <a:latin typeface="KoPubWorld돋움체 Medium"/>
                <a:ea typeface="KoPubWorld돋움체 Medium"/>
                <a:cs typeface="KoPubWorld돋움체 Medium"/>
              </a:rPr>
              <a:t>중국 지수 상대 비교 결과 </a:t>
            </a:r>
            <a:r>
              <a:rPr lang="ko-KR" altLang="en-US" sz="1000" dirty="0" err="1">
                <a:solidFill>
                  <a:srgbClr val="1A1A1A"/>
                </a:solidFill>
                <a:latin typeface="KoPubWorld돋움체 Medium"/>
                <a:ea typeface="KoPubWorld돋움체 Medium"/>
                <a:cs typeface="KoPubWorld돋움체 Medium"/>
              </a:rPr>
              <a:t>과창판</a:t>
            </a:r>
            <a:r>
              <a:rPr lang="en-US" altLang="ko-KR" sz="1000" dirty="0">
                <a:solidFill>
                  <a:srgbClr val="1A1A1A"/>
                </a:solidFill>
                <a:latin typeface="KoPubWorld돋움체 Medium"/>
                <a:ea typeface="KoPubWorld돋움체 Medium"/>
                <a:cs typeface="KoPubWorld돋움체 Medium"/>
              </a:rPr>
              <a:t>·</a:t>
            </a:r>
            <a:r>
              <a:rPr lang="ko-KR" altLang="en-US" sz="1000" dirty="0" err="1">
                <a:solidFill>
                  <a:srgbClr val="1A1A1A"/>
                </a:solidFill>
                <a:latin typeface="KoPubWorld돋움체 Medium"/>
                <a:ea typeface="KoPubWorld돋움체 Medium"/>
                <a:cs typeface="KoPubWorld돋움체 Medium"/>
              </a:rPr>
              <a:t>첨단제조</a:t>
            </a:r>
            <a:r>
              <a:rPr lang="en-US" altLang="ko-KR" sz="1000" dirty="0">
                <a:solidFill>
                  <a:srgbClr val="1A1A1A"/>
                </a:solidFill>
                <a:latin typeface="KoPubWorld돋움체 Medium"/>
                <a:ea typeface="KoPubWorld돋움체 Medium"/>
                <a:cs typeface="KoPubWorld돋움체 Medium"/>
              </a:rPr>
              <a:t>·</a:t>
            </a:r>
            <a:r>
              <a:rPr lang="ko-KR" altLang="en-US" sz="1000" dirty="0">
                <a:solidFill>
                  <a:srgbClr val="1A1A1A"/>
                </a:solidFill>
                <a:latin typeface="KoPubWorld돋움체 Medium"/>
                <a:ea typeface="KoPubWorld돋움체 Medium"/>
                <a:cs typeface="KoPubWorld돋움체 Medium"/>
              </a:rPr>
              <a:t>반도체 자립 테마가 상대적으로 부각</a:t>
            </a:r>
            <a:endParaRPr sz="1000" dirty="0">
              <a:solidFill>
                <a:srgbClr val="1A1A1A"/>
              </a:solidFill>
              <a:latin typeface="KoPubWorld돋움체 Medium"/>
              <a:ea typeface="KoPubWorld돋움체 Medium"/>
              <a:cs typeface="KoPubWorld돋움체 Medium"/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365760" y="4800600"/>
            <a:ext cx="7132320" cy="758952"/>
          </a:xfrm>
          <a:prstGeom prst="rect">
            <a:avLst/>
          </a:prstGeom>
          <a:solidFill>
            <a:srgbClr val="E7EAF1"/>
          </a:solidFill>
          <a:ln w="6350">
            <a:solidFill>
              <a:srgbClr val="E5E5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365760" y="4800600"/>
            <a:ext cx="91440" cy="758952"/>
          </a:xfrm>
          <a:prstGeom prst="rect">
            <a:avLst/>
          </a:prstGeom>
          <a:solidFill>
            <a:srgbClr val="1918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66928" y="4837176"/>
            <a:ext cx="6858000" cy="25853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lang="ko-KR" altLang="en-US" sz="1200" b="1" dirty="0" smtClean="0">
                <a:solidFill>
                  <a:srgbClr val="191877"/>
                </a:solidFill>
                <a:latin typeface="KoPubWorld돋움체 Bold"/>
                <a:ea typeface="KoPubWorld돋움체 Bold"/>
                <a:cs typeface="KoPubWorld돋움체 Bold"/>
              </a:rPr>
              <a:t>글로벌 </a:t>
            </a:r>
            <a:r>
              <a:rPr lang="en-US" altLang="ko-KR" sz="1200" b="1" dirty="0" smtClean="0">
                <a:solidFill>
                  <a:srgbClr val="191877"/>
                </a:solidFill>
                <a:latin typeface="KoPubWorld돋움체 Bold"/>
                <a:ea typeface="KoPubWorld돋움체 Bold"/>
                <a:cs typeface="KoPubWorld돋움체 Bold"/>
              </a:rPr>
              <a:t>DRAM</a:t>
            </a:r>
            <a:r>
              <a:rPr lang="ko-KR" altLang="en-US" sz="1200" b="1" dirty="0" smtClean="0">
                <a:solidFill>
                  <a:srgbClr val="191877"/>
                </a:solidFill>
                <a:latin typeface="KoPubWorld돋움체 Bold"/>
                <a:ea typeface="KoPubWorld돋움체 Bold"/>
                <a:cs typeface="KoPubWorld돋움체 Bold"/>
              </a:rPr>
              <a:t>의 상승세</a:t>
            </a:r>
            <a:endParaRPr sz="1200" b="1" dirty="0">
              <a:solidFill>
                <a:srgbClr val="191877"/>
              </a:solidFill>
              <a:latin typeface="KoPubWorld돋움체 Bold"/>
              <a:ea typeface="KoPubWorld돋움체 Bold"/>
              <a:cs typeface="KoPubWorld돋움체 Bold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566928" y="5111496"/>
            <a:ext cx="6858000" cy="229294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lang="en-US" sz="1000" b="0" dirty="0" smtClean="0">
                <a:solidFill>
                  <a:srgbClr val="1A1A1A"/>
                </a:solidFill>
                <a:latin typeface="KoPubWorld돋움체 Medium"/>
                <a:ea typeface="KoPubWorld돋움체 Medium"/>
                <a:cs typeface="KoPubWorld돋움체 Medium"/>
              </a:rPr>
              <a:t>STAR50</a:t>
            </a:r>
            <a:r>
              <a:rPr lang="ko-KR" altLang="en-US" sz="1000" b="0" dirty="0" smtClean="0">
                <a:solidFill>
                  <a:srgbClr val="1A1A1A"/>
                </a:solidFill>
                <a:latin typeface="KoPubWorld돋움체 Medium"/>
                <a:ea typeface="KoPubWorld돋움체 Medium"/>
                <a:cs typeface="KoPubWorld돋움체 Medium"/>
              </a:rPr>
              <a:t>도 반등하였지만</a:t>
            </a:r>
            <a:r>
              <a:rPr lang="en-US" altLang="ko-KR" sz="1000" b="0" dirty="0" smtClean="0">
                <a:solidFill>
                  <a:srgbClr val="1A1A1A"/>
                </a:solidFill>
                <a:latin typeface="KoPubWorld돋움체 Medium"/>
                <a:ea typeface="KoPubWorld돋움체 Medium"/>
                <a:cs typeface="KoPubWorld돋움체 Medium"/>
              </a:rPr>
              <a:t>, DRAM </a:t>
            </a:r>
            <a:r>
              <a:rPr lang="ko-KR" altLang="en-US" sz="1000" b="0" dirty="0" smtClean="0">
                <a:solidFill>
                  <a:srgbClr val="1A1A1A"/>
                </a:solidFill>
                <a:latin typeface="KoPubWorld돋움체 Medium"/>
                <a:ea typeface="KoPubWorld돋움체 Medium"/>
                <a:cs typeface="KoPubWorld돋움체 Medium"/>
              </a:rPr>
              <a:t>상승폭이 훨씬 컸고 </a:t>
            </a:r>
            <a:r>
              <a:rPr lang="en-US" altLang="ko-KR" sz="1000" b="0" dirty="0" smtClean="0">
                <a:solidFill>
                  <a:srgbClr val="1A1A1A"/>
                </a:solidFill>
                <a:latin typeface="KoPubWorld돋움체 Medium"/>
                <a:ea typeface="KoPubWorld돋움체 Medium"/>
                <a:cs typeface="KoPubWorld돋움체 Medium"/>
              </a:rPr>
              <a:t>AI </a:t>
            </a:r>
            <a:r>
              <a:rPr lang="ko-KR" altLang="en-US" sz="1000" b="0" dirty="0" smtClean="0">
                <a:solidFill>
                  <a:srgbClr val="1A1A1A"/>
                </a:solidFill>
                <a:latin typeface="KoPubWorld돋움체 Medium"/>
                <a:ea typeface="KoPubWorld돋움체 Medium"/>
                <a:cs typeface="KoPubWorld돋움체 Medium"/>
              </a:rPr>
              <a:t>인프라 수요와 메모리 공급 부족 기대가 더 강한 테마임을 보임</a:t>
            </a:r>
            <a:endParaRPr sz="1000" b="0" dirty="0">
              <a:solidFill>
                <a:srgbClr val="1A1A1A"/>
              </a:solidFill>
              <a:latin typeface="KoPubWorld돋움체 Medium"/>
              <a:ea typeface="KoPubWorld돋움체 Medium"/>
              <a:cs typeface="KoPubWorld돋움체 Medium"/>
            </a:endParaRPr>
          </a:p>
        </p:txBody>
      </p:sp>
      <p:sp>
        <p:nvSpPr>
          <p:cNvPr id="22" name="Rectangle 21"/>
          <p:cNvSpPr/>
          <p:nvPr/>
        </p:nvSpPr>
        <p:spPr>
          <a:xfrm>
            <a:off x="365760" y="5623559"/>
            <a:ext cx="7132320" cy="758952"/>
          </a:xfrm>
          <a:prstGeom prst="rect">
            <a:avLst/>
          </a:prstGeom>
          <a:solidFill>
            <a:srgbClr val="E7EAF1"/>
          </a:solidFill>
          <a:ln w="6350">
            <a:solidFill>
              <a:srgbClr val="E5E5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365760" y="5623559"/>
            <a:ext cx="91440" cy="758952"/>
          </a:xfrm>
          <a:prstGeom prst="rect">
            <a:avLst/>
          </a:prstGeom>
          <a:solidFill>
            <a:srgbClr val="1918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566928" y="5660135"/>
            <a:ext cx="6858000" cy="25853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lang="ko-KR" altLang="en-US" sz="1200" b="1" dirty="0" smtClean="0">
                <a:solidFill>
                  <a:srgbClr val="191877"/>
                </a:solidFill>
                <a:latin typeface="KoPubWorld돋움체 Bold"/>
                <a:ea typeface="KoPubWorld돋움체 Bold"/>
                <a:cs typeface="KoPubWorld돋움체 Bold"/>
              </a:rPr>
              <a:t>중국 </a:t>
            </a:r>
            <a:r>
              <a:rPr lang="ko-KR" altLang="en-US" sz="1200" b="1" dirty="0" smtClean="0">
                <a:solidFill>
                  <a:srgbClr val="191877"/>
                </a:solidFill>
                <a:latin typeface="KoPubWorld돋움체 Bold"/>
                <a:ea typeface="KoPubWorld돋움체 Bold"/>
                <a:cs typeface="KoPubWorld돋움체 Bold"/>
              </a:rPr>
              <a:t>역시 </a:t>
            </a:r>
            <a:r>
              <a:rPr lang="en-US" altLang="ko-KR" sz="1200" b="1" dirty="0" smtClean="0">
                <a:solidFill>
                  <a:srgbClr val="191877"/>
                </a:solidFill>
                <a:latin typeface="KoPubWorld돋움체 Bold"/>
                <a:ea typeface="KoPubWorld돋움체 Bold"/>
                <a:cs typeface="KoPubWorld돋움체 Bold"/>
              </a:rPr>
              <a:t>DRAM </a:t>
            </a:r>
            <a:r>
              <a:rPr lang="ko-KR" altLang="en-US" sz="1200" b="1" dirty="0" smtClean="0">
                <a:solidFill>
                  <a:srgbClr val="191877"/>
                </a:solidFill>
                <a:latin typeface="KoPubWorld돋움체 Bold"/>
                <a:ea typeface="KoPubWorld돋움체 Bold"/>
                <a:cs typeface="KoPubWorld돋움체 Bold"/>
              </a:rPr>
              <a:t>기업 움직임 관측</a:t>
            </a:r>
            <a:endParaRPr sz="1200" b="1" dirty="0">
              <a:solidFill>
                <a:srgbClr val="191877"/>
              </a:solidFill>
              <a:latin typeface="KoPubWorld돋움체 Bold"/>
              <a:ea typeface="KoPubWorld돋움체 Bold"/>
              <a:cs typeface="KoPubWorld돋움체 Bold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566928" y="5934455"/>
            <a:ext cx="6858000" cy="421654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>
              <a:lnSpc>
                <a:spcPct val="125000"/>
              </a:lnSpc>
            </a:pPr>
            <a:r>
              <a:rPr lang="en-US" altLang="ko-KR" sz="1000" dirty="0" smtClean="0">
                <a:solidFill>
                  <a:srgbClr val="1A1A1A"/>
                </a:solidFill>
                <a:latin typeface="KoPubWorld돋움체 Medium"/>
                <a:ea typeface="KoPubWorld돋움체 Medium"/>
                <a:cs typeface="KoPubWorld돋움체 Medium"/>
              </a:rPr>
              <a:t>CXMT (</a:t>
            </a:r>
            <a:r>
              <a:rPr lang="ko-KR" altLang="en-US" sz="1000" dirty="0">
                <a:solidFill>
                  <a:srgbClr val="1A1A1A"/>
                </a:solidFill>
                <a:latin typeface="KoPubWorld돋움체 Medium"/>
                <a:ea typeface="KoPubWorld돋움체 Medium"/>
                <a:cs typeface="KoPubWorld돋움체 Medium"/>
              </a:rPr>
              <a:t>중국 </a:t>
            </a:r>
            <a:r>
              <a:rPr lang="en-US" altLang="ko-KR" sz="1000" dirty="0">
                <a:solidFill>
                  <a:srgbClr val="1A1A1A"/>
                </a:solidFill>
                <a:latin typeface="KoPubWorld돋움체 Medium"/>
                <a:ea typeface="KoPubWorld돋움체 Medium"/>
                <a:cs typeface="KoPubWorld돋움체 Medium"/>
              </a:rPr>
              <a:t>DRAM </a:t>
            </a:r>
            <a:r>
              <a:rPr lang="ko-KR" altLang="en-US" sz="1000" dirty="0">
                <a:solidFill>
                  <a:srgbClr val="1A1A1A"/>
                </a:solidFill>
                <a:latin typeface="KoPubWorld돋움체 Medium"/>
                <a:ea typeface="KoPubWorld돋움체 Medium"/>
                <a:cs typeface="KoPubWorld돋움체 Medium"/>
              </a:rPr>
              <a:t>업체</a:t>
            </a:r>
            <a:r>
              <a:rPr lang="en-US" altLang="ko-KR" sz="1000" dirty="0" smtClean="0">
                <a:solidFill>
                  <a:srgbClr val="1A1A1A"/>
                </a:solidFill>
                <a:latin typeface="KoPubWorld돋움체 Medium"/>
                <a:ea typeface="KoPubWorld돋움체 Medium"/>
                <a:cs typeface="KoPubWorld돋움체 Medium"/>
              </a:rPr>
              <a:t>) </a:t>
            </a:r>
            <a:r>
              <a:rPr lang="ko-KR" altLang="en-US" sz="1000" dirty="0" smtClean="0">
                <a:solidFill>
                  <a:srgbClr val="1A1A1A"/>
                </a:solidFill>
                <a:latin typeface="KoPubWorld돋움체 Medium"/>
                <a:ea typeface="KoPubWorld돋움체 Medium"/>
                <a:cs typeface="KoPubWorld돋움체 Medium"/>
              </a:rPr>
              <a:t>상하이 </a:t>
            </a:r>
            <a:r>
              <a:rPr lang="en-US" altLang="ko-KR" sz="1000" dirty="0" smtClean="0">
                <a:solidFill>
                  <a:srgbClr val="1A1A1A"/>
                </a:solidFill>
                <a:latin typeface="KoPubWorld돋움체 Medium"/>
                <a:ea typeface="KoPubWorld돋움체 Medium"/>
                <a:cs typeface="KoPubWorld돋움체 Medium"/>
              </a:rPr>
              <a:t>IPO</a:t>
            </a:r>
            <a:r>
              <a:rPr lang="ko-KR" altLang="en-US" sz="1000" dirty="0" smtClean="0">
                <a:solidFill>
                  <a:srgbClr val="1A1A1A"/>
                </a:solidFill>
                <a:latin typeface="KoPubWorld돋움체 Medium"/>
                <a:ea typeface="KoPubWorld돋움체 Medium"/>
                <a:cs typeface="KoPubWorld돋움체 Medium"/>
              </a:rPr>
              <a:t>로 약 </a:t>
            </a:r>
            <a:r>
              <a:rPr lang="en-US" altLang="ko-KR" sz="1000" dirty="0" smtClean="0">
                <a:solidFill>
                  <a:srgbClr val="1A1A1A"/>
                </a:solidFill>
                <a:latin typeface="KoPubWorld돋움체 Medium"/>
                <a:ea typeface="KoPubWorld돋움체 Medium"/>
                <a:cs typeface="KoPubWorld돋움체 Medium"/>
              </a:rPr>
              <a:t>295</a:t>
            </a:r>
            <a:r>
              <a:rPr lang="ko-KR" altLang="en-US" sz="1000" dirty="0" smtClean="0">
                <a:solidFill>
                  <a:srgbClr val="1A1A1A"/>
                </a:solidFill>
                <a:latin typeface="KoPubWorld돋움체 Medium"/>
                <a:ea typeface="KoPubWorld돋움체 Medium"/>
                <a:cs typeface="KoPubWorld돋움체 Medium"/>
              </a:rPr>
              <a:t>억 위안</a:t>
            </a:r>
            <a:r>
              <a:rPr lang="en-US" altLang="ko-KR" sz="1000" dirty="0">
                <a:solidFill>
                  <a:srgbClr val="1A1A1A"/>
                </a:solidFill>
                <a:latin typeface="KoPubWorld돋움체 Medium"/>
                <a:ea typeface="KoPubWorld돋움체 Medium"/>
                <a:cs typeface="KoPubWorld돋움체 Medium"/>
              </a:rPr>
              <a:t> </a:t>
            </a:r>
            <a:r>
              <a:rPr lang="en-US" altLang="ko-KR" sz="1000" dirty="0" smtClean="0">
                <a:solidFill>
                  <a:srgbClr val="1A1A1A"/>
                </a:solidFill>
                <a:latin typeface="KoPubWorld돋움체 Medium"/>
                <a:ea typeface="KoPubWorld돋움체 Medium"/>
                <a:cs typeface="KoPubWorld돋움체 Medium"/>
              </a:rPr>
              <a:t>(42</a:t>
            </a:r>
            <a:r>
              <a:rPr lang="ko-KR" altLang="en-US" sz="1000" dirty="0" smtClean="0">
                <a:solidFill>
                  <a:srgbClr val="1A1A1A"/>
                </a:solidFill>
                <a:latin typeface="KoPubWorld돋움체 Medium"/>
                <a:ea typeface="KoPubWorld돋움체 Medium"/>
                <a:cs typeface="KoPubWorld돋움체 Medium"/>
              </a:rPr>
              <a:t>억 달러</a:t>
            </a:r>
            <a:r>
              <a:rPr lang="en-US" altLang="ko-KR" sz="1000" dirty="0" smtClean="0">
                <a:solidFill>
                  <a:srgbClr val="1A1A1A"/>
                </a:solidFill>
                <a:latin typeface="KoPubWorld돋움체 Medium"/>
                <a:ea typeface="KoPubWorld돋움체 Medium"/>
                <a:cs typeface="KoPubWorld돋움체 Medium"/>
              </a:rPr>
              <a:t>)</a:t>
            </a:r>
            <a:r>
              <a:rPr lang="ko-KR" altLang="en-US" sz="1000" dirty="0" smtClean="0">
                <a:solidFill>
                  <a:srgbClr val="1A1A1A"/>
                </a:solidFill>
                <a:latin typeface="KoPubWorld돋움체 Medium"/>
                <a:ea typeface="KoPubWorld돋움체 Medium"/>
                <a:cs typeface="KoPubWorld돋움체 Medium"/>
              </a:rPr>
              <a:t>를 조달 계획 발표</a:t>
            </a:r>
            <a:endParaRPr lang="en-US" altLang="ko-KR" sz="1000" dirty="0" smtClean="0">
              <a:solidFill>
                <a:srgbClr val="1A1A1A"/>
              </a:solidFill>
              <a:latin typeface="KoPubWorld돋움체 Medium"/>
              <a:ea typeface="KoPubWorld돋움체 Medium"/>
              <a:cs typeface="KoPubWorld돋움체 Medium"/>
            </a:endParaRPr>
          </a:p>
          <a:p>
            <a:pPr>
              <a:lnSpc>
                <a:spcPct val="125000"/>
              </a:lnSpc>
            </a:pPr>
            <a:r>
              <a:rPr lang="en-US" sz="1000" dirty="0" smtClean="0">
                <a:solidFill>
                  <a:srgbClr val="1A1A1A"/>
                </a:solidFill>
                <a:latin typeface="KoPubWorld돋움체 Medium"/>
                <a:ea typeface="KoPubWorld돋움체 Medium"/>
                <a:cs typeface="KoPubWorld돋움체 Medium"/>
              </a:rPr>
              <a:t>YMCT</a:t>
            </a:r>
            <a:r>
              <a:rPr lang="ko-KR" altLang="en-US" sz="1000" dirty="0" smtClean="0">
                <a:solidFill>
                  <a:srgbClr val="1A1A1A"/>
                </a:solidFill>
                <a:latin typeface="KoPubWorld돋움체 Medium"/>
                <a:ea typeface="KoPubWorld돋움체 Medium"/>
                <a:cs typeface="KoPubWorld돋움체 Medium"/>
              </a:rPr>
              <a:t>도 </a:t>
            </a:r>
            <a:r>
              <a:rPr lang="en-US" sz="1000" dirty="0" smtClean="0">
                <a:solidFill>
                  <a:srgbClr val="1A1A1A"/>
                </a:solidFill>
                <a:latin typeface="KoPubWorld돋움체 Medium"/>
                <a:ea typeface="KoPubWorld돋움체 Medium"/>
                <a:cs typeface="KoPubWorld돋움체 Medium"/>
              </a:rPr>
              <a:t>NAND </a:t>
            </a:r>
            <a:r>
              <a:rPr lang="ko-KR" altLang="en-US" sz="1000" dirty="0" smtClean="0">
                <a:solidFill>
                  <a:srgbClr val="1A1A1A"/>
                </a:solidFill>
                <a:latin typeface="KoPubWorld돋움체 Medium"/>
                <a:ea typeface="KoPubWorld돋움체 Medium"/>
                <a:cs typeface="KoPubWorld돋움체 Medium"/>
              </a:rPr>
              <a:t>중심 기업이지만 </a:t>
            </a:r>
            <a:r>
              <a:rPr lang="en-US" altLang="ko-KR" sz="1000" dirty="0" smtClean="0">
                <a:solidFill>
                  <a:srgbClr val="1A1A1A"/>
                </a:solidFill>
                <a:latin typeface="KoPubWorld돋움체 Medium"/>
                <a:ea typeface="KoPubWorld돋움체 Medium"/>
                <a:cs typeface="KoPubWorld돋움체 Medium"/>
              </a:rPr>
              <a:t>DRAM </a:t>
            </a:r>
            <a:r>
              <a:rPr lang="ko-KR" altLang="en-US" sz="1000" dirty="0" smtClean="0">
                <a:solidFill>
                  <a:srgbClr val="1A1A1A"/>
                </a:solidFill>
                <a:latin typeface="KoPubWorld돋움체 Medium"/>
                <a:ea typeface="KoPubWorld돋움체 Medium"/>
                <a:cs typeface="KoPubWorld돋움체 Medium"/>
              </a:rPr>
              <a:t>개발 및 생산 확대 가능성도 함께 거론</a:t>
            </a:r>
            <a:endParaRPr sz="1000" dirty="0">
              <a:solidFill>
                <a:srgbClr val="1A1A1A"/>
              </a:solidFill>
              <a:latin typeface="KoPubWorld돋움체 Medium"/>
              <a:ea typeface="KoPubWorld돋움체 Medium"/>
              <a:cs typeface="KoPubWorld돋움체 Medium"/>
            </a:endParaRPr>
          </a:p>
        </p:txBody>
      </p:sp>
      <p:sp>
        <p:nvSpPr>
          <p:cNvPr id="26" name="Rectangle 25"/>
          <p:cNvSpPr/>
          <p:nvPr/>
        </p:nvSpPr>
        <p:spPr>
          <a:xfrm>
            <a:off x="7680960" y="3886200"/>
            <a:ext cx="128016" cy="128016"/>
          </a:xfrm>
          <a:prstGeom prst="rect">
            <a:avLst/>
          </a:prstGeom>
          <a:solidFill>
            <a:srgbClr val="C9A8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7909560" y="3703320"/>
            <a:ext cx="4114800" cy="438912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700" b="1" dirty="0" err="1">
                <a:solidFill>
                  <a:srgbClr val="191877"/>
                </a:solidFill>
                <a:latin typeface="KoPubWorld돋움체 Bold"/>
                <a:ea typeface="KoPubWorld돋움체 Bold"/>
                <a:cs typeface="KoPubWorld돋움체 Bold"/>
              </a:rPr>
              <a:t>포트폴리오</a:t>
            </a:r>
            <a:r>
              <a:rPr sz="1700" b="1" dirty="0">
                <a:solidFill>
                  <a:srgbClr val="191877"/>
                </a:solidFill>
                <a:latin typeface="KoPubWorld돋움체 Bold"/>
                <a:ea typeface="KoPubWorld돋움체 Bold"/>
                <a:cs typeface="KoPubWorld돋움체 Bold"/>
              </a:rPr>
              <a:t> </a:t>
            </a:r>
            <a:r>
              <a:rPr sz="1700" b="1" dirty="0" err="1">
                <a:solidFill>
                  <a:srgbClr val="191877"/>
                </a:solidFill>
                <a:latin typeface="KoPubWorld돋움체 Bold"/>
                <a:ea typeface="KoPubWorld돋움체 Bold"/>
                <a:cs typeface="KoPubWorld돋움체 Bold"/>
              </a:rPr>
              <a:t>함의</a:t>
            </a:r>
            <a:endParaRPr sz="1700" b="1" dirty="0">
              <a:solidFill>
                <a:srgbClr val="191877"/>
              </a:solidFill>
              <a:latin typeface="KoPubWorld돋움체 Bold"/>
              <a:ea typeface="KoPubWorld돋움체 Bold"/>
              <a:cs typeface="KoPubWorld돋움체 Bold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7680960" y="4133088"/>
            <a:ext cx="4114800" cy="256993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>
              <a:lnSpc>
                <a:spcPct val="140000"/>
              </a:lnSpc>
            </a:pPr>
            <a:r>
              <a:rPr lang="en-US" altLang="ko-KR" sz="1100" dirty="0">
                <a:solidFill>
                  <a:srgbClr val="1A1A1A"/>
                </a:solidFill>
                <a:latin typeface="KoPubWorld돋움체 Medium"/>
                <a:ea typeface="KoPubWorld돋움체 Medium"/>
                <a:cs typeface="KoPubWorld돋움체 Medium"/>
              </a:rPr>
              <a:t>-</a:t>
            </a:r>
            <a:endParaRPr lang="en-US" altLang="ko-KR" sz="1100" dirty="0">
              <a:solidFill>
                <a:srgbClr val="1A1A1A"/>
              </a:solidFill>
              <a:latin typeface="KoPubWorld돋움체 Medium"/>
              <a:ea typeface="KoPubWorld돋움체 Medium"/>
              <a:cs typeface="KoPubWorld돋움체 Medium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365760" y="6382512"/>
            <a:ext cx="11430000" cy="203133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 dirty="0">
                <a:solidFill>
                  <a:srgbClr val="8C8C8C"/>
                </a:solidFill>
                <a:latin typeface="KoPubWorld돋움체 Medium"/>
                <a:ea typeface="KoPubWorld돋움체 Medium"/>
                <a:cs typeface="KoPubWorld돋움체 Medium"/>
              </a:rPr>
              <a:t>* </a:t>
            </a:r>
            <a:r>
              <a:rPr sz="900" b="0" dirty="0" err="1" smtClean="0">
                <a:solidFill>
                  <a:srgbClr val="8C8C8C"/>
                </a:solidFill>
                <a:latin typeface="KoPubWorld돋움체 Medium"/>
                <a:ea typeface="KoPubWorld돋움체 Medium"/>
                <a:cs typeface="KoPubWorld돋움체 Medium"/>
              </a:rPr>
              <a:t>데이터</a:t>
            </a:r>
            <a:r>
              <a:rPr sz="900" b="0" dirty="0" smtClean="0">
                <a:solidFill>
                  <a:srgbClr val="8C8C8C"/>
                </a:solidFill>
                <a:latin typeface="KoPubWorld돋움체 Medium"/>
                <a:ea typeface="KoPubWorld돋움체 Medium"/>
                <a:cs typeface="KoPubWorld돋움체 Medium"/>
              </a:rPr>
              <a:t> </a:t>
            </a:r>
            <a:r>
              <a:rPr sz="900" b="0" dirty="0">
                <a:solidFill>
                  <a:srgbClr val="8C8C8C"/>
                </a:solidFill>
                <a:latin typeface="KoPubWorld돋움체 Medium"/>
                <a:ea typeface="KoPubWorld돋움체 Medium"/>
                <a:cs typeface="KoPubWorld돋움체 Medium"/>
              </a:rPr>
              <a:t>출처: </a:t>
            </a:r>
            <a:r>
              <a:rPr lang="en-US" sz="900" b="0" dirty="0" smtClean="0">
                <a:solidFill>
                  <a:srgbClr val="8C8C8C"/>
                </a:solidFill>
                <a:latin typeface="KoPubWorld돋움체 Medium"/>
                <a:ea typeface="KoPubWorld돋움체 Medium"/>
                <a:cs typeface="KoPubWorld돋움체 Medium"/>
              </a:rPr>
              <a:t>Bloomberg</a:t>
            </a:r>
            <a:endParaRPr sz="900" b="0" dirty="0">
              <a:solidFill>
                <a:srgbClr val="8C8C8C"/>
              </a:solidFill>
              <a:latin typeface="KoPubWorld돋움체 Medium"/>
              <a:ea typeface="KoPubWorld돋움체 Medium"/>
              <a:cs typeface="KoPubWorld돋움체 Medium"/>
            </a:endParaRPr>
          </a:p>
        </p:txBody>
      </p:sp>
      <p:sp>
        <p:nvSpPr>
          <p:cNvPr id="30" name="Rectangle 29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8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365760" y="6517886"/>
            <a:ext cx="11430000" cy="369332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>
              <a:lnSpc>
                <a:spcPct val="120000"/>
              </a:lnSpc>
            </a:pPr>
            <a:r>
              <a:rPr sz="900" b="0" dirty="0">
                <a:solidFill>
                  <a:srgbClr val="8C8C8C"/>
                </a:solidFill>
                <a:latin typeface="KoPubWorld돋움체 Medium"/>
                <a:ea typeface="KoPubWorld돋움체 Medium"/>
                <a:cs typeface="KoPubWorld돋움체 Medium"/>
              </a:rPr>
              <a:t>※ </a:t>
            </a:r>
            <a:r>
              <a:rPr sz="900" b="0" dirty="0" err="1">
                <a:solidFill>
                  <a:srgbClr val="8C8C8C"/>
                </a:solidFill>
                <a:latin typeface="KoPubWorld돋움체 Medium"/>
                <a:ea typeface="KoPubWorld돋움체 Medium"/>
                <a:cs typeface="KoPubWorld돋움체 Medium"/>
              </a:rPr>
              <a:t>정보</a:t>
            </a:r>
            <a:r>
              <a:rPr sz="900" b="0" dirty="0">
                <a:solidFill>
                  <a:srgbClr val="8C8C8C"/>
                </a:solidFill>
                <a:latin typeface="KoPubWorld돋움체 Medium"/>
                <a:ea typeface="KoPubWorld돋움체 Medium"/>
                <a:cs typeface="KoPubWorld돋움체 Medium"/>
              </a:rPr>
              <a:t> </a:t>
            </a:r>
            <a:r>
              <a:rPr sz="900" b="0" dirty="0" err="1">
                <a:solidFill>
                  <a:srgbClr val="8C8C8C"/>
                </a:solidFill>
                <a:latin typeface="KoPubWorld돋움체 Medium"/>
                <a:ea typeface="KoPubWorld돋움체 Medium"/>
                <a:cs typeface="KoPubWorld돋움체 Medium"/>
              </a:rPr>
              <a:t>제공</a:t>
            </a:r>
            <a:r>
              <a:rPr sz="900" b="0" dirty="0">
                <a:solidFill>
                  <a:srgbClr val="8C8C8C"/>
                </a:solidFill>
                <a:latin typeface="KoPubWorld돋움체 Medium"/>
                <a:ea typeface="KoPubWorld돋움체 Medium"/>
                <a:cs typeface="KoPubWorld돋움체 Medium"/>
              </a:rPr>
              <a:t> </a:t>
            </a:r>
            <a:r>
              <a:rPr sz="900" b="0" dirty="0" err="1">
                <a:solidFill>
                  <a:srgbClr val="8C8C8C"/>
                </a:solidFill>
                <a:latin typeface="KoPubWorld돋움체 Medium"/>
                <a:ea typeface="KoPubWorld돋움체 Medium"/>
                <a:cs typeface="KoPubWorld돋움체 Medium"/>
              </a:rPr>
              <a:t>목적</a:t>
            </a:r>
            <a:r>
              <a:rPr sz="900" b="0" dirty="0">
                <a:solidFill>
                  <a:srgbClr val="8C8C8C"/>
                </a:solidFill>
                <a:latin typeface="KoPubWorld돋움체 Medium"/>
                <a:ea typeface="KoPubWorld돋움체 Medium"/>
                <a:cs typeface="KoPubWorld돋움체 Medium"/>
              </a:rPr>
              <a:t>, </a:t>
            </a:r>
            <a:r>
              <a:rPr sz="900" b="0" dirty="0" err="1">
                <a:solidFill>
                  <a:srgbClr val="8C8C8C"/>
                </a:solidFill>
                <a:latin typeface="KoPubWorld돋움체 Medium"/>
                <a:ea typeface="KoPubWorld돋움체 Medium"/>
                <a:cs typeface="KoPubWorld돋움체 Medium"/>
              </a:rPr>
              <a:t>투자권유</a:t>
            </a:r>
            <a:r>
              <a:rPr sz="900" b="0" dirty="0">
                <a:solidFill>
                  <a:srgbClr val="8C8C8C"/>
                </a:solidFill>
                <a:latin typeface="KoPubWorld돋움체 Medium"/>
                <a:ea typeface="KoPubWorld돋움체 Medium"/>
                <a:cs typeface="KoPubWorld돋움체 Medium"/>
              </a:rPr>
              <a:t> </a:t>
            </a:r>
            <a:r>
              <a:rPr sz="900" b="0" dirty="0" err="1">
                <a:solidFill>
                  <a:srgbClr val="8C8C8C"/>
                </a:solidFill>
                <a:latin typeface="KoPubWorld돋움체 Medium"/>
                <a:ea typeface="KoPubWorld돋움체 Medium"/>
                <a:cs typeface="KoPubWorld돋움체 Medium"/>
              </a:rPr>
              <a:t>자료가</a:t>
            </a:r>
            <a:r>
              <a:rPr sz="900" b="0" dirty="0">
                <a:solidFill>
                  <a:srgbClr val="8C8C8C"/>
                </a:solidFill>
                <a:latin typeface="KoPubWorld돋움체 Medium"/>
                <a:ea typeface="KoPubWorld돋움체 Medium"/>
                <a:cs typeface="KoPubWorld돋움체 Medium"/>
              </a:rPr>
              <a:t> </a:t>
            </a:r>
            <a:r>
              <a:rPr sz="900" b="0" dirty="0" err="1">
                <a:solidFill>
                  <a:srgbClr val="8C8C8C"/>
                </a:solidFill>
                <a:latin typeface="KoPubWorld돋움체 Medium"/>
                <a:ea typeface="KoPubWorld돋움체 Medium"/>
                <a:cs typeface="KoPubWorld돋움체 Medium"/>
              </a:rPr>
              <a:t>아닙니다</a:t>
            </a:r>
            <a:r>
              <a:rPr sz="900" b="0" dirty="0">
                <a:solidFill>
                  <a:srgbClr val="8C8C8C"/>
                </a:solidFill>
                <a:latin typeface="KoPubWorld돋움체 Medium"/>
                <a:ea typeface="KoPubWorld돋움체 Medium"/>
                <a:cs typeface="KoPubWorld돋움체 Medium"/>
              </a:rPr>
              <a:t>. </a:t>
            </a:r>
            <a:r>
              <a:rPr sz="900" b="0" dirty="0" err="1">
                <a:solidFill>
                  <a:srgbClr val="8C8C8C"/>
                </a:solidFill>
                <a:latin typeface="KoPubWorld돋움체 Medium"/>
                <a:ea typeface="KoPubWorld돋움체 Medium"/>
                <a:cs typeface="KoPubWorld돋움체 Medium"/>
              </a:rPr>
              <a:t>보수차감</a:t>
            </a:r>
            <a:r>
              <a:rPr sz="900" b="0" dirty="0">
                <a:solidFill>
                  <a:srgbClr val="8C8C8C"/>
                </a:solidFill>
                <a:latin typeface="KoPubWorld돋움체 Medium"/>
                <a:ea typeface="KoPubWorld돋움체 Medium"/>
                <a:cs typeface="KoPubWorld돋움체 Medium"/>
              </a:rPr>
              <a:t> 전 </a:t>
            </a:r>
            <a:r>
              <a:rPr sz="900" b="0" dirty="0" err="1">
                <a:solidFill>
                  <a:srgbClr val="8C8C8C"/>
                </a:solidFill>
                <a:latin typeface="KoPubWorld돋움체 Medium"/>
                <a:ea typeface="KoPubWorld돋움체 Medium"/>
                <a:cs typeface="KoPubWorld돋움체 Medium"/>
              </a:rPr>
              <a:t>예상수익률</a:t>
            </a:r>
            <a:r>
              <a:rPr sz="900" b="0" dirty="0">
                <a:solidFill>
                  <a:srgbClr val="8C8C8C"/>
                </a:solidFill>
                <a:latin typeface="KoPubWorld돋움체 Medium"/>
                <a:ea typeface="KoPubWorld돋움체 Medium"/>
                <a:cs typeface="KoPubWorld돋움체 Medium"/>
              </a:rPr>
              <a:t>(gross of fees) </a:t>
            </a:r>
            <a:r>
              <a:rPr sz="900" b="0" dirty="0" err="1">
                <a:solidFill>
                  <a:srgbClr val="8C8C8C"/>
                </a:solidFill>
                <a:latin typeface="KoPubWorld돋움체 Medium"/>
                <a:ea typeface="KoPubWorld돋움체 Medium"/>
                <a:cs typeface="KoPubWorld돋움체 Medium"/>
              </a:rPr>
              <a:t>가정</a:t>
            </a:r>
            <a:r>
              <a:rPr sz="900" b="0" dirty="0">
                <a:solidFill>
                  <a:srgbClr val="8C8C8C"/>
                </a:solidFill>
                <a:latin typeface="KoPubWorld돋움체 Medium"/>
                <a:ea typeface="KoPubWorld돋움체 Medium"/>
                <a:cs typeface="KoPubWorld돋움체 Medium"/>
              </a:rPr>
              <a:t>. </a:t>
            </a:r>
            <a:r>
              <a:rPr lang="en-US" altLang="ko-KR" sz="900" dirty="0">
                <a:solidFill>
                  <a:srgbClr val="8C8C8C"/>
                </a:solidFill>
                <a:latin typeface="KoPubWorld돋움체 Medium"/>
                <a:ea typeface="KoPubWorld돋움체 Medium"/>
                <a:cs typeface="KoPubWorld돋움체 Medium"/>
              </a:rPr>
              <a:t>※</a:t>
            </a:r>
            <a:r>
              <a:rPr lang="ko-KR" altLang="en-US" sz="900" dirty="0">
                <a:solidFill>
                  <a:srgbClr val="8C8C8C"/>
                </a:solidFill>
                <a:latin typeface="KoPubWorld돋움체 Medium"/>
                <a:ea typeface="KoPubWorld돋움체 Medium"/>
                <a:cs typeface="KoPubWorld돋움체 Medium"/>
              </a:rPr>
              <a:t> 특정 섹터나 종목의 언급이 매수</a:t>
            </a:r>
            <a:r>
              <a:rPr lang="en-US" altLang="ko-KR" sz="900" dirty="0">
                <a:solidFill>
                  <a:srgbClr val="8C8C8C"/>
                </a:solidFill>
                <a:latin typeface="KoPubWorld돋움체 Medium"/>
                <a:ea typeface="KoPubWorld돋움체 Medium"/>
                <a:cs typeface="KoPubWorld돋움체 Medium"/>
              </a:rPr>
              <a:t>, </a:t>
            </a:r>
            <a:r>
              <a:rPr lang="ko-KR" altLang="en-US" sz="900" dirty="0">
                <a:solidFill>
                  <a:srgbClr val="8C8C8C"/>
                </a:solidFill>
                <a:latin typeface="KoPubWorld돋움체 Medium"/>
                <a:ea typeface="KoPubWorld돋움체 Medium"/>
                <a:cs typeface="KoPubWorld돋움체 Medium"/>
              </a:rPr>
              <a:t>매도</a:t>
            </a:r>
            <a:r>
              <a:rPr lang="en-US" altLang="ko-KR" sz="900" dirty="0">
                <a:solidFill>
                  <a:srgbClr val="8C8C8C"/>
                </a:solidFill>
                <a:latin typeface="KoPubWorld돋움체 Medium"/>
                <a:ea typeface="KoPubWorld돋움체 Medium"/>
                <a:cs typeface="KoPubWorld돋움체 Medium"/>
              </a:rPr>
              <a:t>, </a:t>
            </a:r>
            <a:r>
              <a:rPr lang="ko-KR" altLang="en-US" sz="900" dirty="0">
                <a:solidFill>
                  <a:srgbClr val="8C8C8C"/>
                </a:solidFill>
                <a:latin typeface="KoPubWorld돋움체 Medium"/>
                <a:ea typeface="KoPubWorld돋움체 Medium"/>
                <a:cs typeface="KoPubWorld돋움체 Medium"/>
              </a:rPr>
              <a:t>보유 혹은 직접투자의 추천으로 해석되어서는 안됩니다</a:t>
            </a:r>
            <a:r>
              <a:rPr lang="en-US" altLang="ko-KR" sz="900" dirty="0">
                <a:solidFill>
                  <a:srgbClr val="8C8C8C"/>
                </a:solidFill>
                <a:latin typeface="KoPubWorld돋움체 Medium"/>
                <a:ea typeface="KoPubWorld돋움체 Medium"/>
                <a:cs typeface="KoPubWorld돋움체 Medium"/>
              </a:rPr>
              <a:t>. </a:t>
            </a:r>
            <a:endParaRPr lang="en-US" sz="900" b="0" dirty="0" smtClean="0">
              <a:solidFill>
                <a:srgbClr val="8C8C8C"/>
              </a:solidFill>
              <a:latin typeface="KoPubWorld돋움체 Medium"/>
              <a:ea typeface="KoPubWorld돋움체 Medium"/>
              <a:cs typeface="KoPubWorld돋움체 Medium"/>
            </a:endParaRPr>
          </a:p>
          <a:p>
            <a:pPr algn="l">
              <a:lnSpc>
                <a:spcPct val="120000"/>
              </a:lnSpc>
            </a:pPr>
            <a:r>
              <a:rPr lang="en-US" altLang="ko-KR" sz="900" dirty="0" smtClean="0">
                <a:solidFill>
                  <a:srgbClr val="8C8C8C"/>
                </a:solidFill>
                <a:latin typeface="KoPubWorld돋움체 Medium"/>
                <a:ea typeface="KoPubWorld돋움체 Medium"/>
                <a:cs typeface="KoPubWorld돋움체 Medium"/>
              </a:rPr>
              <a:t>※ </a:t>
            </a:r>
            <a:r>
              <a:rPr lang="ko-KR" altLang="en-US" sz="900" dirty="0">
                <a:solidFill>
                  <a:srgbClr val="8C8C8C"/>
                </a:solidFill>
                <a:latin typeface="KoPubWorld돋움체 Medium"/>
                <a:ea typeface="KoPubWorld돋움체 Medium"/>
                <a:cs typeface="KoPubWorld돋움체 Medium"/>
              </a:rPr>
              <a:t>상기 내용은 시장 상황 및 운용 전략에 따라 집합투자업자의 판단으로 변경될 수 있으며</a:t>
            </a:r>
            <a:r>
              <a:rPr lang="en-US" altLang="ko-KR" sz="900" dirty="0">
                <a:solidFill>
                  <a:srgbClr val="8C8C8C"/>
                </a:solidFill>
                <a:latin typeface="KoPubWorld돋움체 Medium"/>
                <a:ea typeface="KoPubWorld돋움체 Medium"/>
                <a:cs typeface="KoPubWorld돋움체 Medium"/>
              </a:rPr>
              <a:t>, </a:t>
            </a:r>
            <a:r>
              <a:rPr lang="ko-KR" altLang="en-US" sz="900" dirty="0">
                <a:solidFill>
                  <a:srgbClr val="8C8C8C"/>
                </a:solidFill>
                <a:latin typeface="KoPubWorld돋움체 Medium"/>
                <a:ea typeface="KoPubWorld돋움체 Medium"/>
                <a:cs typeface="KoPubWorld돋움체 Medium"/>
              </a:rPr>
              <a:t>투자 참고 자료로 과거 실적이나 전망이 미래 수익을 보장하지 않고 그 정확성 및 완전성을 보장하지 않습니다</a:t>
            </a:r>
            <a:r>
              <a:rPr lang="en-US" altLang="ko-KR" sz="900" dirty="0" smtClean="0">
                <a:solidFill>
                  <a:srgbClr val="8C8C8C"/>
                </a:solidFill>
                <a:latin typeface="KoPubWorld돋움체 Medium"/>
                <a:ea typeface="KoPubWorld돋움체 Medium"/>
                <a:cs typeface="KoPubWorld돋움체 Medium"/>
              </a:rPr>
              <a:t>.</a:t>
            </a:r>
            <a:endParaRPr lang="ko-KR" altLang="en-US" sz="900" dirty="0">
              <a:solidFill>
                <a:srgbClr val="8C8C8C"/>
              </a:solidFill>
              <a:latin typeface="KoPubWorld돋움체 Medium"/>
              <a:ea typeface="KoPubWorld돋움체 Medium"/>
              <a:cs typeface="KoPubWorld돋움체 Medium"/>
            </a:endParaRPr>
          </a:p>
        </p:txBody>
      </p:sp>
      <p:pic>
        <p:nvPicPr>
          <p:cNvPr id="34" name="그림 33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6928" y="1371361"/>
            <a:ext cx="4725011" cy="2048415"/>
          </a:xfrm>
          <a:prstGeom prst="rect">
            <a:avLst/>
          </a:prstGeom>
        </p:spPr>
      </p:pic>
      <p:sp>
        <p:nvSpPr>
          <p:cNvPr id="35" name="TextBox 34"/>
          <p:cNvSpPr txBox="1"/>
          <p:nvPr/>
        </p:nvSpPr>
        <p:spPr>
          <a:xfrm>
            <a:off x="822960" y="1004622"/>
            <a:ext cx="6858000" cy="295466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lang="en-US" sz="1400" b="1" dirty="0" smtClean="0">
                <a:solidFill>
                  <a:srgbClr val="191877"/>
                </a:solidFill>
                <a:latin typeface="KoPubWorld돋움체 Bold"/>
                <a:ea typeface="KoPubWorld돋움체 Bold"/>
                <a:cs typeface="KoPubWorld돋움체 Bold"/>
              </a:rPr>
              <a:t>STAR50 </a:t>
            </a:r>
            <a:r>
              <a:rPr lang="ko-KR" altLang="en-US" sz="1400" b="1" dirty="0" smtClean="0">
                <a:solidFill>
                  <a:srgbClr val="191877"/>
                </a:solidFill>
                <a:latin typeface="KoPubWorld돋움체 Bold"/>
                <a:ea typeface="KoPubWorld돋움체 Bold"/>
                <a:cs typeface="KoPubWorld돋움체 Bold"/>
              </a:rPr>
              <a:t>중심 반등과 </a:t>
            </a:r>
            <a:r>
              <a:rPr lang="ko-KR" altLang="en-US" sz="1400" b="1" dirty="0" err="1" smtClean="0">
                <a:solidFill>
                  <a:srgbClr val="191877"/>
                </a:solidFill>
                <a:latin typeface="KoPubWorld돋움체 Bold"/>
                <a:ea typeface="KoPubWorld돋움체 Bold"/>
                <a:cs typeface="KoPubWorld돋움체 Bold"/>
              </a:rPr>
              <a:t>홍콩테크</a:t>
            </a:r>
            <a:r>
              <a:rPr lang="ko-KR" altLang="en-US" sz="1400" b="1" dirty="0" smtClean="0">
                <a:solidFill>
                  <a:srgbClr val="191877"/>
                </a:solidFill>
                <a:latin typeface="KoPubWorld돋움체 Bold"/>
                <a:ea typeface="KoPubWorld돋움체 Bold"/>
                <a:cs typeface="KoPubWorld돋움체 Bold"/>
              </a:rPr>
              <a:t> 소외</a:t>
            </a:r>
            <a:endParaRPr sz="1400" b="1" dirty="0">
              <a:solidFill>
                <a:srgbClr val="191877"/>
              </a:solidFill>
              <a:latin typeface="KoPubWorld돋움체 Bold"/>
              <a:ea typeface="KoPubWorld돋움체 Bold"/>
              <a:cs typeface="KoPubWorld돋움체 Bold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6080760" y="1004622"/>
            <a:ext cx="6858000" cy="295466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lang="en-US" sz="1400" b="1" dirty="0" smtClean="0">
                <a:solidFill>
                  <a:srgbClr val="191877"/>
                </a:solidFill>
                <a:latin typeface="KoPubWorld돋움체 Bold"/>
                <a:ea typeface="KoPubWorld돋움체 Bold"/>
                <a:cs typeface="KoPubWorld돋움체 Bold"/>
              </a:rPr>
              <a:t>STAR50</a:t>
            </a:r>
            <a:r>
              <a:rPr lang="ko-KR" altLang="en-US" sz="1400" b="1" dirty="0" smtClean="0">
                <a:solidFill>
                  <a:srgbClr val="191877"/>
                </a:solidFill>
                <a:latin typeface="KoPubWorld돋움체 Bold"/>
                <a:ea typeface="KoPubWorld돋움체 Bold"/>
                <a:cs typeface="KoPubWorld돋움체 Bold"/>
              </a:rPr>
              <a:t>보다 강한 글로벌 </a:t>
            </a:r>
            <a:r>
              <a:rPr lang="en-US" altLang="ko-KR" sz="1400" b="1" dirty="0" smtClean="0">
                <a:solidFill>
                  <a:srgbClr val="191877"/>
                </a:solidFill>
                <a:latin typeface="KoPubWorld돋움체 Bold"/>
                <a:ea typeface="KoPubWorld돋움체 Bold"/>
                <a:cs typeface="KoPubWorld돋움체 Bold"/>
              </a:rPr>
              <a:t>DRAM</a:t>
            </a:r>
            <a:endParaRPr sz="1400" b="1" dirty="0">
              <a:solidFill>
                <a:srgbClr val="191877"/>
              </a:solidFill>
              <a:latin typeface="KoPubWorld돋움체 Bold"/>
              <a:ea typeface="KoPubWorld돋움체 Bold"/>
              <a:cs typeface="KoPubWorld돋움체 Bold"/>
            </a:endParaRPr>
          </a:p>
        </p:txBody>
      </p:sp>
    </p:spTree>
    <p:extLst>
      <p:ext uri="{BB962C8B-B14F-4D97-AF65-F5344CB8AC3E}">
        <p14:creationId xmlns:p14="http://schemas.microsoft.com/office/powerpoint/2010/main" val="148676293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" name="그림 33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8287"/>
          <a:stretch/>
        </p:blipFill>
        <p:spPr>
          <a:xfrm>
            <a:off x="6216494" y="872299"/>
            <a:ext cx="5537541" cy="3397948"/>
          </a:xfrm>
          <a:prstGeom prst="rect">
            <a:avLst/>
          </a:prstGeom>
        </p:spPr>
      </p:pic>
      <p:pic>
        <p:nvPicPr>
          <p:cNvPr id="2" name="Picture 1" descr="top-menu-gradien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77724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77724"/>
            <a:ext cx="12191695" cy="868680"/>
          </a:xfrm>
          <a:prstGeom prst="rect">
            <a:avLst/>
          </a:prstGeom>
          <a:solidFill>
            <a:srgbClr val="FFFFFF"/>
          </a:solidFill>
          <a:ln w="6350">
            <a:solidFill>
              <a:srgbClr val="E5E5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kcgi-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5760" y="182880"/>
            <a:ext cx="1508760" cy="5943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920240" y="164592"/>
            <a:ext cx="7315200" cy="36576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1" dirty="0" err="1">
                <a:solidFill>
                  <a:srgbClr val="191877"/>
                </a:solidFill>
                <a:latin typeface="KoPubWorld돋움체 Bold"/>
                <a:ea typeface="KoPubWorld돋움체 Bold"/>
                <a:cs typeface="KoPubWorld돋움체 Bold"/>
              </a:rPr>
              <a:t>이슈</a:t>
            </a:r>
            <a:r>
              <a:rPr sz="1800" b="1" dirty="0">
                <a:solidFill>
                  <a:srgbClr val="191877"/>
                </a:solidFill>
                <a:latin typeface="KoPubWorld돋움체 Bold"/>
                <a:ea typeface="KoPubWorld돋움체 Bold"/>
                <a:cs typeface="KoPubWorld돋움체 Bold"/>
              </a:rPr>
              <a:t> </a:t>
            </a:r>
            <a:r>
              <a:rPr sz="1800" b="1" dirty="0" smtClean="0">
                <a:solidFill>
                  <a:srgbClr val="191877"/>
                </a:solidFill>
                <a:latin typeface="KoPubWorld돋움체 Bold"/>
                <a:ea typeface="KoPubWorld돋움체 Bold"/>
                <a:cs typeface="KoPubWorld돋움체 Bold"/>
              </a:rPr>
              <a:t>#</a:t>
            </a:r>
            <a:r>
              <a:rPr lang="en-US" sz="1800" b="1" dirty="0" smtClean="0">
                <a:solidFill>
                  <a:srgbClr val="191877"/>
                </a:solidFill>
                <a:latin typeface="KoPubWorld돋움체 Bold"/>
                <a:ea typeface="KoPubWorld돋움체 Bold"/>
                <a:cs typeface="KoPubWorld돋움체 Bold"/>
              </a:rPr>
              <a:t>4</a:t>
            </a:r>
            <a:endParaRPr sz="1800" b="1" dirty="0">
              <a:solidFill>
                <a:srgbClr val="191877"/>
              </a:solidFill>
              <a:latin typeface="KoPubWorld돋움체 Bold"/>
              <a:ea typeface="KoPubWorld돋움체 Bold"/>
              <a:cs typeface="KoPubWorld돋움체 Bold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920240" y="566313"/>
            <a:ext cx="7315200" cy="284693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300" dirty="0">
                <a:solidFill>
                  <a:srgbClr val="595959"/>
                </a:solidFill>
                <a:latin typeface="KoPubWorld돋움체 Medium"/>
                <a:ea typeface="KoPubWorld돋움체 Medium"/>
                <a:cs typeface="KoPubWorld돋움체 Medium"/>
              </a:rPr>
              <a:t>우주</a:t>
            </a:r>
            <a:r>
              <a:rPr lang="en-US" altLang="ko-KR" sz="1300" dirty="0">
                <a:solidFill>
                  <a:srgbClr val="595959"/>
                </a:solidFill>
                <a:latin typeface="KoPubWorld돋움체 Medium"/>
                <a:ea typeface="KoPubWorld돋움체 Medium"/>
                <a:cs typeface="KoPubWorld돋움체 Medium"/>
              </a:rPr>
              <a:t>·</a:t>
            </a:r>
            <a:r>
              <a:rPr lang="ko-KR" altLang="en-US" sz="1300" dirty="0">
                <a:solidFill>
                  <a:srgbClr val="595959"/>
                </a:solidFill>
                <a:latin typeface="KoPubWorld돋움체 Medium"/>
                <a:ea typeface="KoPubWorld돋움체 Medium"/>
                <a:cs typeface="KoPubWorld돋움체 Medium"/>
              </a:rPr>
              <a:t>양자 테마로 </a:t>
            </a:r>
            <a:r>
              <a:rPr lang="ko-KR" altLang="en-US" sz="1300" dirty="0" smtClean="0">
                <a:solidFill>
                  <a:srgbClr val="595959"/>
                </a:solidFill>
                <a:latin typeface="KoPubWorld돋움체 Medium"/>
                <a:ea typeface="KoPubWorld돋움체 Medium"/>
                <a:cs typeface="KoPubWorld돋움체 Medium"/>
              </a:rPr>
              <a:t>확산 중인 기대감</a:t>
            </a:r>
            <a:endParaRPr sz="1300" dirty="0">
              <a:solidFill>
                <a:srgbClr val="595959"/>
              </a:solidFill>
              <a:latin typeface="KoPubWorld돋움체 Medium"/>
              <a:ea typeface="KoPubWorld돋움체 Medium"/>
              <a:cs typeface="KoPubWorld돋움체 Medium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10058400" y="457200"/>
            <a:ext cx="2011680" cy="45720"/>
          </a:xfrm>
          <a:prstGeom prst="rect">
            <a:avLst/>
          </a:prstGeom>
          <a:solidFill>
            <a:srgbClr val="C9A8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058400" y="182880"/>
            <a:ext cx="2011680" cy="27432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r">
              <a:lnSpc>
                <a:spcPct val="120000"/>
              </a:lnSpc>
            </a:pPr>
            <a:r>
              <a:rPr sz="1100" b="0">
                <a:solidFill>
                  <a:srgbClr val="595959"/>
                </a:solidFill>
                <a:latin typeface="KoPubWorld돋움체 Medium"/>
                <a:ea typeface="KoPubWorld돋움체 Medium"/>
                <a:cs typeface="KoPubWorld돋움체 Medium"/>
              </a:rPr>
              <a:t>KCGI 자산운용 | 뉴스핌 월간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0" y="530352"/>
            <a:ext cx="2011680" cy="32004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r">
              <a:lnSpc>
                <a:spcPct val="120000"/>
              </a:lnSpc>
            </a:pPr>
            <a:r>
              <a:rPr sz="1200" b="1">
                <a:solidFill>
                  <a:srgbClr val="191877"/>
                </a:solidFill>
                <a:latin typeface="KoPubWorld돋움체 Bold"/>
                <a:ea typeface="KoPubWorld돋움체 Bold"/>
                <a:cs typeface="KoPubWorld돋움체 Bold"/>
              </a:rPr>
              <a:t>2026.05  ·  8/14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3703320"/>
            <a:ext cx="128016" cy="128016"/>
          </a:xfrm>
          <a:prstGeom prst="rect">
            <a:avLst/>
          </a:prstGeom>
          <a:solidFill>
            <a:srgbClr val="C9A8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94360" y="3520440"/>
            <a:ext cx="7132320" cy="438912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700" b="1">
                <a:solidFill>
                  <a:srgbClr val="191877"/>
                </a:solidFill>
                <a:latin typeface="KoPubWorld돋움체 Bold"/>
                <a:ea typeface="KoPubWorld돋움체 Bold"/>
                <a:cs typeface="KoPubWorld돋움체 Bold"/>
              </a:rPr>
              <a:t>핵심 포인트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" y="3977639"/>
            <a:ext cx="7132320" cy="758952"/>
          </a:xfrm>
          <a:prstGeom prst="rect">
            <a:avLst/>
          </a:prstGeom>
          <a:solidFill>
            <a:srgbClr val="E7EAF1"/>
          </a:solidFill>
          <a:ln w="6350">
            <a:solidFill>
              <a:srgbClr val="E5E5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365760" y="3977639"/>
            <a:ext cx="91440" cy="758952"/>
          </a:xfrm>
          <a:prstGeom prst="rect">
            <a:avLst/>
          </a:prstGeom>
          <a:solidFill>
            <a:srgbClr val="1918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66928" y="4014215"/>
            <a:ext cx="6858000" cy="25853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200" b="1" dirty="0">
                <a:solidFill>
                  <a:srgbClr val="191877"/>
                </a:solidFill>
                <a:latin typeface="KoPubWorld돋움체 Bold"/>
                <a:ea typeface="KoPubWorld돋움체 Bold"/>
                <a:cs typeface="KoPubWorld돋움체 Bold"/>
              </a:rPr>
              <a:t>우주</a:t>
            </a:r>
            <a:r>
              <a:rPr lang="en-US" altLang="ko-KR" sz="1200" b="1" dirty="0">
                <a:solidFill>
                  <a:srgbClr val="191877"/>
                </a:solidFill>
                <a:latin typeface="KoPubWorld돋움체 Bold"/>
                <a:ea typeface="KoPubWorld돋움체 Bold"/>
                <a:cs typeface="KoPubWorld돋움체 Bold"/>
              </a:rPr>
              <a:t>·</a:t>
            </a:r>
            <a:r>
              <a:rPr lang="ko-KR" altLang="en-US" sz="1200" b="1" dirty="0" smtClean="0">
                <a:solidFill>
                  <a:srgbClr val="191877"/>
                </a:solidFill>
                <a:latin typeface="KoPubWorld돋움체 Bold"/>
                <a:ea typeface="KoPubWorld돋움체 Bold"/>
                <a:cs typeface="KoPubWorld돋움체 Bold"/>
              </a:rPr>
              <a:t>양자 섹터 주목</a:t>
            </a:r>
            <a:endParaRPr sz="1200" b="1" dirty="0">
              <a:solidFill>
                <a:srgbClr val="191877"/>
              </a:solidFill>
              <a:latin typeface="KoPubWorld돋움체 Bold"/>
              <a:ea typeface="KoPubWorld돋움체 Bold"/>
              <a:cs typeface="KoPubWorld돋움체 Bold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566928" y="4288535"/>
            <a:ext cx="6858000" cy="421654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lang="ko-KR" altLang="en-US" sz="1000" dirty="0" smtClean="0">
                <a:solidFill>
                  <a:srgbClr val="1A1A1A"/>
                </a:solidFill>
                <a:latin typeface="KoPubWorld돋움체 Medium"/>
                <a:ea typeface="KoPubWorld돋움체 Medium"/>
                <a:cs typeface="KoPubWorld돋움체 Medium"/>
              </a:rPr>
              <a:t>최근 </a:t>
            </a:r>
            <a:r>
              <a:rPr lang="en-US" altLang="ko-KR" sz="1000" dirty="0" smtClean="0">
                <a:solidFill>
                  <a:srgbClr val="1A1A1A"/>
                </a:solidFill>
                <a:latin typeface="KoPubWorld돋움체 Medium"/>
                <a:ea typeface="KoPubWorld돋움체 Medium"/>
                <a:cs typeface="KoPubWorld돋움체 Medium"/>
              </a:rPr>
              <a:t>1</a:t>
            </a:r>
            <a:r>
              <a:rPr lang="ko-KR" altLang="en-US" sz="1000" dirty="0" smtClean="0">
                <a:solidFill>
                  <a:srgbClr val="1A1A1A"/>
                </a:solidFill>
                <a:latin typeface="KoPubWorld돋움체 Medium"/>
                <a:ea typeface="KoPubWorld돋움체 Medium"/>
                <a:cs typeface="KoPubWorld돋움체 Medium"/>
              </a:rPr>
              <a:t>개월 </a:t>
            </a:r>
            <a:r>
              <a:rPr lang="en-US" sz="1000" b="0" dirty="0" smtClean="0">
                <a:solidFill>
                  <a:srgbClr val="1A1A1A"/>
                </a:solidFill>
                <a:latin typeface="KoPubWorld돋움체 Medium"/>
                <a:ea typeface="KoPubWorld돋움체 Medium"/>
                <a:cs typeface="KoPubWorld돋움체 Medium"/>
              </a:rPr>
              <a:t>NASA (</a:t>
            </a:r>
            <a:r>
              <a:rPr lang="ko-KR" altLang="en-US" sz="1000" b="0" dirty="0" smtClean="0">
                <a:solidFill>
                  <a:srgbClr val="1A1A1A"/>
                </a:solidFill>
                <a:latin typeface="KoPubWorld돋움체 Medium"/>
                <a:ea typeface="KoPubWorld돋움체 Medium"/>
                <a:cs typeface="KoPubWorld돋움체 Medium"/>
              </a:rPr>
              <a:t>우주 </a:t>
            </a:r>
            <a:r>
              <a:rPr lang="en-US" altLang="ko-KR" sz="1000" b="0" dirty="0" smtClean="0">
                <a:solidFill>
                  <a:srgbClr val="1A1A1A"/>
                </a:solidFill>
                <a:latin typeface="KoPubWorld돋움체 Medium"/>
                <a:ea typeface="KoPubWorld돋움체 Medium"/>
                <a:cs typeface="KoPubWorld돋움체 Medium"/>
              </a:rPr>
              <a:t>ETF) + 44.5%, QTUM (</a:t>
            </a:r>
            <a:r>
              <a:rPr lang="ko-KR" altLang="en-US" sz="1000" b="0" dirty="0" smtClean="0">
                <a:solidFill>
                  <a:srgbClr val="1A1A1A"/>
                </a:solidFill>
                <a:latin typeface="KoPubWorld돋움체 Medium"/>
                <a:ea typeface="KoPubWorld돋움체 Medium"/>
                <a:cs typeface="KoPubWorld돋움체 Medium"/>
              </a:rPr>
              <a:t>양자 </a:t>
            </a:r>
            <a:r>
              <a:rPr lang="en-US" altLang="ko-KR" sz="1000" b="0" dirty="0" smtClean="0">
                <a:solidFill>
                  <a:srgbClr val="1A1A1A"/>
                </a:solidFill>
                <a:latin typeface="KoPubWorld돋움체 Medium"/>
                <a:ea typeface="KoPubWorld돋움체 Medium"/>
                <a:cs typeface="KoPubWorld돋움체 Medium"/>
              </a:rPr>
              <a:t>ETF) + 22.9% </a:t>
            </a:r>
          </a:p>
          <a:p>
            <a:pPr algn="l">
              <a:lnSpc>
                <a:spcPct val="125000"/>
              </a:lnSpc>
            </a:pPr>
            <a:r>
              <a:rPr lang="ko-KR" altLang="en-US" sz="1000" dirty="0" smtClean="0">
                <a:solidFill>
                  <a:srgbClr val="1A1A1A"/>
                </a:solidFill>
                <a:latin typeface="KoPubWorld돋움체 Medium"/>
                <a:ea typeface="KoPubWorld돋움체 Medium"/>
                <a:cs typeface="KoPubWorld돋움체 Medium"/>
              </a:rPr>
              <a:t>주목 받으며 </a:t>
            </a:r>
            <a:r>
              <a:rPr lang="en-US" altLang="ko-KR" sz="1000" b="0" dirty="0" smtClean="0">
                <a:solidFill>
                  <a:srgbClr val="1A1A1A"/>
                </a:solidFill>
                <a:latin typeface="KoPubWorld돋움체 Medium"/>
                <a:ea typeface="KoPubWorld돋움체 Medium"/>
                <a:cs typeface="KoPubWorld돋움체 Medium"/>
              </a:rPr>
              <a:t>SPY +6.3% </a:t>
            </a:r>
            <a:r>
              <a:rPr lang="ko-KR" altLang="en-US" sz="1000" b="0" dirty="0" smtClean="0">
                <a:solidFill>
                  <a:srgbClr val="1A1A1A"/>
                </a:solidFill>
                <a:latin typeface="KoPubWorld돋움체 Medium"/>
                <a:ea typeface="KoPubWorld돋움체 Medium"/>
                <a:cs typeface="KoPubWorld돋움체 Medium"/>
              </a:rPr>
              <a:t>대비 초과 수익</a:t>
            </a:r>
            <a:endParaRPr sz="1000" b="0" dirty="0">
              <a:solidFill>
                <a:srgbClr val="1A1A1A"/>
              </a:solidFill>
              <a:latin typeface="KoPubWorld돋움체 Medium"/>
              <a:ea typeface="KoPubWorld돋움체 Medium"/>
              <a:cs typeface="KoPubWorld돋움체 Medium"/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365760" y="4800600"/>
            <a:ext cx="7132320" cy="758952"/>
          </a:xfrm>
          <a:prstGeom prst="rect">
            <a:avLst/>
          </a:prstGeom>
          <a:solidFill>
            <a:srgbClr val="E7EAF1"/>
          </a:solidFill>
          <a:ln w="6350">
            <a:solidFill>
              <a:srgbClr val="E5E5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365760" y="4800600"/>
            <a:ext cx="91440" cy="758952"/>
          </a:xfrm>
          <a:prstGeom prst="rect">
            <a:avLst/>
          </a:prstGeom>
          <a:solidFill>
            <a:srgbClr val="1918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66928" y="4837176"/>
            <a:ext cx="6858000" cy="25853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lang="en-US" sz="1200" b="1" dirty="0" err="1" smtClean="0">
                <a:solidFill>
                  <a:srgbClr val="191877"/>
                </a:solidFill>
                <a:latin typeface="KoPubWorld돋움체 Bold"/>
                <a:ea typeface="KoPubWorld돋움체 Bold"/>
                <a:cs typeface="KoPubWorld돋움체 Bold"/>
              </a:rPr>
              <a:t>SpaceX</a:t>
            </a:r>
            <a:r>
              <a:rPr lang="en-US" sz="1200" b="1" dirty="0" smtClean="0">
                <a:solidFill>
                  <a:srgbClr val="191877"/>
                </a:solidFill>
                <a:latin typeface="KoPubWorld돋움체 Bold"/>
                <a:ea typeface="KoPubWorld돋움체 Bold"/>
                <a:cs typeface="KoPubWorld돋움체 Bold"/>
              </a:rPr>
              <a:t> IPO </a:t>
            </a:r>
            <a:r>
              <a:rPr lang="ko-KR" altLang="en-US" sz="1200" b="1" dirty="0" smtClean="0">
                <a:solidFill>
                  <a:srgbClr val="191877"/>
                </a:solidFill>
                <a:latin typeface="KoPubWorld돋움체 Bold"/>
                <a:ea typeface="KoPubWorld돋움체 Bold"/>
                <a:cs typeface="KoPubWorld돋움체 Bold"/>
              </a:rPr>
              <a:t>상장 예정</a:t>
            </a:r>
            <a:endParaRPr sz="1200" b="1" dirty="0">
              <a:solidFill>
                <a:srgbClr val="191877"/>
              </a:solidFill>
              <a:latin typeface="KoPubWorld돋움체 Bold"/>
              <a:ea typeface="KoPubWorld돋움체 Bold"/>
              <a:cs typeface="KoPubWorld돋움체 Bold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566928" y="5111496"/>
            <a:ext cx="6858000" cy="229294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lang="en-US" altLang="ko-KR" sz="1000" b="0" dirty="0" smtClean="0">
                <a:solidFill>
                  <a:srgbClr val="1A1A1A"/>
                </a:solidFill>
                <a:latin typeface="KoPubWorld돋움체 Medium"/>
                <a:ea typeface="KoPubWorld돋움체 Medium"/>
                <a:cs typeface="KoPubWorld돋움체 Medium"/>
              </a:rPr>
              <a:t>$1.75T ~ 2.00T </a:t>
            </a:r>
            <a:r>
              <a:rPr lang="ko-KR" altLang="en-US" sz="1000" b="0" dirty="0" smtClean="0">
                <a:solidFill>
                  <a:srgbClr val="1A1A1A"/>
                </a:solidFill>
                <a:latin typeface="KoPubWorld돋움체 Medium"/>
                <a:ea typeface="KoPubWorld돋움체 Medium"/>
                <a:cs typeface="KoPubWorld돋움체 Medium"/>
              </a:rPr>
              <a:t>상장 예상되는 </a:t>
            </a:r>
            <a:r>
              <a:rPr lang="en-US" altLang="ko-KR" sz="1000" b="0" dirty="0" err="1" smtClean="0">
                <a:solidFill>
                  <a:srgbClr val="1A1A1A"/>
                </a:solidFill>
                <a:latin typeface="KoPubWorld돋움체 Medium"/>
                <a:ea typeface="KoPubWorld돋움체 Medium"/>
                <a:cs typeface="KoPubWorld돋움체 Medium"/>
              </a:rPr>
              <a:t>SpaceX</a:t>
            </a:r>
            <a:r>
              <a:rPr lang="en-US" altLang="ko-KR" sz="1000" b="0" dirty="0" smtClean="0">
                <a:solidFill>
                  <a:srgbClr val="1A1A1A"/>
                </a:solidFill>
                <a:latin typeface="KoPubWorld돋움체 Medium"/>
                <a:ea typeface="KoPubWorld돋움체 Medium"/>
                <a:cs typeface="KoPubWorld돋움체 Medium"/>
              </a:rPr>
              <a:t> </a:t>
            </a:r>
            <a:r>
              <a:rPr lang="ko-KR" altLang="en-US" sz="1000" b="0" dirty="0" smtClean="0">
                <a:solidFill>
                  <a:srgbClr val="1A1A1A"/>
                </a:solidFill>
                <a:latin typeface="KoPubWorld돋움체 Medium"/>
                <a:ea typeface="KoPubWorld돋움체 Medium"/>
                <a:cs typeface="KoPubWorld돋움체 Medium"/>
              </a:rPr>
              <a:t>이벤트 직전 우주 관련 </a:t>
            </a:r>
            <a:r>
              <a:rPr lang="en-US" altLang="ko-KR" sz="1000" b="0" dirty="0" smtClean="0">
                <a:solidFill>
                  <a:srgbClr val="1A1A1A"/>
                </a:solidFill>
                <a:latin typeface="KoPubWorld돋움체 Medium"/>
                <a:ea typeface="KoPubWorld돋움체 Medium"/>
                <a:cs typeface="KoPubWorld돋움체 Medium"/>
              </a:rPr>
              <a:t>ETF </a:t>
            </a:r>
            <a:r>
              <a:rPr lang="ko-KR" altLang="en-US" sz="1000" dirty="0" smtClean="0">
                <a:solidFill>
                  <a:srgbClr val="1A1A1A"/>
                </a:solidFill>
                <a:latin typeface="KoPubWorld돋움체 Medium"/>
                <a:ea typeface="KoPubWorld돋움체 Medium"/>
                <a:cs typeface="KoPubWorld돋움체 Medium"/>
              </a:rPr>
              <a:t>상승하는 모습을 보임</a:t>
            </a:r>
            <a:endParaRPr sz="1000" b="0" dirty="0">
              <a:solidFill>
                <a:srgbClr val="1A1A1A"/>
              </a:solidFill>
              <a:latin typeface="KoPubWorld돋움체 Medium"/>
              <a:ea typeface="KoPubWorld돋움체 Medium"/>
              <a:cs typeface="KoPubWorld돋움체 Medium"/>
            </a:endParaRPr>
          </a:p>
        </p:txBody>
      </p:sp>
      <p:sp>
        <p:nvSpPr>
          <p:cNvPr id="22" name="Rectangle 21"/>
          <p:cNvSpPr/>
          <p:nvPr/>
        </p:nvSpPr>
        <p:spPr>
          <a:xfrm>
            <a:off x="365760" y="5623559"/>
            <a:ext cx="7132320" cy="758952"/>
          </a:xfrm>
          <a:prstGeom prst="rect">
            <a:avLst/>
          </a:prstGeom>
          <a:solidFill>
            <a:srgbClr val="E7EAF1"/>
          </a:solidFill>
          <a:ln w="6350">
            <a:solidFill>
              <a:srgbClr val="E5E5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365760" y="5623559"/>
            <a:ext cx="91440" cy="758952"/>
          </a:xfrm>
          <a:prstGeom prst="rect">
            <a:avLst/>
          </a:prstGeom>
          <a:solidFill>
            <a:srgbClr val="1918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566928" y="5660135"/>
            <a:ext cx="6858000" cy="25853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lang="ko-KR" altLang="en-US" sz="1200" b="1" dirty="0" smtClean="0">
                <a:solidFill>
                  <a:srgbClr val="191877"/>
                </a:solidFill>
                <a:latin typeface="KoPubWorld돋움체 Bold"/>
                <a:ea typeface="KoPubWorld돋움체 Bold"/>
                <a:cs typeface="KoPubWorld돋움체 Bold"/>
              </a:rPr>
              <a:t>이벤트 기반 단기 수급인지 확인 필요</a:t>
            </a:r>
            <a:endParaRPr sz="1200" b="1" dirty="0">
              <a:solidFill>
                <a:srgbClr val="191877"/>
              </a:solidFill>
              <a:latin typeface="KoPubWorld돋움체 Bold"/>
              <a:ea typeface="KoPubWorld돋움체 Bold"/>
              <a:cs typeface="KoPubWorld돋움체 Bold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566928" y="5934455"/>
            <a:ext cx="6858000" cy="229294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lang="en-US" sz="1000" b="0" dirty="0" err="1" smtClean="0">
                <a:solidFill>
                  <a:srgbClr val="1A1A1A"/>
                </a:solidFill>
                <a:latin typeface="KoPubWorld돋움체 Medium"/>
                <a:ea typeface="KoPubWorld돋움체 Medium"/>
                <a:cs typeface="KoPubWorld돋움체 Medium"/>
              </a:rPr>
              <a:t>SpaceX</a:t>
            </a:r>
            <a:r>
              <a:rPr lang="en-US" sz="1000" b="0" dirty="0" smtClean="0">
                <a:solidFill>
                  <a:srgbClr val="1A1A1A"/>
                </a:solidFill>
                <a:latin typeface="KoPubWorld돋움체 Medium"/>
                <a:ea typeface="KoPubWorld돋움체 Medium"/>
                <a:cs typeface="KoPubWorld돋움체 Medium"/>
              </a:rPr>
              <a:t> </a:t>
            </a:r>
            <a:r>
              <a:rPr lang="ko-KR" altLang="en-US" sz="1000" b="0" dirty="0" smtClean="0">
                <a:solidFill>
                  <a:srgbClr val="1A1A1A"/>
                </a:solidFill>
                <a:latin typeface="KoPubWorld돋움체 Medium"/>
                <a:ea typeface="KoPubWorld돋움체 Medium"/>
                <a:cs typeface="KoPubWorld돋움체 Medium"/>
              </a:rPr>
              <a:t>상장 이후 </a:t>
            </a:r>
            <a:r>
              <a:rPr lang="en-US" altLang="ko-KR" sz="1000" b="0" dirty="0" smtClean="0">
                <a:solidFill>
                  <a:srgbClr val="1A1A1A"/>
                </a:solidFill>
                <a:latin typeface="KoPubWorld돋움체 Medium"/>
                <a:ea typeface="KoPubWorld돋움체 Medium"/>
                <a:cs typeface="KoPubWorld돋움체 Medium"/>
              </a:rPr>
              <a:t>NASA ETF </a:t>
            </a:r>
            <a:r>
              <a:rPr lang="ko-KR" altLang="en-US" sz="1000" b="0" dirty="0" smtClean="0">
                <a:solidFill>
                  <a:srgbClr val="1A1A1A"/>
                </a:solidFill>
                <a:latin typeface="KoPubWorld돋움체 Medium"/>
                <a:ea typeface="KoPubWorld돋움체 Medium"/>
                <a:cs typeface="KoPubWorld돋움체 Medium"/>
              </a:rPr>
              <a:t>등의 움직임 확인 필요</a:t>
            </a:r>
            <a:endParaRPr sz="1000" b="0" dirty="0">
              <a:solidFill>
                <a:srgbClr val="1A1A1A"/>
              </a:solidFill>
              <a:latin typeface="KoPubWorld돋움체 Medium"/>
              <a:ea typeface="KoPubWorld돋움체 Medium"/>
              <a:cs typeface="KoPubWorld돋움체 Medium"/>
            </a:endParaRPr>
          </a:p>
        </p:txBody>
      </p:sp>
      <p:sp>
        <p:nvSpPr>
          <p:cNvPr id="26" name="Rectangle 25"/>
          <p:cNvSpPr/>
          <p:nvPr/>
        </p:nvSpPr>
        <p:spPr>
          <a:xfrm>
            <a:off x="7680960" y="3994794"/>
            <a:ext cx="128016" cy="128016"/>
          </a:xfrm>
          <a:prstGeom prst="rect">
            <a:avLst/>
          </a:prstGeom>
          <a:solidFill>
            <a:srgbClr val="C9A8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7909560" y="3811914"/>
            <a:ext cx="4114800" cy="438912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700" b="1">
                <a:solidFill>
                  <a:srgbClr val="191877"/>
                </a:solidFill>
                <a:latin typeface="KoPubWorld돋움체 Bold"/>
                <a:ea typeface="KoPubWorld돋움체 Bold"/>
                <a:cs typeface="KoPubWorld돋움체 Bold"/>
              </a:rPr>
              <a:t>포트폴리오 함의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680960" y="4241682"/>
            <a:ext cx="4114800" cy="256993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lang="en-US" sz="1100" b="0" dirty="0" smtClean="0">
                <a:solidFill>
                  <a:srgbClr val="1A1A1A"/>
                </a:solidFill>
                <a:latin typeface="KoPubWorld돋움체 Medium"/>
                <a:ea typeface="KoPubWorld돋움체 Medium"/>
                <a:cs typeface="KoPubWorld돋움체 Medium"/>
              </a:rPr>
              <a:t>-</a:t>
            </a:r>
            <a:endParaRPr sz="1100" b="0" dirty="0">
              <a:solidFill>
                <a:srgbClr val="1A1A1A"/>
              </a:solidFill>
              <a:latin typeface="KoPubWorld돋움체 Medium"/>
              <a:ea typeface="KoPubWorld돋움체 Medium"/>
              <a:cs typeface="KoPubWorld돋움체 Medium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365760" y="6382512"/>
            <a:ext cx="11430000" cy="203133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 dirty="0">
                <a:solidFill>
                  <a:srgbClr val="8C8C8C"/>
                </a:solidFill>
                <a:latin typeface="KoPubWorld돋움체 Medium"/>
                <a:ea typeface="KoPubWorld돋움체 Medium"/>
                <a:cs typeface="KoPubWorld돋움체 Medium"/>
              </a:rPr>
              <a:t>* </a:t>
            </a:r>
            <a:r>
              <a:rPr sz="900" b="0" dirty="0" err="1" smtClean="0">
                <a:solidFill>
                  <a:srgbClr val="8C8C8C"/>
                </a:solidFill>
                <a:latin typeface="KoPubWorld돋움체 Medium"/>
                <a:ea typeface="KoPubWorld돋움체 Medium"/>
                <a:cs typeface="KoPubWorld돋움체 Medium"/>
              </a:rPr>
              <a:t>데이터</a:t>
            </a:r>
            <a:r>
              <a:rPr sz="900" b="0" dirty="0" smtClean="0">
                <a:solidFill>
                  <a:srgbClr val="8C8C8C"/>
                </a:solidFill>
                <a:latin typeface="KoPubWorld돋움체 Medium"/>
                <a:ea typeface="KoPubWorld돋움체 Medium"/>
                <a:cs typeface="KoPubWorld돋움체 Medium"/>
              </a:rPr>
              <a:t> </a:t>
            </a:r>
            <a:r>
              <a:rPr sz="900" b="0" dirty="0">
                <a:solidFill>
                  <a:srgbClr val="8C8C8C"/>
                </a:solidFill>
                <a:latin typeface="KoPubWorld돋움체 Medium"/>
                <a:ea typeface="KoPubWorld돋움체 Medium"/>
                <a:cs typeface="KoPubWorld돋움체 Medium"/>
              </a:rPr>
              <a:t>출처: </a:t>
            </a:r>
            <a:r>
              <a:rPr lang="en-US" sz="900" b="0" dirty="0" smtClean="0">
                <a:solidFill>
                  <a:srgbClr val="8C8C8C"/>
                </a:solidFill>
                <a:latin typeface="KoPubWorld돋움체 Medium"/>
                <a:ea typeface="KoPubWorld돋움체 Medium"/>
                <a:cs typeface="KoPubWorld돋움체 Medium"/>
              </a:rPr>
              <a:t>Bloomberg, </a:t>
            </a:r>
            <a:r>
              <a:rPr lang="en-US" sz="900" b="0" dirty="0" err="1" smtClean="0">
                <a:solidFill>
                  <a:srgbClr val="8C8C8C"/>
                </a:solidFill>
                <a:latin typeface="KoPubWorld돋움체 Medium"/>
                <a:ea typeface="KoPubWorld돋움체 Medium"/>
                <a:cs typeface="KoPubWorld돋움체 Medium"/>
              </a:rPr>
              <a:t>yfinance</a:t>
            </a:r>
            <a:endParaRPr sz="900" b="0" dirty="0">
              <a:solidFill>
                <a:srgbClr val="8C8C8C"/>
              </a:solidFill>
              <a:latin typeface="KoPubWorld돋움체 Medium"/>
              <a:ea typeface="KoPubWorld돋움체 Medium"/>
              <a:cs typeface="KoPubWorld돋움체 Medium"/>
            </a:endParaRPr>
          </a:p>
        </p:txBody>
      </p:sp>
      <p:sp>
        <p:nvSpPr>
          <p:cNvPr id="30" name="Rectangle 29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8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365760" y="6517886"/>
            <a:ext cx="11430000" cy="369332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>
              <a:lnSpc>
                <a:spcPct val="120000"/>
              </a:lnSpc>
            </a:pPr>
            <a:r>
              <a:rPr sz="900" b="0" dirty="0">
                <a:solidFill>
                  <a:srgbClr val="8C8C8C"/>
                </a:solidFill>
                <a:latin typeface="KoPubWorld돋움체 Medium"/>
                <a:ea typeface="KoPubWorld돋움체 Medium"/>
                <a:cs typeface="KoPubWorld돋움체 Medium"/>
              </a:rPr>
              <a:t>※ </a:t>
            </a:r>
            <a:r>
              <a:rPr sz="900" b="0" dirty="0" err="1">
                <a:solidFill>
                  <a:srgbClr val="8C8C8C"/>
                </a:solidFill>
                <a:latin typeface="KoPubWorld돋움체 Medium"/>
                <a:ea typeface="KoPubWorld돋움체 Medium"/>
                <a:cs typeface="KoPubWorld돋움체 Medium"/>
              </a:rPr>
              <a:t>정보</a:t>
            </a:r>
            <a:r>
              <a:rPr sz="900" b="0" dirty="0">
                <a:solidFill>
                  <a:srgbClr val="8C8C8C"/>
                </a:solidFill>
                <a:latin typeface="KoPubWorld돋움체 Medium"/>
                <a:ea typeface="KoPubWorld돋움체 Medium"/>
                <a:cs typeface="KoPubWorld돋움체 Medium"/>
              </a:rPr>
              <a:t> </a:t>
            </a:r>
            <a:r>
              <a:rPr sz="900" b="0" dirty="0" err="1">
                <a:solidFill>
                  <a:srgbClr val="8C8C8C"/>
                </a:solidFill>
                <a:latin typeface="KoPubWorld돋움체 Medium"/>
                <a:ea typeface="KoPubWorld돋움체 Medium"/>
                <a:cs typeface="KoPubWorld돋움체 Medium"/>
              </a:rPr>
              <a:t>제공</a:t>
            </a:r>
            <a:r>
              <a:rPr sz="900" b="0" dirty="0">
                <a:solidFill>
                  <a:srgbClr val="8C8C8C"/>
                </a:solidFill>
                <a:latin typeface="KoPubWorld돋움체 Medium"/>
                <a:ea typeface="KoPubWorld돋움체 Medium"/>
                <a:cs typeface="KoPubWorld돋움체 Medium"/>
              </a:rPr>
              <a:t> </a:t>
            </a:r>
            <a:r>
              <a:rPr sz="900" b="0" dirty="0" err="1">
                <a:solidFill>
                  <a:srgbClr val="8C8C8C"/>
                </a:solidFill>
                <a:latin typeface="KoPubWorld돋움체 Medium"/>
                <a:ea typeface="KoPubWorld돋움체 Medium"/>
                <a:cs typeface="KoPubWorld돋움체 Medium"/>
              </a:rPr>
              <a:t>목적</a:t>
            </a:r>
            <a:r>
              <a:rPr sz="900" b="0" dirty="0">
                <a:solidFill>
                  <a:srgbClr val="8C8C8C"/>
                </a:solidFill>
                <a:latin typeface="KoPubWorld돋움체 Medium"/>
                <a:ea typeface="KoPubWorld돋움체 Medium"/>
                <a:cs typeface="KoPubWorld돋움체 Medium"/>
              </a:rPr>
              <a:t>, </a:t>
            </a:r>
            <a:r>
              <a:rPr sz="900" b="0" dirty="0" err="1">
                <a:solidFill>
                  <a:srgbClr val="8C8C8C"/>
                </a:solidFill>
                <a:latin typeface="KoPubWorld돋움체 Medium"/>
                <a:ea typeface="KoPubWorld돋움체 Medium"/>
                <a:cs typeface="KoPubWorld돋움체 Medium"/>
              </a:rPr>
              <a:t>투자권유</a:t>
            </a:r>
            <a:r>
              <a:rPr sz="900" b="0" dirty="0">
                <a:solidFill>
                  <a:srgbClr val="8C8C8C"/>
                </a:solidFill>
                <a:latin typeface="KoPubWorld돋움체 Medium"/>
                <a:ea typeface="KoPubWorld돋움체 Medium"/>
                <a:cs typeface="KoPubWorld돋움체 Medium"/>
              </a:rPr>
              <a:t> </a:t>
            </a:r>
            <a:r>
              <a:rPr sz="900" b="0" dirty="0" err="1">
                <a:solidFill>
                  <a:srgbClr val="8C8C8C"/>
                </a:solidFill>
                <a:latin typeface="KoPubWorld돋움체 Medium"/>
                <a:ea typeface="KoPubWorld돋움체 Medium"/>
                <a:cs typeface="KoPubWorld돋움체 Medium"/>
              </a:rPr>
              <a:t>자료가</a:t>
            </a:r>
            <a:r>
              <a:rPr sz="900" b="0" dirty="0">
                <a:solidFill>
                  <a:srgbClr val="8C8C8C"/>
                </a:solidFill>
                <a:latin typeface="KoPubWorld돋움체 Medium"/>
                <a:ea typeface="KoPubWorld돋움체 Medium"/>
                <a:cs typeface="KoPubWorld돋움체 Medium"/>
              </a:rPr>
              <a:t> </a:t>
            </a:r>
            <a:r>
              <a:rPr sz="900" b="0" dirty="0" err="1">
                <a:solidFill>
                  <a:srgbClr val="8C8C8C"/>
                </a:solidFill>
                <a:latin typeface="KoPubWorld돋움체 Medium"/>
                <a:ea typeface="KoPubWorld돋움체 Medium"/>
                <a:cs typeface="KoPubWorld돋움체 Medium"/>
              </a:rPr>
              <a:t>아닙니다</a:t>
            </a:r>
            <a:r>
              <a:rPr sz="900" b="0" dirty="0">
                <a:solidFill>
                  <a:srgbClr val="8C8C8C"/>
                </a:solidFill>
                <a:latin typeface="KoPubWorld돋움체 Medium"/>
                <a:ea typeface="KoPubWorld돋움체 Medium"/>
                <a:cs typeface="KoPubWorld돋움체 Medium"/>
              </a:rPr>
              <a:t>. </a:t>
            </a:r>
            <a:r>
              <a:rPr sz="900" b="0" dirty="0" err="1">
                <a:solidFill>
                  <a:srgbClr val="8C8C8C"/>
                </a:solidFill>
                <a:latin typeface="KoPubWorld돋움체 Medium"/>
                <a:ea typeface="KoPubWorld돋움체 Medium"/>
                <a:cs typeface="KoPubWorld돋움체 Medium"/>
              </a:rPr>
              <a:t>보수차감</a:t>
            </a:r>
            <a:r>
              <a:rPr sz="900" b="0" dirty="0">
                <a:solidFill>
                  <a:srgbClr val="8C8C8C"/>
                </a:solidFill>
                <a:latin typeface="KoPubWorld돋움체 Medium"/>
                <a:ea typeface="KoPubWorld돋움체 Medium"/>
                <a:cs typeface="KoPubWorld돋움체 Medium"/>
              </a:rPr>
              <a:t> 전 </a:t>
            </a:r>
            <a:r>
              <a:rPr sz="900" b="0" dirty="0" err="1">
                <a:solidFill>
                  <a:srgbClr val="8C8C8C"/>
                </a:solidFill>
                <a:latin typeface="KoPubWorld돋움체 Medium"/>
                <a:ea typeface="KoPubWorld돋움체 Medium"/>
                <a:cs typeface="KoPubWorld돋움체 Medium"/>
              </a:rPr>
              <a:t>예상수익률</a:t>
            </a:r>
            <a:r>
              <a:rPr sz="900" b="0" dirty="0">
                <a:solidFill>
                  <a:srgbClr val="8C8C8C"/>
                </a:solidFill>
                <a:latin typeface="KoPubWorld돋움체 Medium"/>
                <a:ea typeface="KoPubWorld돋움체 Medium"/>
                <a:cs typeface="KoPubWorld돋움체 Medium"/>
              </a:rPr>
              <a:t>(gross of fees) </a:t>
            </a:r>
            <a:r>
              <a:rPr sz="900" b="0" dirty="0" err="1">
                <a:solidFill>
                  <a:srgbClr val="8C8C8C"/>
                </a:solidFill>
                <a:latin typeface="KoPubWorld돋움체 Medium"/>
                <a:ea typeface="KoPubWorld돋움체 Medium"/>
                <a:cs typeface="KoPubWorld돋움체 Medium"/>
              </a:rPr>
              <a:t>가정</a:t>
            </a:r>
            <a:r>
              <a:rPr sz="900" b="0" dirty="0">
                <a:solidFill>
                  <a:srgbClr val="8C8C8C"/>
                </a:solidFill>
                <a:latin typeface="KoPubWorld돋움체 Medium"/>
                <a:ea typeface="KoPubWorld돋움체 Medium"/>
                <a:cs typeface="KoPubWorld돋움체 Medium"/>
              </a:rPr>
              <a:t>. </a:t>
            </a:r>
            <a:r>
              <a:rPr lang="en-US" altLang="ko-KR" sz="900" dirty="0">
                <a:solidFill>
                  <a:srgbClr val="8C8C8C"/>
                </a:solidFill>
                <a:latin typeface="KoPubWorld돋움체 Medium"/>
                <a:ea typeface="KoPubWorld돋움체 Medium"/>
                <a:cs typeface="KoPubWorld돋움체 Medium"/>
              </a:rPr>
              <a:t>※</a:t>
            </a:r>
            <a:r>
              <a:rPr lang="ko-KR" altLang="en-US" sz="900" dirty="0">
                <a:solidFill>
                  <a:srgbClr val="8C8C8C"/>
                </a:solidFill>
                <a:latin typeface="KoPubWorld돋움체 Medium"/>
                <a:ea typeface="KoPubWorld돋움체 Medium"/>
                <a:cs typeface="KoPubWorld돋움체 Medium"/>
              </a:rPr>
              <a:t> 특정 섹터나 종목의 언급이 매수</a:t>
            </a:r>
            <a:r>
              <a:rPr lang="en-US" altLang="ko-KR" sz="900" dirty="0">
                <a:solidFill>
                  <a:srgbClr val="8C8C8C"/>
                </a:solidFill>
                <a:latin typeface="KoPubWorld돋움체 Medium"/>
                <a:ea typeface="KoPubWorld돋움체 Medium"/>
                <a:cs typeface="KoPubWorld돋움체 Medium"/>
              </a:rPr>
              <a:t>, </a:t>
            </a:r>
            <a:r>
              <a:rPr lang="ko-KR" altLang="en-US" sz="900" dirty="0">
                <a:solidFill>
                  <a:srgbClr val="8C8C8C"/>
                </a:solidFill>
                <a:latin typeface="KoPubWorld돋움체 Medium"/>
                <a:ea typeface="KoPubWorld돋움체 Medium"/>
                <a:cs typeface="KoPubWorld돋움체 Medium"/>
              </a:rPr>
              <a:t>매도</a:t>
            </a:r>
            <a:r>
              <a:rPr lang="en-US" altLang="ko-KR" sz="900" dirty="0">
                <a:solidFill>
                  <a:srgbClr val="8C8C8C"/>
                </a:solidFill>
                <a:latin typeface="KoPubWorld돋움체 Medium"/>
                <a:ea typeface="KoPubWorld돋움체 Medium"/>
                <a:cs typeface="KoPubWorld돋움체 Medium"/>
              </a:rPr>
              <a:t>, </a:t>
            </a:r>
            <a:r>
              <a:rPr lang="ko-KR" altLang="en-US" sz="900" dirty="0">
                <a:solidFill>
                  <a:srgbClr val="8C8C8C"/>
                </a:solidFill>
                <a:latin typeface="KoPubWorld돋움체 Medium"/>
                <a:ea typeface="KoPubWorld돋움체 Medium"/>
                <a:cs typeface="KoPubWorld돋움체 Medium"/>
              </a:rPr>
              <a:t>보유 혹은 직접투자의 추천으로 해석되어서는 안됩니다</a:t>
            </a:r>
            <a:r>
              <a:rPr lang="en-US" altLang="ko-KR" sz="900" dirty="0">
                <a:solidFill>
                  <a:srgbClr val="8C8C8C"/>
                </a:solidFill>
                <a:latin typeface="KoPubWorld돋움체 Medium"/>
                <a:ea typeface="KoPubWorld돋움체 Medium"/>
                <a:cs typeface="KoPubWorld돋움체 Medium"/>
              </a:rPr>
              <a:t>. </a:t>
            </a:r>
            <a:endParaRPr lang="en-US" sz="900" b="0" dirty="0" smtClean="0">
              <a:solidFill>
                <a:srgbClr val="8C8C8C"/>
              </a:solidFill>
              <a:latin typeface="KoPubWorld돋움체 Medium"/>
              <a:ea typeface="KoPubWorld돋움체 Medium"/>
              <a:cs typeface="KoPubWorld돋움체 Medium"/>
            </a:endParaRPr>
          </a:p>
          <a:p>
            <a:pPr algn="l">
              <a:lnSpc>
                <a:spcPct val="120000"/>
              </a:lnSpc>
            </a:pPr>
            <a:r>
              <a:rPr lang="en-US" altLang="ko-KR" sz="900" dirty="0" smtClean="0">
                <a:solidFill>
                  <a:srgbClr val="8C8C8C"/>
                </a:solidFill>
                <a:latin typeface="KoPubWorld돋움체 Medium"/>
                <a:ea typeface="KoPubWorld돋움체 Medium"/>
                <a:cs typeface="KoPubWorld돋움체 Medium"/>
              </a:rPr>
              <a:t>※ </a:t>
            </a:r>
            <a:r>
              <a:rPr lang="ko-KR" altLang="en-US" sz="900" dirty="0">
                <a:solidFill>
                  <a:srgbClr val="8C8C8C"/>
                </a:solidFill>
                <a:latin typeface="KoPubWorld돋움체 Medium"/>
                <a:ea typeface="KoPubWorld돋움체 Medium"/>
                <a:cs typeface="KoPubWorld돋움체 Medium"/>
              </a:rPr>
              <a:t>상기 내용은 시장 상황 및 운용 전략에 따라 집합투자업자의 판단으로 변경될 수 있으며</a:t>
            </a:r>
            <a:r>
              <a:rPr lang="en-US" altLang="ko-KR" sz="900" dirty="0">
                <a:solidFill>
                  <a:srgbClr val="8C8C8C"/>
                </a:solidFill>
                <a:latin typeface="KoPubWorld돋움체 Medium"/>
                <a:ea typeface="KoPubWorld돋움체 Medium"/>
                <a:cs typeface="KoPubWorld돋움체 Medium"/>
              </a:rPr>
              <a:t>, </a:t>
            </a:r>
            <a:r>
              <a:rPr lang="ko-KR" altLang="en-US" sz="900" dirty="0">
                <a:solidFill>
                  <a:srgbClr val="8C8C8C"/>
                </a:solidFill>
                <a:latin typeface="KoPubWorld돋움체 Medium"/>
                <a:ea typeface="KoPubWorld돋움체 Medium"/>
                <a:cs typeface="KoPubWorld돋움체 Medium"/>
              </a:rPr>
              <a:t>투자 참고 자료로 과거 실적이나 전망이 미래 수익을 보장하지 않고 그 정확성 및 완전성을 보장하지 않습니다</a:t>
            </a:r>
            <a:r>
              <a:rPr lang="en-US" altLang="ko-KR" sz="900" dirty="0" smtClean="0">
                <a:solidFill>
                  <a:srgbClr val="8C8C8C"/>
                </a:solidFill>
                <a:latin typeface="KoPubWorld돋움체 Medium"/>
                <a:ea typeface="KoPubWorld돋움체 Medium"/>
                <a:cs typeface="KoPubWorld돋움체 Medium"/>
              </a:rPr>
              <a:t>.</a:t>
            </a:r>
            <a:endParaRPr lang="ko-KR" altLang="en-US" sz="900" dirty="0">
              <a:solidFill>
                <a:srgbClr val="8C8C8C"/>
              </a:solidFill>
              <a:latin typeface="KoPubWorld돋움체 Medium"/>
              <a:ea typeface="KoPubWorld돋움체 Medium"/>
              <a:cs typeface="KoPubWorld돋움체 Medium"/>
            </a:endParaRPr>
          </a:p>
        </p:txBody>
      </p:sp>
      <p:pic>
        <p:nvPicPr>
          <p:cNvPr id="10" name="그림 9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1109" y="1269694"/>
            <a:ext cx="5317725" cy="2305372"/>
          </a:xfrm>
          <a:prstGeom prst="rect">
            <a:avLst/>
          </a:prstGeom>
        </p:spPr>
      </p:pic>
      <p:sp>
        <p:nvSpPr>
          <p:cNvPr id="33" name="TextBox 32"/>
          <p:cNvSpPr txBox="1"/>
          <p:nvPr/>
        </p:nvSpPr>
        <p:spPr>
          <a:xfrm>
            <a:off x="716343" y="1004622"/>
            <a:ext cx="6858000" cy="295466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lang="ko-KR" altLang="en-US" sz="1400" b="1" dirty="0" smtClean="0">
                <a:solidFill>
                  <a:srgbClr val="191877"/>
                </a:solidFill>
                <a:latin typeface="KoPubWorld돋움체 Bold"/>
                <a:ea typeface="KoPubWorld돋움체 Bold"/>
                <a:cs typeface="KoPubWorld돋움체 Bold"/>
              </a:rPr>
              <a:t>우주 관련 </a:t>
            </a:r>
            <a:r>
              <a:rPr lang="en-US" altLang="ko-KR" sz="1400" b="1" dirty="0" smtClean="0">
                <a:solidFill>
                  <a:srgbClr val="191877"/>
                </a:solidFill>
                <a:latin typeface="KoPubWorld돋움체 Bold"/>
                <a:ea typeface="KoPubWorld돋움체 Bold"/>
                <a:cs typeface="KoPubWorld돋움체 Bold"/>
              </a:rPr>
              <a:t>ETF (NASA), </a:t>
            </a:r>
            <a:r>
              <a:rPr lang="ko-KR" altLang="en-US" sz="1400" b="1" dirty="0" smtClean="0">
                <a:solidFill>
                  <a:srgbClr val="191877"/>
                </a:solidFill>
                <a:latin typeface="KoPubWorld돋움체 Bold"/>
                <a:ea typeface="KoPubWorld돋움체 Bold"/>
                <a:cs typeface="KoPubWorld돋움체 Bold"/>
              </a:rPr>
              <a:t>양자 관련 </a:t>
            </a:r>
            <a:r>
              <a:rPr lang="en-US" altLang="ko-KR" sz="1400" b="1" dirty="0" smtClean="0">
                <a:solidFill>
                  <a:srgbClr val="191877"/>
                </a:solidFill>
                <a:latin typeface="KoPubWorld돋움체 Bold"/>
                <a:ea typeface="KoPubWorld돋움체 Bold"/>
                <a:cs typeface="KoPubWorld돋움체 Bold"/>
              </a:rPr>
              <a:t>ETF (QTUM) </a:t>
            </a:r>
            <a:r>
              <a:rPr lang="ko-KR" altLang="en-US" sz="1400" b="1" dirty="0" smtClean="0">
                <a:solidFill>
                  <a:srgbClr val="191877"/>
                </a:solidFill>
                <a:latin typeface="KoPubWorld돋움체 Bold"/>
                <a:ea typeface="KoPubWorld돋움체 Bold"/>
                <a:cs typeface="KoPubWorld돋움체 Bold"/>
              </a:rPr>
              <a:t>상승</a:t>
            </a:r>
            <a:endParaRPr sz="1400" b="1" dirty="0">
              <a:solidFill>
                <a:srgbClr val="191877"/>
              </a:solidFill>
              <a:latin typeface="KoPubWorld돋움체 Bold"/>
              <a:ea typeface="KoPubWorld돋움체 Bold"/>
              <a:cs typeface="KoPubWorld돋움체 Bold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6475637" y="1004622"/>
            <a:ext cx="4803348" cy="295466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lang="en-US" sz="1400" b="1" dirty="0" err="1" smtClean="0">
                <a:solidFill>
                  <a:srgbClr val="191877"/>
                </a:solidFill>
                <a:latin typeface="KoPubWorld돋움체 Bold"/>
                <a:ea typeface="KoPubWorld돋움체 Bold"/>
                <a:cs typeface="KoPubWorld돋움체 Bold"/>
              </a:rPr>
              <a:t>SpaceX</a:t>
            </a:r>
            <a:r>
              <a:rPr lang="en-US" sz="1400" b="1" dirty="0" smtClean="0">
                <a:solidFill>
                  <a:srgbClr val="191877"/>
                </a:solidFill>
                <a:latin typeface="KoPubWorld돋움체 Bold"/>
                <a:ea typeface="KoPubWorld돋움체 Bold"/>
                <a:cs typeface="KoPubWorld돋움체 Bold"/>
              </a:rPr>
              <a:t> </a:t>
            </a:r>
            <a:r>
              <a:rPr lang="ko-KR" altLang="en-US" sz="1400" b="1" dirty="0" smtClean="0">
                <a:solidFill>
                  <a:srgbClr val="191877"/>
                </a:solidFill>
                <a:latin typeface="KoPubWorld돋움체 Bold"/>
                <a:ea typeface="KoPubWorld돋움체 Bold"/>
                <a:cs typeface="KoPubWorld돋움체 Bold"/>
              </a:rPr>
              <a:t>예상 상장 시가총액</a:t>
            </a:r>
            <a:endParaRPr sz="1400" b="1" dirty="0">
              <a:solidFill>
                <a:srgbClr val="191877"/>
              </a:solidFill>
              <a:latin typeface="KoPubWorld돋움체 Bold"/>
              <a:ea typeface="KoPubWorld돋움체 Bold"/>
              <a:cs typeface="KoPubWorld돋움체 Bold"/>
            </a:endParaRPr>
          </a:p>
        </p:txBody>
      </p:sp>
    </p:spTree>
    <p:extLst>
      <p:ext uri="{BB962C8B-B14F-4D97-AF65-F5344CB8AC3E}">
        <p14:creationId xmlns:p14="http://schemas.microsoft.com/office/powerpoint/2010/main" val="88695341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918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029200" y="2377440"/>
            <a:ext cx="2103120" cy="54864"/>
          </a:xfrm>
          <a:prstGeom prst="rect">
            <a:avLst/>
          </a:prstGeom>
          <a:solidFill>
            <a:srgbClr val="C9A8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0" y="2606040"/>
            <a:ext cx="12191695" cy="11887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7200" b="1">
                <a:solidFill>
                  <a:srgbClr val="FFFFFF"/>
                </a:solidFill>
                <a:latin typeface="KoPubWorld돋움체 Bold"/>
                <a:ea typeface="KoPubWorld돋움체 Bold"/>
                <a:cs typeface="KoPubWorld돋움체 Bold"/>
              </a:rPr>
              <a:t>감사합니다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0" y="3931920"/>
            <a:ext cx="2103120" cy="54864"/>
          </a:xfrm>
          <a:prstGeom prst="rect">
            <a:avLst/>
          </a:prstGeom>
          <a:solidFill>
            <a:srgbClr val="C9A8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0" y="4114800"/>
            <a:ext cx="12191695" cy="45720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2200" b="0">
                <a:solidFill>
                  <a:srgbClr val="C7D4ED"/>
                </a:solidFill>
                <a:latin typeface="KoPubWorld돋움체 Medium"/>
                <a:ea typeface="KoPubWorld돋움체 Medium"/>
                <a:cs typeface="KoPubWorld돋움체 Medium"/>
              </a:rPr>
              <a:t>K C G I  자 산 운 용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0" y="4754880"/>
            <a:ext cx="12191695" cy="36576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0">
                <a:solidFill>
                  <a:srgbClr val="D8D8D8"/>
                </a:solidFill>
                <a:latin typeface="KoPubWorld돋움체 Medium"/>
                <a:ea typeface="KoPubWorld돋움체 Medium"/>
                <a:cs typeface="KoPubWorld돋움체 Medium"/>
              </a:rPr>
              <a:t>kcgiam.com  ·  뉴스핌 월간 — 2026.05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307</TotalTime>
  <Words>912</Words>
  <Application>Microsoft Office PowerPoint</Application>
  <PresentationFormat>와이드스크린</PresentationFormat>
  <Paragraphs>104</Paragraphs>
  <Slides>6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6</vt:i4>
      </vt:variant>
    </vt:vector>
  </HeadingPairs>
  <TitlesOfParts>
    <vt:vector size="12" baseType="lpstr">
      <vt:lpstr>KoPubWorld돋움체 Bold</vt:lpstr>
      <vt:lpstr>KoPubWorld돋움체 Medium</vt:lpstr>
      <vt:lpstr>맑은 고딕</vt:lpstr>
      <vt:lpstr>Arial</vt:lpstr>
      <vt:lpstr>Calibri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subject/>
  <dc:creator>KCGIAM</dc:creator>
  <cp:keywords/>
  <dc:description>generated using python-pptx</dc:description>
  <cp:lastModifiedBy>kcgi</cp:lastModifiedBy>
  <cp:revision>33</cp:revision>
  <dcterms:created xsi:type="dcterms:W3CDTF">2013-01-27T09:14:16Z</dcterms:created>
  <dcterms:modified xsi:type="dcterms:W3CDTF">2026-06-01T07:05:45Z</dcterms:modified>
  <cp:category/>
</cp:coreProperties>
</file>